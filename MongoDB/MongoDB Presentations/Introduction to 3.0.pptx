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6" r:id="rId3"/>
    <p:sldId id="271" r:id="rId4"/>
    <p:sldId id="272" r:id="rId5"/>
    <p:sldId id="273" r:id="rId6"/>
    <p:sldId id="274" r:id="rId7"/>
    <p:sldId id="275" r:id="rId8"/>
    <p:sldId id="276" r:id="rId9"/>
    <p:sldId id="299" r:id="rId10"/>
    <p:sldId id="277" r:id="rId11"/>
    <p:sldId id="278" r:id="rId12"/>
    <p:sldId id="300" r:id="rId13"/>
    <p:sldId id="284" r:id="rId14"/>
    <p:sldId id="285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295" r:id="rId23"/>
    <p:sldId id="29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9531"/>
    <a:srgbClr val="5B972B"/>
    <a:srgbClr val="242423"/>
    <a:srgbClr val="B3B2B2"/>
    <a:srgbClr val="6D6C6C"/>
    <a:srgbClr val="FFFFFF"/>
    <a:srgbClr val="383737"/>
    <a:srgbClr val="9ABF75"/>
    <a:srgbClr val="8F8E8D"/>
    <a:srgbClr val="BCD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/>
    <p:restoredTop sz="94669"/>
  </p:normalViewPr>
  <p:slideViewPr>
    <p:cSldViewPr snapToGrid="0" snapToObjects="1">
      <p:cViewPr varScale="1">
        <p:scale>
          <a:sx n="97" d="100"/>
          <a:sy n="97" d="100"/>
        </p:scale>
        <p:origin x="-1048" y="-96"/>
      </p:cViewPr>
      <p:guideLst>
        <p:guide orient="horz" pos="2160"/>
        <p:guide pos="38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BE0EB-9CAC-E449-A1DE-8F14FCF81BCF}" type="datetimeFigureOut">
              <a:rPr lang="en-US" smtClean="0"/>
              <a:t>8/18/15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C0DF4-C492-5748-B5AD-991E51C6A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1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Storage engine layer covers on disk data format, memory representation of the data, and how it is accessed (concurrency)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-US" dirty="0" smtClean="0"/>
              <a:t>Now have the option to scale both vertically as well as horizontally</a:t>
            </a:r>
            <a:endParaRPr lang="e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24242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2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6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24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617830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BREAKER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42423"/>
                </a:solidFill>
              </a:defRPr>
            </a:lvl1pPr>
            <a:lvl2pPr>
              <a:defRPr>
                <a:solidFill>
                  <a:srgbClr val="242423"/>
                </a:solidFill>
              </a:defRPr>
            </a:lvl2pPr>
            <a:lvl3pPr>
              <a:defRPr>
                <a:solidFill>
                  <a:srgbClr val="242423"/>
                </a:solidFill>
              </a:defRPr>
            </a:lvl3pPr>
            <a:lvl4pPr>
              <a:defRPr>
                <a:solidFill>
                  <a:srgbClr val="242423"/>
                </a:solidFill>
              </a:defRPr>
            </a:lvl4pPr>
            <a:lvl5pPr>
              <a:defRPr>
                <a:solidFill>
                  <a:srgbClr val="242423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3200" y="6350716"/>
            <a:ext cx="1219200" cy="260383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498011" y="6396907"/>
            <a:ext cx="309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98C846C-6FDD-4A4D-9385-73C79C1AF32F}" type="slidenum">
              <a:rPr lang="en-US" sz="800" smtClean="0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1132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30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15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0055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71084"/>
            <a:ext cx="10972800" cy="4974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75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0" r:id="rId4"/>
    <p:sldLayoutId id="2147483654" r:id="rId5"/>
    <p:sldLayoutId id="2147483653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3600" b="1" kern="1200" spc="-150">
          <a:solidFill>
            <a:srgbClr val="242423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rgbClr val="6D6C6C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6D6C6C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rgbClr val="6D6C6C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6D6C6C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6D6C6C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778043"/>
            <a:ext cx="4572000" cy="130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53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3.0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 Osmar “Oz” Olivo</a:t>
            </a:r>
          </a:p>
          <a:p>
            <a:r>
              <a:rPr lang="en-US" dirty="0" smtClean="0"/>
              <a:t>Product Manager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Inc.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15079"/>
            <a:ext cx="2286000" cy="6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75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 dirty="0"/>
              <a:t>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Pluggable Storage Engines</a:t>
            </a:r>
          </a:p>
          <a:p>
            <a:pPr marL="336549" indent="-285750">
              <a:buSzPct val="100000"/>
            </a:pPr>
            <a:r>
              <a:rPr lang="en-US" sz="3200" dirty="0" err="1" smtClean="0">
                <a:solidFill>
                  <a:srgbClr val="000000"/>
                </a:solidFill>
              </a:rPr>
              <a:t>WiredTiger</a:t>
            </a:r>
            <a:r>
              <a:rPr lang="en-US" sz="3200" dirty="0" smtClean="0">
                <a:solidFill>
                  <a:srgbClr val="000000"/>
                </a:solidFill>
              </a:rPr>
              <a:t> Integration</a:t>
            </a:r>
          </a:p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Concurrency</a:t>
            </a:r>
          </a:p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Compression</a:t>
            </a:r>
          </a:p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Enhanced Querying &amp; Tools</a:t>
            </a:r>
          </a:p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Administration Enhancements</a:t>
            </a:r>
          </a:p>
          <a:p>
            <a:pPr marL="336549" indent="-285750">
              <a:buSzPct val="100000"/>
            </a:pPr>
            <a:r>
              <a:rPr lang="en-US" sz="3200" dirty="0" smtClean="0">
                <a:solidFill>
                  <a:srgbClr val="000000"/>
                </a:solidFill>
              </a:rPr>
              <a:t>Replication Enhancements</a:t>
            </a:r>
            <a:endParaRPr lang="en" sz="32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208410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Pluggable Storage Engines</a:t>
            </a:r>
          </a:p>
        </p:txBody>
      </p:sp>
    </p:spTree>
    <p:extLst>
      <p:ext uri="{BB962C8B-B14F-4D97-AF65-F5344CB8AC3E}">
        <p14:creationId xmlns:p14="http://schemas.microsoft.com/office/powerpoint/2010/main" val="3721776012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622299" indent="-571500">
              <a:buSzPct val="100000"/>
            </a:pPr>
            <a:r>
              <a:rPr lang="en" sz="3200" dirty="0" smtClean="0"/>
              <a:t>Vision</a:t>
            </a:r>
            <a:endParaRPr lang="en-US" sz="3200" dirty="0" smtClean="0"/>
          </a:p>
          <a:p>
            <a:pPr marL="1022349" lvl="1" indent="-571500">
              <a:buSzPct val="100000"/>
            </a:pPr>
            <a:r>
              <a:rPr lang="en" sz="3200" dirty="0" smtClean="0"/>
              <a:t>One </a:t>
            </a:r>
            <a:r>
              <a:rPr lang="en" sz="3200" dirty="0"/>
              <a:t>data model, one API, one set of operational concerns </a:t>
            </a:r>
            <a:endParaRPr lang="en-US" sz="3200" dirty="0"/>
          </a:p>
          <a:p>
            <a:pPr marL="2336799" lvl="4" indent="-571500">
              <a:buSzPct val="100000"/>
            </a:pPr>
            <a:r>
              <a:rPr lang="en-US" sz="3200" dirty="0" smtClean="0"/>
              <a:t>U</a:t>
            </a:r>
            <a:r>
              <a:rPr lang="en" sz="3200" dirty="0" smtClean="0"/>
              <a:t>nder </a:t>
            </a:r>
            <a:r>
              <a:rPr lang="en" sz="3200" dirty="0"/>
              <a:t>the hood, many options for every use case under the sun</a:t>
            </a:r>
          </a:p>
          <a:p>
            <a:pPr>
              <a:buClr>
                <a:schemeClr val="dk1"/>
              </a:buClr>
              <a:buNone/>
            </a:pPr>
            <a:endParaRPr sz="3200" dirty="0"/>
          </a:p>
          <a:p>
            <a:pPr>
              <a:buNone/>
            </a:pPr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/>
              <a:t>Storage Engine Layer</a:t>
            </a:r>
          </a:p>
        </p:txBody>
      </p:sp>
    </p:spTree>
    <p:extLst>
      <p:ext uri="{BB962C8B-B14F-4D97-AF65-F5344CB8AC3E}">
        <p14:creationId xmlns:p14="http://schemas.microsoft.com/office/powerpoint/2010/main" val="267536224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/>
              <a:t>Storage Engine Layer</a:t>
            </a:r>
          </a:p>
        </p:txBody>
      </p:sp>
      <p:sp>
        <p:nvSpPr>
          <p:cNvPr id="46" name="Shape 46"/>
          <p:cNvSpPr/>
          <p:nvPr/>
        </p:nvSpPr>
        <p:spPr>
          <a:xfrm>
            <a:off x="1893700" y="2347971"/>
            <a:ext cx="1373200" cy="8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>
            <a:solidFill>
              <a:srgbClr val="24242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Repo</a:t>
            </a:r>
          </a:p>
        </p:txBody>
      </p:sp>
      <p:sp>
        <p:nvSpPr>
          <p:cNvPr id="47" name="Shape 47"/>
          <p:cNvSpPr/>
          <p:nvPr/>
        </p:nvSpPr>
        <p:spPr>
          <a:xfrm>
            <a:off x="3484715" y="2347971"/>
            <a:ext cx="1373200" cy="8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>
            <a:solidFill>
              <a:srgbClr val="24242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 Sensor Backend</a:t>
            </a:r>
          </a:p>
        </p:txBody>
      </p:sp>
      <p:sp>
        <p:nvSpPr>
          <p:cNvPr id="48" name="Shape 48"/>
          <p:cNvSpPr/>
          <p:nvPr/>
        </p:nvSpPr>
        <p:spPr>
          <a:xfrm>
            <a:off x="5075733" y="2347971"/>
            <a:ext cx="1373200" cy="8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>
            <a:solidFill>
              <a:srgbClr val="24242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 Service</a:t>
            </a:r>
          </a:p>
        </p:txBody>
      </p:sp>
      <p:sp>
        <p:nvSpPr>
          <p:cNvPr id="49" name="Shape 49"/>
          <p:cNvSpPr/>
          <p:nvPr/>
        </p:nvSpPr>
        <p:spPr>
          <a:xfrm>
            <a:off x="6666749" y="2347971"/>
            <a:ext cx="1373200" cy="8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>
            <a:solidFill>
              <a:srgbClr val="24242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Analytics</a:t>
            </a:r>
          </a:p>
        </p:txBody>
      </p:sp>
      <p:sp>
        <p:nvSpPr>
          <p:cNvPr id="50" name="Shape 50"/>
          <p:cNvSpPr/>
          <p:nvPr/>
        </p:nvSpPr>
        <p:spPr>
          <a:xfrm>
            <a:off x="8257764" y="2347971"/>
            <a:ext cx="1373200" cy="84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>
            <a:solidFill>
              <a:srgbClr val="24242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Archive</a:t>
            </a:r>
          </a:p>
        </p:txBody>
      </p:sp>
      <p:sp>
        <p:nvSpPr>
          <p:cNvPr id="51" name="Shape 51"/>
          <p:cNvSpPr/>
          <p:nvPr/>
        </p:nvSpPr>
        <p:spPr>
          <a:xfrm>
            <a:off x="1893734" y="3345937"/>
            <a:ext cx="7737199" cy="412400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 Query Language (MQL) + Native Drivers</a:t>
            </a:r>
          </a:p>
        </p:txBody>
      </p:sp>
      <p:sp>
        <p:nvSpPr>
          <p:cNvPr id="52" name="Shape 52"/>
          <p:cNvSpPr/>
          <p:nvPr/>
        </p:nvSpPr>
        <p:spPr>
          <a:xfrm>
            <a:off x="1893734" y="3900597"/>
            <a:ext cx="7737199" cy="412400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 Document Data Model</a:t>
            </a:r>
          </a:p>
        </p:txBody>
      </p:sp>
      <p:sp>
        <p:nvSpPr>
          <p:cNvPr id="53" name="Shape 53"/>
          <p:cNvSpPr/>
          <p:nvPr/>
        </p:nvSpPr>
        <p:spPr>
          <a:xfrm>
            <a:off x="1893733" y="4455271"/>
            <a:ext cx="1373200" cy="591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MMAP V1</a:t>
            </a:r>
          </a:p>
        </p:txBody>
      </p:sp>
      <p:sp>
        <p:nvSpPr>
          <p:cNvPr id="54" name="Shape 54"/>
          <p:cNvSpPr/>
          <p:nvPr/>
        </p:nvSpPr>
        <p:spPr>
          <a:xfrm>
            <a:off x="3484733" y="4455271"/>
            <a:ext cx="1373200" cy="591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WT</a:t>
            </a:r>
          </a:p>
        </p:txBody>
      </p:sp>
      <p:sp>
        <p:nvSpPr>
          <p:cNvPr id="55" name="Shape 55"/>
          <p:cNvSpPr/>
          <p:nvPr/>
        </p:nvSpPr>
        <p:spPr>
          <a:xfrm>
            <a:off x="5075733" y="4480971"/>
            <a:ext cx="1373200" cy="591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dot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In-Memory</a:t>
            </a:r>
          </a:p>
        </p:txBody>
      </p:sp>
      <p:sp>
        <p:nvSpPr>
          <p:cNvPr id="56" name="Shape 56"/>
          <p:cNvSpPr/>
          <p:nvPr/>
        </p:nvSpPr>
        <p:spPr>
          <a:xfrm>
            <a:off x="6666733" y="4455271"/>
            <a:ext cx="1373200" cy="591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dot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57" name="Shape 57"/>
          <p:cNvSpPr/>
          <p:nvPr/>
        </p:nvSpPr>
        <p:spPr>
          <a:xfrm>
            <a:off x="8257733" y="4455271"/>
            <a:ext cx="1373200" cy="5911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dot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58" name="Shape 58"/>
          <p:cNvSpPr/>
          <p:nvPr/>
        </p:nvSpPr>
        <p:spPr>
          <a:xfrm rot="5400000">
            <a:off x="3329865" y="3803938"/>
            <a:ext cx="90000" cy="2962399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59"/>
          <p:cNvSpPr txBox="1"/>
          <p:nvPr/>
        </p:nvSpPr>
        <p:spPr>
          <a:xfrm>
            <a:off x="1893667" y="5523804"/>
            <a:ext cx="2962399" cy="324800"/>
          </a:xfrm>
          <a:prstGeom prst="rect">
            <a:avLst/>
          </a:prstGeom>
          <a:noFill/>
          <a:ln>
            <a:noFill/>
          </a:ln>
        </p:spPr>
        <p:txBody>
          <a:bodyPr lIns="121897" tIns="121897" rIns="121897" bIns="121897" anchor="t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Supported in MongoDB 3.0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6666733" y="5523804"/>
            <a:ext cx="2964400" cy="324800"/>
          </a:xfrm>
          <a:prstGeom prst="rect">
            <a:avLst/>
          </a:prstGeom>
          <a:noFill/>
          <a:ln>
            <a:noFill/>
          </a:ln>
        </p:spPr>
        <p:txBody>
          <a:bodyPr lIns="121897" tIns="121897" rIns="121897" bIns="121897" anchor="t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Possible Storage Engines</a:t>
            </a:r>
          </a:p>
        </p:txBody>
      </p:sp>
      <p:sp>
        <p:nvSpPr>
          <p:cNvPr id="61" name="Shape 61"/>
          <p:cNvSpPr/>
          <p:nvPr/>
        </p:nvSpPr>
        <p:spPr>
          <a:xfrm rot="5400000">
            <a:off x="8103765" y="3802937"/>
            <a:ext cx="90000" cy="29644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Shape 62"/>
          <p:cNvSpPr/>
          <p:nvPr/>
        </p:nvSpPr>
        <p:spPr>
          <a:xfrm rot="-5400000" flipH="1">
            <a:off x="9281665" y="3898738"/>
            <a:ext cx="1713600" cy="6079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</a:p>
        </p:txBody>
      </p:sp>
      <p:sp>
        <p:nvSpPr>
          <p:cNvPr id="63" name="Shape 63"/>
          <p:cNvSpPr/>
          <p:nvPr/>
        </p:nvSpPr>
        <p:spPr>
          <a:xfrm rot="-5400000" flipH="1">
            <a:off x="597532" y="3898738"/>
            <a:ext cx="1713600" cy="607999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x="1820967" y="1648345"/>
            <a:ext cx="7737199" cy="324800"/>
          </a:xfrm>
          <a:prstGeom prst="rect">
            <a:avLst/>
          </a:prstGeom>
          <a:noFill/>
          <a:ln>
            <a:noFill/>
          </a:ln>
        </p:spPr>
        <p:txBody>
          <a:bodyPr lIns="121897" tIns="121897" rIns="121897" bIns="121897" anchor="t" anchorCtr="0">
            <a:noAutofit/>
          </a:bodyPr>
          <a:lstStyle/>
          <a:p>
            <a:pPr algn="ctr">
              <a:buClr>
                <a:srgbClr val="000000"/>
              </a:buClr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65" name="Shape 65"/>
          <p:cNvSpPr txBox="1"/>
          <p:nvPr/>
        </p:nvSpPr>
        <p:spPr>
          <a:xfrm>
            <a:off x="4959533" y="5153934"/>
            <a:ext cx="1590800" cy="324800"/>
          </a:xfrm>
          <a:prstGeom prst="rect">
            <a:avLst/>
          </a:prstGeom>
          <a:noFill/>
          <a:ln>
            <a:noFill/>
          </a:ln>
        </p:spPr>
        <p:txBody>
          <a:bodyPr lIns="121897" tIns="121897" rIns="121897" bIns="121897" anchor="t" anchorCtr="0">
            <a:noAutofit/>
          </a:bodyPr>
          <a:lstStyle/>
          <a:p>
            <a:pPr algn="ctr">
              <a:buClr>
                <a:srgbClr val="000000"/>
              </a:buClr>
              <a:buSzPct val="25000"/>
            </a:pPr>
            <a:r>
              <a:rPr lang="en" sz="1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Experimental in MongoDB 3.0</a:t>
            </a:r>
          </a:p>
        </p:txBody>
      </p:sp>
      <p:sp>
        <p:nvSpPr>
          <p:cNvPr id="66" name="Shape 66"/>
          <p:cNvSpPr/>
          <p:nvPr/>
        </p:nvSpPr>
        <p:spPr>
          <a:xfrm rot="5400000">
            <a:off x="5717364" y="4598537"/>
            <a:ext cx="90000" cy="137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121897" tIns="121897" rIns="121897" bIns="121897" anchor="ctr" anchorCtr="0">
            <a:noAutofit/>
          </a:bodyPr>
          <a:lstStyle/>
          <a:p>
            <a:pPr>
              <a:buClr>
                <a:srgbClr val="000000"/>
              </a:buClr>
            </a:pP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1612946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WiredTiger Integration</a:t>
            </a:r>
          </a:p>
        </p:txBody>
      </p:sp>
    </p:spTree>
    <p:extLst>
      <p:ext uri="{BB962C8B-B14F-4D97-AF65-F5344CB8AC3E}">
        <p14:creationId xmlns:p14="http://schemas.microsoft.com/office/powerpoint/2010/main" val="3286499430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 dirty="0"/>
              <a:t>Why WT?</a:t>
            </a:r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09600" y="1346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" indent="0" algn="ctr">
              <a:buSzPct val="100000"/>
              <a:buNone/>
            </a:pPr>
            <a:r>
              <a:rPr lang="en-US" sz="3200" dirty="0" smtClean="0"/>
              <a:t>They’re </a:t>
            </a:r>
            <a:r>
              <a:rPr lang="en-US" sz="3200" dirty="0" err="1" smtClean="0"/>
              <a:t>Grrrreat</a:t>
            </a:r>
            <a:r>
              <a:rPr lang="en-US" sz="3200" dirty="0" smtClean="0"/>
              <a:t>!</a:t>
            </a:r>
          </a:p>
        </p:txBody>
      </p:sp>
      <p:pic>
        <p:nvPicPr>
          <p:cNvPr id="2" name="Picture 1" descr="TT_tony_pointing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676" y="2203010"/>
            <a:ext cx="3206137" cy="400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5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/>
              <a:t>Why WT?</a:t>
            </a:r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buSzPct val="100000"/>
            </a:pPr>
            <a:r>
              <a:rPr lang="en" sz="3200" dirty="0"/>
              <a:t>WT product and team acquired by </a:t>
            </a:r>
            <a:r>
              <a:rPr lang="en" sz="3200" dirty="0" smtClean="0"/>
              <a:t>MongoDB</a:t>
            </a:r>
            <a:endParaRPr lang="en-US" sz="3200" dirty="0" smtClean="0"/>
          </a:p>
          <a:p>
            <a:pPr marL="908049" lvl="1" indent="-457200">
              <a:buSzPct val="100000"/>
            </a:pPr>
            <a:r>
              <a:rPr lang="en" sz="3200" dirty="0"/>
              <a:t>Authors former members of Berkeley DB team</a:t>
            </a:r>
            <a:endParaRPr lang="en-US" sz="3200" dirty="0"/>
          </a:p>
          <a:p>
            <a:pPr marL="908049" lvl="1" indent="-457200">
              <a:buSzPct val="100000"/>
            </a:pPr>
            <a:r>
              <a:rPr lang="en" sz="3200" dirty="0"/>
              <a:t>Standalone engine in use in production </a:t>
            </a:r>
            <a:r>
              <a:rPr lang="en" sz="3200" dirty="0" smtClean="0"/>
              <a:t>today</a:t>
            </a:r>
            <a:endParaRPr lang="en" sz="3200" dirty="0"/>
          </a:p>
          <a:p>
            <a:pPr marL="507999" indent="-457200">
              <a:buSzPct val="100000"/>
            </a:pPr>
            <a:r>
              <a:rPr lang="en" sz="3200" dirty="0"/>
              <a:t>WT addresses weaknesses of </a:t>
            </a:r>
            <a:r>
              <a:rPr lang="en" sz="3200" dirty="0" smtClean="0"/>
              <a:t>MMAPv1</a:t>
            </a:r>
            <a:endParaRPr lang="en-US" sz="3200" dirty="0" smtClean="0"/>
          </a:p>
          <a:p>
            <a:pPr marL="908049" lvl="1" indent="-457200">
              <a:buSzPct val="100000"/>
            </a:pPr>
            <a:r>
              <a:rPr lang="en" sz="3200" dirty="0" smtClean="0"/>
              <a:t>Compression</a:t>
            </a:r>
            <a:endParaRPr lang="en-US" sz="3200" dirty="0"/>
          </a:p>
          <a:p>
            <a:pPr marL="908049" lvl="1" indent="-457200">
              <a:buSzPct val="100000"/>
            </a:pPr>
            <a:r>
              <a:rPr lang="en" sz="3200" dirty="0" smtClean="0"/>
              <a:t>Highly </a:t>
            </a:r>
            <a:r>
              <a:rPr lang="en" sz="3200" dirty="0"/>
              <a:t>concurrent and </a:t>
            </a:r>
            <a:r>
              <a:rPr lang="en-US" sz="3200" dirty="0"/>
              <a:t>e</a:t>
            </a:r>
            <a:r>
              <a:rPr lang="en-US" sz="3200" dirty="0" smtClean="0"/>
              <a:t>nables </a:t>
            </a:r>
            <a:r>
              <a:rPr lang="en" sz="3200" dirty="0" smtClean="0"/>
              <a:t>full </a:t>
            </a:r>
            <a:r>
              <a:rPr lang="en" sz="3200" dirty="0"/>
              <a:t>hardware </a:t>
            </a:r>
            <a:r>
              <a:rPr lang="en" sz="3200" dirty="0" smtClean="0"/>
              <a:t>utilization</a:t>
            </a:r>
            <a:endParaRPr lang="en-US" sz="3200" dirty="0" smtClean="0"/>
          </a:p>
          <a:p>
            <a:pPr marL="908049" lvl="1" indent="-457200">
              <a:buSzPct val="100000"/>
            </a:pPr>
            <a:r>
              <a:rPr lang="en" sz="3200" dirty="0" smtClean="0"/>
              <a:t>More tunable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560187156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 smtClean="0"/>
              <a:t>Concurrency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085709769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MMAPv1</a:t>
            </a:r>
            <a:r>
              <a:rPr lang="en" dirty="0" smtClean="0"/>
              <a:t> Concurrency</a:t>
            </a:r>
            <a:r>
              <a:rPr lang="en-US" dirty="0" smtClean="0"/>
              <a:t> Improvements</a:t>
            </a:r>
            <a:endParaRPr lang="en" dirty="0"/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buSzPct val="100000"/>
            </a:pPr>
            <a:r>
              <a:rPr lang="en" sz="3200" dirty="0"/>
              <a:t>Collection Level Concurrency</a:t>
            </a:r>
          </a:p>
          <a:p>
            <a:pPr marL="908049" lvl="1" indent="-457200">
              <a:buSzPct val="100000"/>
            </a:pPr>
            <a:r>
              <a:rPr lang="en" sz="3200" dirty="0"/>
              <a:t>One lock per collection</a:t>
            </a:r>
          </a:p>
          <a:p>
            <a:pPr marL="908049" lvl="1" indent="-457200">
              <a:buSzPct val="100000"/>
            </a:pPr>
            <a:r>
              <a:rPr lang="en" sz="3200" dirty="0"/>
              <a:t>Write operations to a collection block all other operations on that collection</a:t>
            </a:r>
          </a:p>
          <a:p>
            <a:pPr marL="908049" lvl="1" indent="-457200">
              <a:buSzPct val="100000"/>
            </a:pPr>
            <a:r>
              <a:rPr lang="en" sz="3200" dirty="0"/>
              <a:t>Read operations to a collection block writes to that collection</a:t>
            </a:r>
          </a:p>
          <a:p>
            <a:pPr marL="1308099" lvl="2" indent="-457200">
              <a:buSzPct val="100000"/>
            </a:pPr>
            <a:r>
              <a:rPr lang="en" sz="3200" dirty="0"/>
              <a:t>Allow other read operations to occur concurrently</a:t>
            </a:r>
          </a:p>
          <a:p>
            <a:pPr marL="507999" indent="-457200">
              <a:buSzPct val="100000"/>
            </a:pPr>
            <a:endParaRPr lang="en" sz="3200" dirty="0"/>
          </a:p>
        </p:txBody>
      </p:sp>
    </p:spTree>
    <p:extLst>
      <p:ext uri="{BB962C8B-B14F-4D97-AF65-F5344CB8AC3E}">
        <p14:creationId xmlns:p14="http://schemas.microsoft.com/office/powerpoint/2010/main" val="888500506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Concurrency in </a:t>
            </a:r>
            <a:r>
              <a:rPr lang="en-US" dirty="0" err="1" smtClean="0"/>
              <a:t>WiredTiger</a:t>
            </a:r>
            <a:endParaRPr lang="en" dirty="0"/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buSzPct val="100000"/>
            </a:pPr>
            <a:r>
              <a:rPr lang="en-US" sz="3200" dirty="0" smtClean="0"/>
              <a:t>Document Level </a:t>
            </a:r>
            <a:r>
              <a:rPr lang="en" sz="3200" dirty="0" smtClean="0"/>
              <a:t>Concurrency </a:t>
            </a:r>
            <a:endParaRPr lang="en-US" sz="3200" dirty="0" smtClean="0"/>
          </a:p>
          <a:p>
            <a:pPr marL="908049" lvl="1" indent="-457200">
              <a:buSzPct val="100000"/>
            </a:pPr>
            <a:r>
              <a:rPr lang="en" sz="3200" dirty="0" smtClean="0"/>
              <a:t>Uses </a:t>
            </a:r>
            <a:r>
              <a:rPr lang="en" sz="3200" dirty="0"/>
              <a:t>various algorithms to minimize contention between </a:t>
            </a:r>
            <a:r>
              <a:rPr lang="en" sz="3200" dirty="0" smtClean="0"/>
              <a:t>threads</a:t>
            </a:r>
            <a:endParaRPr lang="en-US" sz="3200" dirty="0" smtClean="0"/>
          </a:p>
          <a:p>
            <a:pPr marL="908049" lvl="1" indent="-457200">
              <a:buSzPct val="100000"/>
            </a:pPr>
            <a:r>
              <a:rPr lang="en" sz="3200" dirty="0" smtClean="0"/>
              <a:t>One </a:t>
            </a:r>
            <a:r>
              <a:rPr lang="en" sz="3200" dirty="0"/>
              <a:t>thread yields on contention to same </a:t>
            </a:r>
            <a:r>
              <a:rPr lang="en" sz="3200" dirty="0" smtClean="0"/>
              <a:t>document</a:t>
            </a:r>
            <a:endParaRPr lang="en-US" sz="3200" dirty="0" smtClean="0"/>
          </a:p>
          <a:p>
            <a:pPr marL="507999" indent="-457200">
              <a:buSzPct val="100000"/>
            </a:pPr>
            <a:r>
              <a:rPr lang="en" sz="3200" dirty="0" smtClean="0"/>
              <a:t>Writes </a:t>
            </a:r>
            <a:r>
              <a:rPr lang="en" sz="3200" dirty="0"/>
              <a:t>no longer block all other writes </a:t>
            </a:r>
            <a:endParaRPr lang="en-US" sz="3200" dirty="0" smtClean="0"/>
          </a:p>
          <a:p>
            <a:pPr marL="507999" indent="-457200">
              <a:buSzPct val="100000"/>
            </a:pPr>
            <a:r>
              <a:rPr lang="en" sz="3200" dirty="0" smtClean="0"/>
              <a:t>CPU </a:t>
            </a:r>
            <a:r>
              <a:rPr lang="en" sz="3200" dirty="0"/>
              <a:t>utilization directly correlates with performance</a:t>
            </a:r>
          </a:p>
        </p:txBody>
      </p:sp>
    </p:spTree>
    <p:extLst>
      <p:ext uri="{BB962C8B-B14F-4D97-AF65-F5344CB8AC3E}">
        <p14:creationId xmlns:p14="http://schemas.microsoft.com/office/powerpoint/2010/main" val="577963727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341664161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" dirty="0" smtClean="0"/>
              <a:t>Compression</a:t>
            </a:r>
            <a:r>
              <a:rPr lang="en-US" dirty="0" smtClean="0"/>
              <a:t> (WT only)</a:t>
            </a:r>
            <a:endParaRPr lang="en" dirty="0"/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spcBef>
                <a:spcPts val="640"/>
              </a:spcBef>
              <a:buSzPct val="100000"/>
            </a:pPr>
            <a:r>
              <a:rPr lang="en-US" sz="3200" dirty="0" smtClean="0"/>
              <a:t>Compression is on in WT by default</a:t>
            </a:r>
          </a:p>
          <a:p>
            <a:pPr marL="609585" indent="-558786">
              <a:spcBef>
                <a:spcPts val="640"/>
              </a:spcBef>
              <a:buSzPct val="100000"/>
            </a:pPr>
            <a:r>
              <a:rPr lang="en-US" sz="3200" dirty="0" smtClean="0"/>
              <a:t>3.0</a:t>
            </a:r>
            <a:r>
              <a:rPr lang="en" sz="3200" dirty="0" smtClean="0"/>
              <a:t> </a:t>
            </a:r>
            <a:r>
              <a:rPr lang="en" sz="3200" dirty="0"/>
              <a:t>supports two compression </a:t>
            </a:r>
            <a:r>
              <a:rPr lang="en" sz="3200" dirty="0" smtClean="0"/>
              <a:t>algorithms</a:t>
            </a:r>
            <a:endParaRPr lang="en-US" sz="3200" dirty="0"/>
          </a:p>
          <a:p>
            <a:pPr marL="1009635" lvl="1" indent="-558786">
              <a:spcBef>
                <a:spcPts val="640"/>
              </a:spcBef>
              <a:buSzPct val="100000"/>
            </a:pPr>
            <a:r>
              <a:rPr lang="en" sz="3200" dirty="0" smtClean="0"/>
              <a:t>snappy </a:t>
            </a:r>
            <a:r>
              <a:rPr lang="en" sz="3200" dirty="0" smtClean="0"/>
              <a:t>(default</a:t>
            </a:r>
            <a:r>
              <a:rPr lang="en" sz="3200" dirty="0" smtClean="0"/>
              <a:t>)</a:t>
            </a:r>
            <a:endParaRPr lang="en-US" sz="3200" dirty="0" smtClean="0"/>
          </a:p>
          <a:p>
            <a:pPr marL="1409685" lvl="2" indent="-558786">
              <a:spcBef>
                <a:spcPts val="640"/>
              </a:spcBef>
              <a:buSzPct val="100000"/>
            </a:pPr>
            <a:r>
              <a:rPr lang="en" sz="3200" dirty="0" smtClean="0"/>
              <a:t>Good </a:t>
            </a:r>
            <a:r>
              <a:rPr lang="en" sz="3200" dirty="0"/>
              <a:t>compression benefits with little CPU/performance </a:t>
            </a:r>
            <a:r>
              <a:rPr lang="en" sz="3200" dirty="0" smtClean="0"/>
              <a:t>impact</a:t>
            </a:r>
            <a:endParaRPr lang="en-US" sz="3200" dirty="0" smtClean="0"/>
          </a:p>
          <a:p>
            <a:pPr marL="1009635" lvl="1" indent="-558786">
              <a:spcBef>
                <a:spcPts val="640"/>
              </a:spcBef>
              <a:buSzPct val="100000"/>
            </a:pPr>
            <a:r>
              <a:rPr lang="en-US" sz="3200" dirty="0"/>
              <a:t>z</a:t>
            </a:r>
            <a:r>
              <a:rPr lang="en" sz="3200" dirty="0" smtClean="0"/>
              <a:t>lib</a:t>
            </a:r>
            <a:endParaRPr lang="en-US" sz="3200" dirty="0"/>
          </a:p>
          <a:p>
            <a:pPr marL="1409685" lvl="2" indent="-558786">
              <a:spcBef>
                <a:spcPts val="640"/>
              </a:spcBef>
              <a:buSzPct val="100000"/>
            </a:pPr>
            <a:r>
              <a:rPr lang="en" sz="3200" dirty="0" smtClean="0"/>
              <a:t>Extremely </a:t>
            </a:r>
            <a:r>
              <a:rPr lang="en" sz="3200" dirty="0"/>
              <a:t>good compression at a cost of additional CPU/degraded performance</a:t>
            </a:r>
          </a:p>
        </p:txBody>
      </p:sp>
    </p:spTree>
    <p:extLst>
      <p:ext uri="{BB962C8B-B14F-4D97-AF65-F5344CB8AC3E}">
        <p14:creationId xmlns:p14="http://schemas.microsoft.com/office/powerpoint/2010/main" val="1438449953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smtClean="0"/>
              <a:t>Enhanced Querying &amp; Tools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02192169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Indexing &amp; Querying</a:t>
            </a:r>
            <a:endParaRPr lang="en" dirty="0"/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09600" y="1459848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Explain() 2.0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explain() revamped </a:t>
            </a:r>
          </a:p>
          <a:p>
            <a:pPr marL="1308099" lvl="2" indent="-457200">
              <a:spcBef>
                <a:spcPts val="640"/>
              </a:spcBef>
              <a:buSzPct val="100000"/>
            </a:pPr>
            <a:r>
              <a:rPr lang="en" sz="3200" dirty="0"/>
              <a:t>Now allows for improved query inspection</a:t>
            </a:r>
          </a:p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Geospatial Big Polygon support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Improved handling of polygons with an area greater than a single hemisphere</a:t>
            </a:r>
          </a:p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$dateToString operator in aggregation 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Allows user to specify string format for which to convert a date </a:t>
            </a:r>
            <a:r>
              <a:rPr lang="en" sz="3200" dirty="0" smtClean="0"/>
              <a:t>into</a:t>
            </a:r>
            <a:endParaRPr lang="en" sz="3200" dirty="0"/>
          </a:p>
        </p:txBody>
      </p:sp>
    </p:spTree>
    <p:extLst>
      <p:ext uri="{BB962C8B-B14F-4D97-AF65-F5344CB8AC3E}">
        <p14:creationId xmlns:p14="http://schemas.microsoft.com/office/powerpoint/2010/main" val="147346174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Tools Improvements</a:t>
            </a:r>
            <a:endParaRPr lang="en" dirty="0"/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MongoDB Server Tools Rewritten in GO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Removed all server dependencies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Allows for much faster iteration</a:t>
            </a:r>
          </a:p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Parallelized data loading tools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dump/restore &amp; import/export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highly improved loading and export </a:t>
            </a:r>
            <a:r>
              <a:rPr lang="en" sz="3200" dirty="0" smtClean="0"/>
              <a:t>times</a:t>
            </a:r>
            <a:endParaRPr lang="en" sz="3200" dirty="0"/>
          </a:p>
        </p:txBody>
      </p:sp>
    </p:spTree>
    <p:extLst>
      <p:ext uri="{BB962C8B-B14F-4D97-AF65-F5344CB8AC3E}">
        <p14:creationId xmlns:p14="http://schemas.microsoft.com/office/powerpoint/2010/main" val="2504697797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smtClean="0"/>
              <a:t>Administration Enhancements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649496022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Administration</a:t>
            </a:r>
            <a:endParaRPr lang="en" dirty="0"/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Role Based Auditing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Auditing rules can be set to filter on specific roles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Useful for auditing certain kinds of accesses or users</a:t>
            </a:r>
          </a:p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Logging Improvements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New component system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Able to filter by severity levels</a:t>
            </a:r>
          </a:p>
          <a:p>
            <a:pPr marL="507999" indent="-457200">
              <a:spcBef>
                <a:spcPts val="640"/>
              </a:spcBef>
              <a:buSzPct val="100000"/>
            </a:pPr>
            <a:endParaRPr lang="en" sz="3200" dirty="0"/>
          </a:p>
        </p:txBody>
      </p:sp>
    </p:spTree>
    <p:extLst>
      <p:ext uri="{BB962C8B-B14F-4D97-AF65-F5344CB8AC3E}">
        <p14:creationId xmlns:p14="http://schemas.microsoft.com/office/powerpoint/2010/main" val="109090248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 smtClean="0"/>
              <a:t>Replication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19975890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r>
              <a:rPr lang="en-US" dirty="0" smtClean="0"/>
              <a:t>Replicatio</a:t>
            </a:r>
            <a:r>
              <a:rPr lang="en-US" dirty="0"/>
              <a:t>n</a:t>
            </a:r>
            <a:endParaRPr lang="en" dirty="0"/>
          </a:p>
        </p:txBody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967599"/>
          </a:xfrm>
          <a:prstGeom prst="rect">
            <a:avLst/>
          </a:prstGeom>
        </p:spPr>
        <p:txBody>
          <a:bodyPr lIns="121897" tIns="121897" rIns="121897" bIns="121897" anchor="t" anchorCtr="0">
            <a:noAutofit/>
          </a:bodyPr>
          <a:lstStyle/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Replica set limit raised from 12 to 50</a:t>
            </a:r>
          </a:p>
          <a:p>
            <a:pPr marL="507999" indent="-457200">
              <a:spcBef>
                <a:spcPts val="640"/>
              </a:spcBef>
              <a:buSzPct val="100000"/>
            </a:pPr>
            <a:r>
              <a:rPr lang="en" sz="3200" dirty="0"/>
              <a:t>Meets a much higher HA standard 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Can deploy across many more regions and DC’s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Increases locality of data across deployments</a:t>
            </a:r>
          </a:p>
          <a:p>
            <a:pPr marL="908049" lvl="1" indent="-457200">
              <a:spcBef>
                <a:spcPts val="640"/>
              </a:spcBef>
              <a:buSzPct val="100000"/>
            </a:pPr>
            <a:r>
              <a:rPr lang="en" sz="3200" dirty="0"/>
              <a:t>Easier to guarantee local reads across many regions</a:t>
            </a:r>
          </a:p>
          <a:p>
            <a:pPr marL="507999" indent="-457200">
              <a:spcBef>
                <a:spcPts val="640"/>
              </a:spcBef>
              <a:buSzPct val="100000"/>
            </a:pPr>
            <a:endParaRPr lang="en" sz="3200" dirty="0"/>
          </a:p>
        </p:txBody>
      </p:sp>
    </p:spTree>
    <p:extLst>
      <p:ext uri="{BB962C8B-B14F-4D97-AF65-F5344CB8AC3E}">
        <p14:creationId xmlns:p14="http://schemas.microsoft.com/office/powerpoint/2010/main" val="1176910931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778043"/>
            <a:ext cx="4572000" cy="130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9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>
            <a:spLocks noGrp="1"/>
          </p:cNvSpPr>
          <p:nvPr>
            <p:ph type="ctrTitle"/>
          </p:nvPr>
        </p:nvSpPr>
        <p:spPr>
          <a:xfrm>
            <a:off x="914400" y="2111123"/>
            <a:ext cx="10363200" cy="1546399"/>
          </a:xfrm>
          <a:prstGeom prst="rect">
            <a:avLst/>
          </a:prstGeom>
        </p:spPr>
        <p:txBody>
          <a:bodyPr lIns="121897" tIns="121897" rIns="121897" bIns="121897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36160167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ongodb">
  <a:themeElements>
    <a:clrScheme name="MongoDB 2">
      <a:dk1>
        <a:sysClr val="windowText" lastClr="000000"/>
      </a:dk1>
      <a:lt1>
        <a:sysClr val="window" lastClr="FFFFFF"/>
      </a:lt1>
      <a:dk2>
        <a:srgbClr val="242423"/>
      </a:dk2>
      <a:lt2>
        <a:srgbClr val="FFFFFF"/>
      </a:lt2>
      <a:accent1>
        <a:srgbClr val="BBD49E"/>
      </a:accent1>
      <a:accent2>
        <a:srgbClr val="9ABF75"/>
      </a:accent2>
      <a:accent3>
        <a:srgbClr val="7AAB4E"/>
      </a:accent3>
      <a:accent4>
        <a:srgbClr val="5B972B"/>
      </a:accent4>
      <a:accent5>
        <a:srgbClr val="416A20"/>
      </a:accent5>
      <a:accent6>
        <a:srgbClr val="294216"/>
      </a:accent6>
      <a:hlink>
        <a:srgbClr val="5B972B"/>
      </a:hlink>
      <a:folHlink>
        <a:srgbClr val="416A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mongodb-wide" id="{89F4BDD1-5098-B74F-9F22-D200A6F3B3A0}" vid="{FA7D09A6-2203-744C-A835-8F758266B5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18342</TotalTime>
  <Words>465</Words>
  <Application>Microsoft Macintosh PowerPoint</Application>
  <PresentationFormat>Custom</PresentationFormat>
  <Paragraphs>101</Paragraphs>
  <Slides>23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mongodb</vt:lpstr>
      <vt:lpstr>PowerPoint Presentation</vt:lpstr>
      <vt:lpstr>Introduction to 3.0</vt:lpstr>
      <vt:lpstr>Agenda</vt:lpstr>
      <vt:lpstr>Pluggable Storage Engines</vt:lpstr>
      <vt:lpstr>Storage Engine Layer</vt:lpstr>
      <vt:lpstr>Storage Engine Layer</vt:lpstr>
      <vt:lpstr>WiredTiger Integration</vt:lpstr>
      <vt:lpstr>Why WT?</vt:lpstr>
      <vt:lpstr>Why WT?</vt:lpstr>
      <vt:lpstr>Concurrency</vt:lpstr>
      <vt:lpstr>MMAPv1 Concurrency Improvements</vt:lpstr>
      <vt:lpstr>Concurrency in WiredTiger</vt:lpstr>
      <vt:lpstr>Compression</vt:lpstr>
      <vt:lpstr>Compression (WT only)</vt:lpstr>
      <vt:lpstr>Enhanced Querying &amp; Tools</vt:lpstr>
      <vt:lpstr>Indexing &amp; Querying</vt:lpstr>
      <vt:lpstr>Tools Improvements</vt:lpstr>
      <vt:lpstr>Administration Enhancements</vt:lpstr>
      <vt:lpstr>Administration</vt:lpstr>
      <vt:lpstr>Replication</vt:lpstr>
      <vt:lpstr>Replication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Dana Groce</cp:lastModifiedBy>
  <cp:revision>24</cp:revision>
  <dcterms:created xsi:type="dcterms:W3CDTF">2015-04-27T20:46:45Z</dcterms:created>
  <dcterms:modified xsi:type="dcterms:W3CDTF">2015-08-18T21:33:17Z</dcterms:modified>
</cp:coreProperties>
</file>