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9" r:id="rId2"/>
    <p:sldId id="300" r:id="rId3"/>
    <p:sldId id="295" r:id="rId4"/>
    <p:sldId id="280" r:id="rId5"/>
    <p:sldId id="277" r:id="rId6"/>
    <p:sldId id="276" r:id="rId7"/>
    <p:sldId id="296" r:id="rId8"/>
    <p:sldId id="261" r:id="rId9"/>
    <p:sldId id="262" r:id="rId10"/>
    <p:sldId id="260" r:id="rId11"/>
    <p:sldId id="264" r:id="rId12"/>
    <p:sldId id="307" r:id="rId13"/>
    <p:sldId id="291" r:id="rId14"/>
    <p:sldId id="265" r:id="rId15"/>
    <p:sldId id="308" r:id="rId16"/>
    <p:sldId id="309" r:id="rId17"/>
    <p:sldId id="310" r:id="rId18"/>
    <p:sldId id="297" r:id="rId19"/>
    <p:sldId id="301" r:id="rId20"/>
    <p:sldId id="298" r:id="rId21"/>
    <p:sldId id="304" r:id="rId22"/>
    <p:sldId id="285" r:id="rId23"/>
    <p:sldId id="294" r:id="rId24"/>
    <p:sldId id="311" r:id="rId25"/>
    <p:sldId id="302" r:id="rId26"/>
    <p:sldId id="305" r:id="rId27"/>
    <p:sldId id="266" r:id="rId28"/>
    <p:sldId id="288" r:id="rId29"/>
    <p:sldId id="268" r:id="rId30"/>
    <p:sldId id="312" r:id="rId31"/>
    <p:sldId id="315" r:id="rId32"/>
    <p:sldId id="271" r:id="rId33"/>
    <p:sldId id="270" r:id="rId34"/>
    <p:sldId id="269" r:id="rId35"/>
    <p:sldId id="313" r:id="rId36"/>
    <p:sldId id="314" r:id="rId37"/>
    <p:sldId id="316" r:id="rId38"/>
    <p:sldId id="290" r:id="rId39"/>
    <p:sldId id="292" r:id="rId40"/>
    <p:sldId id="293" r:id="rId41"/>
    <p:sldId id="272" r:id="rId42"/>
    <p:sldId id="275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9531"/>
    <a:srgbClr val="5B972B"/>
    <a:srgbClr val="242423"/>
    <a:srgbClr val="B3B2B2"/>
    <a:srgbClr val="6D6C6C"/>
    <a:srgbClr val="FFFFFF"/>
    <a:srgbClr val="383737"/>
    <a:srgbClr val="9ABF75"/>
    <a:srgbClr val="8F8E8D"/>
    <a:srgbClr val="BCDC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/>
    <p:restoredTop sz="86073" autoAdjust="0"/>
  </p:normalViewPr>
  <p:slideViewPr>
    <p:cSldViewPr snapToGrid="0" snapToObjects="1">
      <p:cViewPr>
        <p:scale>
          <a:sx n="95" d="100"/>
          <a:sy n="95" d="100"/>
        </p:scale>
        <p:origin x="-712" y="-896"/>
      </p:cViewPr>
      <p:guideLst>
        <p:guide orient="horz" pos="2160"/>
        <p:guide pos="382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1" d="100"/>
        <a:sy n="111" d="100"/>
      </p:scale>
      <p:origin x="0" y="59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interSettings" Target="printerSettings/printerSettings1.bin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50DC90-A9EA-C44B-8776-E90EB41E2E68}" type="doc">
      <dgm:prSet loTypeId="urn:microsoft.com/office/officeart/2005/8/layout/hProcess3" loCatId="" qsTypeId="urn:microsoft.com/office/officeart/2005/8/quickstyle/simple4" qsCatId="simple" csTypeId="urn:microsoft.com/office/officeart/2005/8/colors/accent1_2" csCatId="accent1" phldr="1"/>
      <dgm:spPr/>
    </dgm:pt>
    <dgm:pt modelId="{24B47BF9-0B1D-2D4B-B90E-A279820010A2}">
      <dgm:prSet phldrT="[Text]"/>
      <dgm:spPr/>
      <dgm:t>
        <a:bodyPr/>
        <a:lstStyle/>
        <a:p>
          <a:r>
            <a:rPr lang="en-US" dirty="0" smtClean="0"/>
            <a:t>update</a:t>
          </a:r>
          <a:endParaRPr lang="en-US" dirty="0"/>
        </a:p>
      </dgm:t>
    </dgm:pt>
    <dgm:pt modelId="{0D37939B-D8F0-E74A-B851-DA5DD3803689}" type="parTrans" cxnId="{1748B15A-13F3-9B4C-8230-911EEA65E7DB}">
      <dgm:prSet/>
      <dgm:spPr/>
      <dgm:t>
        <a:bodyPr/>
        <a:lstStyle/>
        <a:p>
          <a:endParaRPr lang="en-US"/>
        </a:p>
      </dgm:t>
    </dgm:pt>
    <dgm:pt modelId="{92FEAE59-741C-3644-B993-10ABC89E011D}" type="sibTrans" cxnId="{1748B15A-13F3-9B4C-8230-911EEA65E7DB}">
      <dgm:prSet/>
      <dgm:spPr/>
      <dgm:t>
        <a:bodyPr/>
        <a:lstStyle/>
        <a:p>
          <a:endParaRPr lang="en-US"/>
        </a:p>
      </dgm:t>
    </dgm:pt>
    <dgm:pt modelId="{19A4137F-F241-E942-8D7C-925FC2CE3FB9}" type="pres">
      <dgm:prSet presAssocID="{BD50DC90-A9EA-C44B-8776-E90EB41E2E68}" presName="Name0" presStyleCnt="0">
        <dgm:presLayoutVars>
          <dgm:dir/>
          <dgm:animLvl val="lvl"/>
          <dgm:resizeHandles val="exact"/>
        </dgm:presLayoutVars>
      </dgm:prSet>
      <dgm:spPr/>
    </dgm:pt>
    <dgm:pt modelId="{6EE650FC-E323-E645-B9E7-42A7CB7353FC}" type="pres">
      <dgm:prSet presAssocID="{BD50DC90-A9EA-C44B-8776-E90EB41E2E68}" presName="dummy" presStyleCnt="0"/>
      <dgm:spPr/>
    </dgm:pt>
    <dgm:pt modelId="{FE566DE8-F65A-DC47-B927-B1EB35BCF929}" type="pres">
      <dgm:prSet presAssocID="{BD50DC90-A9EA-C44B-8776-E90EB41E2E68}" presName="linH" presStyleCnt="0"/>
      <dgm:spPr/>
    </dgm:pt>
    <dgm:pt modelId="{76D8CAD9-00FD-2C41-966B-63702E5782F1}" type="pres">
      <dgm:prSet presAssocID="{BD50DC90-A9EA-C44B-8776-E90EB41E2E68}" presName="padding1" presStyleCnt="0"/>
      <dgm:spPr/>
    </dgm:pt>
    <dgm:pt modelId="{A68D1FD6-38CD-7840-BE1A-14433D69BED0}" type="pres">
      <dgm:prSet presAssocID="{24B47BF9-0B1D-2D4B-B90E-A279820010A2}" presName="linV" presStyleCnt="0"/>
      <dgm:spPr/>
    </dgm:pt>
    <dgm:pt modelId="{73621BE7-833F-7B41-97FB-057A9AC68190}" type="pres">
      <dgm:prSet presAssocID="{24B47BF9-0B1D-2D4B-B90E-A279820010A2}" presName="spVertical1" presStyleCnt="0"/>
      <dgm:spPr/>
    </dgm:pt>
    <dgm:pt modelId="{C31BD24C-3CAB-474E-9E0A-D8AC11BEDED4}" type="pres">
      <dgm:prSet presAssocID="{24B47BF9-0B1D-2D4B-B90E-A279820010A2}" presName="parTx" presStyleLbl="revTx" presStyleIdx="0" presStyleCnt="1" custLinFactNeighborX="-5830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B4A4BA-5042-B940-A1A9-53601D51B499}" type="pres">
      <dgm:prSet presAssocID="{24B47BF9-0B1D-2D4B-B90E-A279820010A2}" presName="spVertical2" presStyleCnt="0"/>
      <dgm:spPr/>
    </dgm:pt>
    <dgm:pt modelId="{C733B8B3-68D5-C14B-9AA8-652175050DFA}" type="pres">
      <dgm:prSet presAssocID="{24B47BF9-0B1D-2D4B-B90E-A279820010A2}" presName="spVertical3" presStyleCnt="0"/>
      <dgm:spPr/>
    </dgm:pt>
    <dgm:pt modelId="{13DDA812-F5AE-0148-A66B-0C709BA2594F}" type="pres">
      <dgm:prSet presAssocID="{BD50DC90-A9EA-C44B-8776-E90EB41E2E68}" presName="padding2" presStyleCnt="0"/>
      <dgm:spPr/>
    </dgm:pt>
    <dgm:pt modelId="{0BEE0BFA-9009-2C49-A90A-DC4EBC4FFA45}" type="pres">
      <dgm:prSet presAssocID="{BD50DC90-A9EA-C44B-8776-E90EB41E2E68}" presName="negArrow" presStyleCnt="0"/>
      <dgm:spPr/>
    </dgm:pt>
    <dgm:pt modelId="{2AD64A7B-16EE-1549-B0E8-CB94B10F39AF}" type="pres">
      <dgm:prSet presAssocID="{BD50DC90-A9EA-C44B-8776-E90EB41E2E68}" presName="backgroundArrow" presStyleLbl="node1" presStyleIdx="0" presStyleCnt="1"/>
      <dgm:spPr/>
    </dgm:pt>
  </dgm:ptLst>
  <dgm:cxnLst>
    <dgm:cxn modelId="{1748B15A-13F3-9B4C-8230-911EEA65E7DB}" srcId="{BD50DC90-A9EA-C44B-8776-E90EB41E2E68}" destId="{24B47BF9-0B1D-2D4B-B90E-A279820010A2}" srcOrd="0" destOrd="0" parTransId="{0D37939B-D8F0-E74A-B851-DA5DD3803689}" sibTransId="{92FEAE59-741C-3644-B993-10ABC89E011D}"/>
    <dgm:cxn modelId="{A3837630-9EBE-1040-950D-EF49AE132657}" type="presOf" srcId="{BD50DC90-A9EA-C44B-8776-E90EB41E2E68}" destId="{19A4137F-F241-E942-8D7C-925FC2CE3FB9}" srcOrd="0" destOrd="0" presId="urn:microsoft.com/office/officeart/2005/8/layout/hProcess3"/>
    <dgm:cxn modelId="{E004099E-274A-3A47-AB84-965777E7CF84}" type="presOf" srcId="{24B47BF9-0B1D-2D4B-B90E-A279820010A2}" destId="{C31BD24C-3CAB-474E-9E0A-D8AC11BEDED4}" srcOrd="0" destOrd="0" presId="urn:microsoft.com/office/officeart/2005/8/layout/hProcess3"/>
    <dgm:cxn modelId="{6C4FA2B3-6802-9F48-A8E6-717F2DB3A31E}" type="presParOf" srcId="{19A4137F-F241-E942-8D7C-925FC2CE3FB9}" destId="{6EE650FC-E323-E645-B9E7-42A7CB7353FC}" srcOrd="0" destOrd="0" presId="urn:microsoft.com/office/officeart/2005/8/layout/hProcess3"/>
    <dgm:cxn modelId="{F7868994-B90E-9845-8977-4CD9CDF8D201}" type="presParOf" srcId="{19A4137F-F241-E942-8D7C-925FC2CE3FB9}" destId="{FE566DE8-F65A-DC47-B927-B1EB35BCF929}" srcOrd="1" destOrd="0" presId="urn:microsoft.com/office/officeart/2005/8/layout/hProcess3"/>
    <dgm:cxn modelId="{6CE9D775-733C-4043-8359-0635C5FA3EA0}" type="presParOf" srcId="{FE566DE8-F65A-DC47-B927-B1EB35BCF929}" destId="{76D8CAD9-00FD-2C41-966B-63702E5782F1}" srcOrd="0" destOrd="0" presId="urn:microsoft.com/office/officeart/2005/8/layout/hProcess3"/>
    <dgm:cxn modelId="{C471F63F-EF70-4E42-B856-FC15371B9D38}" type="presParOf" srcId="{FE566DE8-F65A-DC47-B927-B1EB35BCF929}" destId="{A68D1FD6-38CD-7840-BE1A-14433D69BED0}" srcOrd="1" destOrd="0" presId="urn:microsoft.com/office/officeart/2005/8/layout/hProcess3"/>
    <dgm:cxn modelId="{E245FD19-CCA1-364E-BFCC-133143B96457}" type="presParOf" srcId="{A68D1FD6-38CD-7840-BE1A-14433D69BED0}" destId="{73621BE7-833F-7B41-97FB-057A9AC68190}" srcOrd="0" destOrd="0" presId="urn:microsoft.com/office/officeart/2005/8/layout/hProcess3"/>
    <dgm:cxn modelId="{AAB83A8F-E764-4C4B-91D4-EDC68BD185BE}" type="presParOf" srcId="{A68D1FD6-38CD-7840-BE1A-14433D69BED0}" destId="{C31BD24C-3CAB-474E-9E0A-D8AC11BEDED4}" srcOrd="1" destOrd="0" presId="urn:microsoft.com/office/officeart/2005/8/layout/hProcess3"/>
    <dgm:cxn modelId="{AE484C76-B025-8146-A91E-6D076CBDAC6D}" type="presParOf" srcId="{A68D1FD6-38CD-7840-BE1A-14433D69BED0}" destId="{38B4A4BA-5042-B940-A1A9-53601D51B499}" srcOrd="2" destOrd="0" presId="urn:microsoft.com/office/officeart/2005/8/layout/hProcess3"/>
    <dgm:cxn modelId="{84ABB4CB-5574-7A40-BBFD-C0AA5552BE50}" type="presParOf" srcId="{A68D1FD6-38CD-7840-BE1A-14433D69BED0}" destId="{C733B8B3-68D5-C14B-9AA8-652175050DFA}" srcOrd="3" destOrd="0" presId="urn:microsoft.com/office/officeart/2005/8/layout/hProcess3"/>
    <dgm:cxn modelId="{803381ED-8645-D949-B0BC-374A708B9C1E}" type="presParOf" srcId="{FE566DE8-F65A-DC47-B927-B1EB35BCF929}" destId="{13DDA812-F5AE-0148-A66B-0C709BA2594F}" srcOrd="2" destOrd="0" presId="urn:microsoft.com/office/officeart/2005/8/layout/hProcess3"/>
    <dgm:cxn modelId="{F215C83E-8B6D-794C-93C7-BF6CFB8A32F5}" type="presParOf" srcId="{FE566DE8-F65A-DC47-B927-B1EB35BCF929}" destId="{0BEE0BFA-9009-2C49-A90A-DC4EBC4FFA45}" srcOrd="3" destOrd="0" presId="urn:microsoft.com/office/officeart/2005/8/layout/hProcess3"/>
    <dgm:cxn modelId="{D6DBBC46-D275-CF4F-8E23-7905D42FCBA0}" type="presParOf" srcId="{FE566DE8-F65A-DC47-B927-B1EB35BCF929}" destId="{2AD64A7B-16EE-1549-B0E8-CB94B10F39AF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50DC90-A9EA-C44B-8776-E90EB41E2E68}" type="doc">
      <dgm:prSet loTypeId="urn:microsoft.com/office/officeart/2005/8/layout/hProcess3" loCatId="" qsTypeId="urn:microsoft.com/office/officeart/2005/8/quickstyle/simple4" qsCatId="simple" csTypeId="urn:microsoft.com/office/officeart/2005/8/colors/accent1_2" csCatId="accent1" phldr="1"/>
      <dgm:spPr/>
    </dgm:pt>
    <dgm:pt modelId="{24B47BF9-0B1D-2D4B-B90E-A279820010A2}">
      <dgm:prSet phldrT="[Text]"/>
      <dgm:spPr/>
      <dgm:t>
        <a:bodyPr/>
        <a:lstStyle/>
        <a:p>
          <a:r>
            <a:rPr lang="en-US" dirty="0" smtClean="0"/>
            <a:t>update</a:t>
          </a:r>
          <a:endParaRPr lang="en-US" dirty="0"/>
        </a:p>
      </dgm:t>
    </dgm:pt>
    <dgm:pt modelId="{0D37939B-D8F0-E74A-B851-DA5DD3803689}" type="parTrans" cxnId="{1748B15A-13F3-9B4C-8230-911EEA65E7DB}">
      <dgm:prSet/>
      <dgm:spPr/>
      <dgm:t>
        <a:bodyPr/>
        <a:lstStyle/>
        <a:p>
          <a:endParaRPr lang="en-US"/>
        </a:p>
      </dgm:t>
    </dgm:pt>
    <dgm:pt modelId="{92FEAE59-741C-3644-B993-10ABC89E011D}" type="sibTrans" cxnId="{1748B15A-13F3-9B4C-8230-911EEA65E7DB}">
      <dgm:prSet/>
      <dgm:spPr/>
      <dgm:t>
        <a:bodyPr/>
        <a:lstStyle/>
        <a:p>
          <a:endParaRPr lang="en-US"/>
        </a:p>
      </dgm:t>
    </dgm:pt>
    <dgm:pt modelId="{19A4137F-F241-E942-8D7C-925FC2CE3FB9}" type="pres">
      <dgm:prSet presAssocID="{BD50DC90-A9EA-C44B-8776-E90EB41E2E68}" presName="Name0" presStyleCnt="0">
        <dgm:presLayoutVars>
          <dgm:dir/>
          <dgm:animLvl val="lvl"/>
          <dgm:resizeHandles val="exact"/>
        </dgm:presLayoutVars>
      </dgm:prSet>
      <dgm:spPr/>
    </dgm:pt>
    <dgm:pt modelId="{6EE650FC-E323-E645-B9E7-42A7CB7353FC}" type="pres">
      <dgm:prSet presAssocID="{BD50DC90-A9EA-C44B-8776-E90EB41E2E68}" presName="dummy" presStyleCnt="0"/>
      <dgm:spPr/>
    </dgm:pt>
    <dgm:pt modelId="{FE566DE8-F65A-DC47-B927-B1EB35BCF929}" type="pres">
      <dgm:prSet presAssocID="{BD50DC90-A9EA-C44B-8776-E90EB41E2E68}" presName="linH" presStyleCnt="0"/>
      <dgm:spPr/>
    </dgm:pt>
    <dgm:pt modelId="{76D8CAD9-00FD-2C41-966B-63702E5782F1}" type="pres">
      <dgm:prSet presAssocID="{BD50DC90-A9EA-C44B-8776-E90EB41E2E68}" presName="padding1" presStyleCnt="0"/>
      <dgm:spPr/>
    </dgm:pt>
    <dgm:pt modelId="{A68D1FD6-38CD-7840-BE1A-14433D69BED0}" type="pres">
      <dgm:prSet presAssocID="{24B47BF9-0B1D-2D4B-B90E-A279820010A2}" presName="linV" presStyleCnt="0"/>
      <dgm:spPr/>
    </dgm:pt>
    <dgm:pt modelId="{73621BE7-833F-7B41-97FB-057A9AC68190}" type="pres">
      <dgm:prSet presAssocID="{24B47BF9-0B1D-2D4B-B90E-A279820010A2}" presName="spVertical1" presStyleCnt="0"/>
      <dgm:spPr/>
    </dgm:pt>
    <dgm:pt modelId="{C31BD24C-3CAB-474E-9E0A-D8AC11BEDED4}" type="pres">
      <dgm:prSet presAssocID="{24B47BF9-0B1D-2D4B-B90E-A279820010A2}" presName="parTx" presStyleLbl="revTx" presStyleIdx="0" presStyleCnt="1" custLinFactNeighborX="-5830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B4A4BA-5042-B940-A1A9-53601D51B499}" type="pres">
      <dgm:prSet presAssocID="{24B47BF9-0B1D-2D4B-B90E-A279820010A2}" presName="spVertical2" presStyleCnt="0"/>
      <dgm:spPr/>
    </dgm:pt>
    <dgm:pt modelId="{C733B8B3-68D5-C14B-9AA8-652175050DFA}" type="pres">
      <dgm:prSet presAssocID="{24B47BF9-0B1D-2D4B-B90E-A279820010A2}" presName="spVertical3" presStyleCnt="0"/>
      <dgm:spPr/>
    </dgm:pt>
    <dgm:pt modelId="{13DDA812-F5AE-0148-A66B-0C709BA2594F}" type="pres">
      <dgm:prSet presAssocID="{BD50DC90-A9EA-C44B-8776-E90EB41E2E68}" presName="padding2" presStyleCnt="0"/>
      <dgm:spPr/>
    </dgm:pt>
    <dgm:pt modelId="{0BEE0BFA-9009-2C49-A90A-DC4EBC4FFA45}" type="pres">
      <dgm:prSet presAssocID="{BD50DC90-A9EA-C44B-8776-E90EB41E2E68}" presName="negArrow" presStyleCnt="0"/>
      <dgm:spPr/>
    </dgm:pt>
    <dgm:pt modelId="{2AD64A7B-16EE-1549-B0E8-CB94B10F39AF}" type="pres">
      <dgm:prSet presAssocID="{BD50DC90-A9EA-C44B-8776-E90EB41E2E68}" presName="backgroundArrow" presStyleLbl="node1" presStyleIdx="0" presStyleCnt="1"/>
      <dgm:spPr/>
    </dgm:pt>
  </dgm:ptLst>
  <dgm:cxnLst>
    <dgm:cxn modelId="{A4039C86-363B-9D44-8B34-C569DCFD5451}" type="presOf" srcId="{24B47BF9-0B1D-2D4B-B90E-A279820010A2}" destId="{C31BD24C-3CAB-474E-9E0A-D8AC11BEDED4}" srcOrd="0" destOrd="0" presId="urn:microsoft.com/office/officeart/2005/8/layout/hProcess3"/>
    <dgm:cxn modelId="{1748B15A-13F3-9B4C-8230-911EEA65E7DB}" srcId="{BD50DC90-A9EA-C44B-8776-E90EB41E2E68}" destId="{24B47BF9-0B1D-2D4B-B90E-A279820010A2}" srcOrd="0" destOrd="0" parTransId="{0D37939B-D8F0-E74A-B851-DA5DD3803689}" sibTransId="{92FEAE59-741C-3644-B993-10ABC89E011D}"/>
    <dgm:cxn modelId="{72F5CF84-282F-4344-B40A-EA1A18E4D7B6}" type="presOf" srcId="{BD50DC90-A9EA-C44B-8776-E90EB41E2E68}" destId="{19A4137F-F241-E942-8D7C-925FC2CE3FB9}" srcOrd="0" destOrd="0" presId="urn:microsoft.com/office/officeart/2005/8/layout/hProcess3"/>
    <dgm:cxn modelId="{B8982C29-688B-8845-80F2-180180D95B98}" type="presParOf" srcId="{19A4137F-F241-E942-8D7C-925FC2CE3FB9}" destId="{6EE650FC-E323-E645-B9E7-42A7CB7353FC}" srcOrd="0" destOrd="0" presId="urn:microsoft.com/office/officeart/2005/8/layout/hProcess3"/>
    <dgm:cxn modelId="{A6CB1E48-3B87-CB42-B7DD-5F342AAE6202}" type="presParOf" srcId="{19A4137F-F241-E942-8D7C-925FC2CE3FB9}" destId="{FE566DE8-F65A-DC47-B927-B1EB35BCF929}" srcOrd="1" destOrd="0" presId="urn:microsoft.com/office/officeart/2005/8/layout/hProcess3"/>
    <dgm:cxn modelId="{ED2918A9-77B6-804B-91C2-1A1B5B55D838}" type="presParOf" srcId="{FE566DE8-F65A-DC47-B927-B1EB35BCF929}" destId="{76D8CAD9-00FD-2C41-966B-63702E5782F1}" srcOrd="0" destOrd="0" presId="urn:microsoft.com/office/officeart/2005/8/layout/hProcess3"/>
    <dgm:cxn modelId="{E80F71FE-7D01-644B-84D1-F6E7CC8BF49B}" type="presParOf" srcId="{FE566DE8-F65A-DC47-B927-B1EB35BCF929}" destId="{A68D1FD6-38CD-7840-BE1A-14433D69BED0}" srcOrd="1" destOrd="0" presId="urn:microsoft.com/office/officeart/2005/8/layout/hProcess3"/>
    <dgm:cxn modelId="{AC3CD40D-1D34-3340-9456-502B5AFDC100}" type="presParOf" srcId="{A68D1FD6-38CD-7840-BE1A-14433D69BED0}" destId="{73621BE7-833F-7B41-97FB-057A9AC68190}" srcOrd="0" destOrd="0" presId="urn:microsoft.com/office/officeart/2005/8/layout/hProcess3"/>
    <dgm:cxn modelId="{B18DAA09-EF0F-D643-AB28-AC5C8A80C43B}" type="presParOf" srcId="{A68D1FD6-38CD-7840-BE1A-14433D69BED0}" destId="{C31BD24C-3CAB-474E-9E0A-D8AC11BEDED4}" srcOrd="1" destOrd="0" presId="urn:microsoft.com/office/officeart/2005/8/layout/hProcess3"/>
    <dgm:cxn modelId="{242268DE-26C8-434D-A08F-937F74C68E43}" type="presParOf" srcId="{A68D1FD6-38CD-7840-BE1A-14433D69BED0}" destId="{38B4A4BA-5042-B940-A1A9-53601D51B499}" srcOrd="2" destOrd="0" presId="urn:microsoft.com/office/officeart/2005/8/layout/hProcess3"/>
    <dgm:cxn modelId="{0D7F0243-70E4-3046-BD69-F9E969A1E659}" type="presParOf" srcId="{A68D1FD6-38CD-7840-BE1A-14433D69BED0}" destId="{C733B8B3-68D5-C14B-9AA8-652175050DFA}" srcOrd="3" destOrd="0" presId="urn:microsoft.com/office/officeart/2005/8/layout/hProcess3"/>
    <dgm:cxn modelId="{BFD5264B-DB7C-8F4A-AEB1-E5A6BB3A0F48}" type="presParOf" srcId="{FE566DE8-F65A-DC47-B927-B1EB35BCF929}" destId="{13DDA812-F5AE-0148-A66B-0C709BA2594F}" srcOrd="2" destOrd="0" presId="urn:microsoft.com/office/officeart/2005/8/layout/hProcess3"/>
    <dgm:cxn modelId="{142C49E6-A536-404D-8D03-3134CD1C79A9}" type="presParOf" srcId="{FE566DE8-F65A-DC47-B927-B1EB35BCF929}" destId="{0BEE0BFA-9009-2C49-A90A-DC4EBC4FFA45}" srcOrd="3" destOrd="0" presId="urn:microsoft.com/office/officeart/2005/8/layout/hProcess3"/>
    <dgm:cxn modelId="{6FE44633-7503-3745-9E1D-7FB13F07ED61}" type="presParOf" srcId="{FE566DE8-F65A-DC47-B927-B1EB35BCF929}" destId="{2AD64A7B-16EE-1549-B0E8-CB94B10F39AF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D64A7B-16EE-1549-B0E8-CB94B10F39AF}">
      <dsp:nvSpPr>
        <dsp:cNvPr id="0" name=""/>
        <dsp:cNvSpPr/>
      </dsp:nvSpPr>
      <dsp:spPr>
        <a:xfrm>
          <a:off x="0" y="912"/>
          <a:ext cx="1634958" cy="1224000"/>
        </a:xfrm>
        <a:prstGeom prst="rightArrow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1BD24C-3CAB-474E-9E0A-D8AC11BEDED4}">
      <dsp:nvSpPr>
        <dsp:cNvPr id="0" name=""/>
        <dsp:cNvSpPr/>
      </dsp:nvSpPr>
      <dsp:spPr>
        <a:xfrm>
          <a:off x="0" y="306912"/>
          <a:ext cx="1339579" cy="61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2720" rIns="0" bIns="17272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update</a:t>
          </a:r>
          <a:endParaRPr lang="en-US" sz="1700" kern="1200" dirty="0"/>
        </a:p>
      </dsp:txBody>
      <dsp:txXfrm>
        <a:off x="0" y="306912"/>
        <a:ext cx="1339579" cy="612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D64A7B-16EE-1549-B0E8-CB94B10F39AF}">
      <dsp:nvSpPr>
        <dsp:cNvPr id="0" name=""/>
        <dsp:cNvSpPr/>
      </dsp:nvSpPr>
      <dsp:spPr>
        <a:xfrm>
          <a:off x="0" y="912"/>
          <a:ext cx="1634958" cy="1224000"/>
        </a:xfrm>
        <a:prstGeom prst="rightArrow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1BD24C-3CAB-474E-9E0A-D8AC11BEDED4}">
      <dsp:nvSpPr>
        <dsp:cNvPr id="0" name=""/>
        <dsp:cNvSpPr/>
      </dsp:nvSpPr>
      <dsp:spPr>
        <a:xfrm>
          <a:off x="0" y="306912"/>
          <a:ext cx="1339579" cy="61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2720" rIns="0" bIns="17272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update</a:t>
          </a:r>
          <a:endParaRPr lang="en-US" sz="1700" kern="1200" dirty="0"/>
        </a:p>
      </dsp:txBody>
      <dsp:txXfrm>
        <a:off x="0" y="306912"/>
        <a:ext cx="1339579" cy="612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4B723-EAF0-8848-A80B-9493965701A2}" type="datetimeFigureOut">
              <a:rPr lang="en-US" smtClean="0"/>
              <a:t>9/07/15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72BC3-08E7-BC45-A5BA-2E59087AC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85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smtClean="0"/>
              <a:t>&lt;Exciting, good fit for lots of </a:t>
            </a:r>
            <a:r>
              <a:rPr lang="en-US" sz="2800" dirty="0" err="1" smtClean="0"/>
              <a:t>MongoDB</a:t>
            </a:r>
            <a:r>
              <a:rPr lang="en-US" sz="2800" dirty="0" smtClean="0"/>
              <a:t> workloads&gt;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72BC3-08E7-BC45-A5BA-2E59087AC7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31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Different</a:t>
            </a:r>
            <a:r>
              <a:rPr lang="en-US" baseline="0" dirty="0" smtClean="0"/>
              <a:t> in-memory representation </a:t>
            </a:r>
            <a:r>
              <a:rPr lang="en-US" baseline="0" dirty="0" err="1" smtClean="0"/>
              <a:t>vs</a:t>
            </a:r>
            <a:r>
              <a:rPr lang="en-US" baseline="0" dirty="0" smtClean="0"/>
              <a:t> on-disk – opportunities to optimize plus some interesting </a:t>
            </a:r>
            <a:r>
              <a:rPr lang="en-US" baseline="0" dirty="0" err="1" smtClean="0"/>
              <a:t>fetures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Writing a page:</a:t>
            </a:r>
          </a:p>
          <a:p>
            <a:r>
              <a:rPr lang="en-US" sz="1200" dirty="0" smtClean="0"/>
              <a:t>Combine the previous page image with in-memory changes</a:t>
            </a:r>
          </a:p>
          <a:p>
            <a:r>
              <a:rPr lang="en-US" sz="1200" dirty="0" smtClean="0"/>
              <a:t>Allocate new space in the file</a:t>
            </a:r>
          </a:p>
          <a:p>
            <a:r>
              <a:rPr lang="en-US" sz="1200" dirty="0" smtClean="0"/>
              <a:t>If the result is too big, split</a:t>
            </a:r>
          </a:p>
          <a:p>
            <a:r>
              <a:rPr lang="en-US" sz="1200" dirty="0" smtClean="0"/>
              <a:t>Always write multiples of the allocation size</a:t>
            </a:r>
          </a:p>
          <a:p>
            <a:r>
              <a:rPr lang="en-US" sz="1200" dirty="0" smtClean="0"/>
              <a:t>Can configure direct I/O to keep reads and writes out of the </a:t>
            </a:r>
            <a:r>
              <a:rPr lang="en-US" sz="1200" dirty="0" err="1" smtClean="0"/>
              <a:t>filesystem</a:t>
            </a:r>
            <a:r>
              <a:rPr lang="en-US" sz="1200" dirty="0" smtClean="0"/>
              <a:t> cache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72BC3-08E7-BC45-A5BA-2E59087AC76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05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Different</a:t>
            </a:r>
            <a:r>
              <a:rPr lang="en-US" baseline="0" dirty="0" smtClean="0"/>
              <a:t> in-memory representation </a:t>
            </a:r>
            <a:r>
              <a:rPr lang="en-US" baseline="0" dirty="0" err="1" smtClean="0"/>
              <a:t>vs</a:t>
            </a:r>
            <a:r>
              <a:rPr lang="en-US" baseline="0" dirty="0" smtClean="0"/>
              <a:t> on-disk – opportunities to optimize plus some interesting </a:t>
            </a:r>
            <a:r>
              <a:rPr lang="en-US" baseline="0" dirty="0" err="1" smtClean="0"/>
              <a:t>fetures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Writing a page:</a:t>
            </a:r>
          </a:p>
          <a:p>
            <a:r>
              <a:rPr lang="en-US" sz="1200" dirty="0" smtClean="0"/>
              <a:t>Combine the previous page image with in-memory changes</a:t>
            </a:r>
          </a:p>
          <a:p>
            <a:r>
              <a:rPr lang="en-US" sz="1200" dirty="0" smtClean="0"/>
              <a:t>Allocate new space in the file</a:t>
            </a:r>
          </a:p>
          <a:p>
            <a:r>
              <a:rPr lang="en-US" sz="1200" dirty="0" smtClean="0"/>
              <a:t>If the result is too big, split</a:t>
            </a:r>
          </a:p>
          <a:p>
            <a:r>
              <a:rPr lang="en-US" sz="1200" dirty="0" smtClean="0"/>
              <a:t>Always write multiples of the allocation size</a:t>
            </a:r>
          </a:p>
          <a:p>
            <a:r>
              <a:rPr lang="en-US" sz="1200" dirty="0" smtClean="0"/>
              <a:t>Can configure direct I/O to keep reads and writes out of the </a:t>
            </a:r>
            <a:r>
              <a:rPr lang="en-US" sz="1200" dirty="0" err="1" smtClean="0"/>
              <a:t>filesystem</a:t>
            </a:r>
            <a:r>
              <a:rPr lang="en-US" sz="1200" dirty="0" smtClean="0"/>
              <a:t> cache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72BC3-08E7-BC45-A5BA-2E59087AC76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05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Different</a:t>
            </a:r>
            <a:r>
              <a:rPr lang="en-US" baseline="0" dirty="0" smtClean="0"/>
              <a:t> in-memory representation </a:t>
            </a:r>
            <a:r>
              <a:rPr lang="en-US" baseline="0" dirty="0" err="1" smtClean="0"/>
              <a:t>vs</a:t>
            </a:r>
            <a:r>
              <a:rPr lang="en-US" baseline="0" dirty="0" smtClean="0"/>
              <a:t> on-disk – opportunities to optimize plus some interesting </a:t>
            </a:r>
            <a:r>
              <a:rPr lang="en-US" baseline="0" dirty="0" err="1" smtClean="0"/>
              <a:t>fetures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Writing a page:</a:t>
            </a:r>
          </a:p>
          <a:p>
            <a:r>
              <a:rPr lang="en-US" sz="1200" dirty="0" smtClean="0"/>
              <a:t>Combine the previous page image with in-memory changes</a:t>
            </a:r>
          </a:p>
          <a:p>
            <a:r>
              <a:rPr lang="en-US" sz="1200" dirty="0" smtClean="0"/>
              <a:t>Allocate new space in the file</a:t>
            </a:r>
          </a:p>
          <a:p>
            <a:r>
              <a:rPr lang="en-US" sz="1200" dirty="0" smtClean="0"/>
              <a:t>If the result is too big, split</a:t>
            </a:r>
          </a:p>
          <a:p>
            <a:r>
              <a:rPr lang="en-US" sz="1200" dirty="0" smtClean="0"/>
              <a:t>Always write multiples of the allocation size</a:t>
            </a:r>
          </a:p>
          <a:p>
            <a:r>
              <a:rPr lang="en-US" sz="1200" dirty="0" smtClean="0"/>
              <a:t>Can configure direct I/O to keep reads and writes out of the </a:t>
            </a:r>
            <a:r>
              <a:rPr lang="en-US" sz="1200" dirty="0" err="1" smtClean="0"/>
              <a:t>filesystem</a:t>
            </a:r>
            <a:r>
              <a:rPr lang="en-US" sz="1200" dirty="0" smtClean="0"/>
              <a:t> cache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72BC3-08E7-BC45-A5BA-2E59087AC76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05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72BC3-08E7-BC45-A5BA-2E59087AC76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55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rgbClr val="242423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24242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24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63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6178302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BREAKER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7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42423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242423"/>
                </a:solidFill>
              </a:defRPr>
            </a:lvl1pPr>
            <a:lvl2pPr>
              <a:defRPr>
                <a:solidFill>
                  <a:srgbClr val="242423"/>
                </a:solidFill>
              </a:defRPr>
            </a:lvl2pPr>
            <a:lvl3pPr>
              <a:defRPr>
                <a:solidFill>
                  <a:srgbClr val="242423"/>
                </a:solidFill>
              </a:defRPr>
            </a:lvl3pPr>
            <a:lvl4pPr>
              <a:defRPr>
                <a:solidFill>
                  <a:srgbClr val="242423"/>
                </a:solidFill>
              </a:defRPr>
            </a:lvl4pPr>
            <a:lvl5pPr>
              <a:defRPr>
                <a:solidFill>
                  <a:srgbClr val="242423"/>
                </a:solidFill>
              </a:defRPr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3200" y="6272737"/>
            <a:ext cx="1219200" cy="338362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609600" y="6445250"/>
            <a:ext cx="309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98C846C-6FDD-4A4D-9385-73C79C1AF32F}" type="slidenum">
              <a:rPr lang="en-US" sz="800" smtClean="0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11328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01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30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0055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71084"/>
            <a:ext cx="10972800" cy="4974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75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0" r:id="rId4"/>
    <p:sldLayoutId id="2147483654" r:id="rId5"/>
    <p:sldLayoutId id="2147483653" r:id="rId6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3600" b="1" kern="1200" spc="-150">
          <a:solidFill>
            <a:srgbClr val="242423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rgbClr val="6D6C6C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6D6C6C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rgbClr val="6D6C6C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6D6C6C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6D6C6C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hyperlink" Target="mailto:michael.cahill@mongodb.co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mailto:info@wiredtiger.com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1" Type="http://schemas.openxmlformats.org/officeDocument/2006/relationships/diagramLayout" Target="../diagrams/layout2.xml"/><Relationship Id="rId12" Type="http://schemas.openxmlformats.org/officeDocument/2006/relationships/diagramQuickStyle" Target="../diagrams/quickStyle2.xml"/><Relationship Id="rId13" Type="http://schemas.openxmlformats.org/officeDocument/2006/relationships/diagramColors" Target="../diagrams/colors2.xml"/><Relationship Id="rId14" Type="http://schemas.microsoft.com/office/2007/relationships/diagramDrawing" Target="../diagrams/drawing2.xml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emf"/><Relationship Id="rId3" Type="http://schemas.openxmlformats.org/officeDocument/2006/relationships/image" Target="../media/image12.emf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image" Target="../media/image13.emf"/><Relationship Id="rId10" Type="http://schemas.openxmlformats.org/officeDocument/2006/relationships/diagramData" Target="../diagrams/data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://smalldatum.blogspot.com/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 Technical Introduction to WiredTiger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Michael </a:t>
            </a:r>
            <a:r>
              <a:rPr lang="en-US" sz="2400" dirty="0"/>
              <a:t>Cahill</a:t>
            </a:r>
          </a:p>
          <a:p>
            <a:r>
              <a:rPr lang="en-US" sz="2400" dirty="0"/>
              <a:t>Director of Engineering (Storage), </a:t>
            </a:r>
            <a:r>
              <a:rPr lang="en-US" sz="2400" dirty="0" err="1" smtClean="0"/>
              <a:t>MongoDB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/>
              <a:t>We’ll begin shortly.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715079"/>
            <a:ext cx="2286000" cy="650957"/>
          </a:xfrm>
          <a:prstGeom prst="rect">
            <a:avLst/>
          </a:prstGeom>
        </p:spPr>
      </p:pic>
      <p:sp>
        <p:nvSpPr>
          <p:cNvPr id="5" name="Title 5"/>
          <p:cNvSpPr txBox="1">
            <a:spLocks/>
          </p:cNvSpPr>
          <p:nvPr/>
        </p:nvSpPr>
        <p:spPr>
          <a:xfrm>
            <a:off x="914400" y="1402967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b="1" kern="1200" spc="-15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2400" b="0" dirty="0" smtClean="0"/>
              <a:t>Thanks for joining: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5287991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SC0080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316" y="1270000"/>
            <a:ext cx="4324684" cy="43246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7999" y="721895"/>
            <a:ext cx="6978317" cy="566820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About The </a:t>
            </a:r>
            <a:r>
              <a:rPr lang="en-US" sz="3600" b="1" dirty="0" smtClean="0">
                <a:solidFill>
                  <a:srgbClr val="FFFFFF"/>
                </a:solidFill>
              </a:rPr>
              <a:t>Presenter</a:t>
            </a:r>
          </a:p>
          <a:p>
            <a:pPr>
              <a:lnSpc>
                <a:spcPct val="120000"/>
              </a:lnSpc>
            </a:pPr>
            <a:endParaRPr lang="en-US" sz="2800" dirty="0">
              <a:solidFill>
                <a:srgbClr val="FFFFFF"/>
              </a:solidFill>
            </a:endParaRPr>
          </a:p>
          <a:p>
            <a:pPr marL="571500" indent="-571500">
              <a:lnSpc>
                <a:spcPct val="130000"/>
              </a:lnSpc>
              <a:buFont typeface="Arial"/>
              <a:buChar char="•"/>
            </a:pPr>
            <a:r>
              <a:rPr lang="en-US" sz="2800" dirty="0" smtClean="0">
                <a:solidFill>
                  <a:srgbClr val="FFFFFF"/>
                </a:solidFill>
              </a:rPr>
              <a:t>Michael Cahill</a:t>
            </a:r>
          </a:p>
          <a:p>
            <a:pPr marL="571500" indent="-571500">
              <a:lnSpc>
                <a:spcPct val="130000"/>
              </a:lnSpc>
              <a:buFont typeface="Arial"/>
              <a:buChar char="•"/>
            </a:pPr>
            <a:r>
              <a:rPr lang="en-US" sz="2800" dirty="0" smtClean="0">
                <a:solidFill>
                  <a:srgbClr val="FFFFFF"/>
                </a:solidFill>
              </a:rPr>
              <a:t>WiredTiger team lead at </a:t>
            </a:r>
            <a:r>
              <a:rPr lang="en-US" sz="2800" dirty="0" err="1" smtClean="0">
                <a:solidFill>
                  <a:srgbClr val="FFFFFF"/>
                </a:solidFill>
              </a:rPr>
              <a:t>MongoDB</a:t>
            </a:r>
            <a:endParaRPr lang="en-US" sz="2800" dirty="0" smtClean="0">
              <a:solidFill>
                <a:srgbClr val="FFFFFF"/>
              </a:solidFill>
            </a:endParaRPr>
          </a:p>
          <a:p>
            <a:pPr marL="571500" indent="-571500">
              <a:lnSpc>
                <a:spcPct val="130000"/>
              </a:lnSpc>
              <a:buFont typeface="Arial"/>
              <a:buChar char="•"/>
            </a:pPr>
            <a:endParaRPr lang="en-US" sz="2800" dirty="0" smtClean="0">
              <a:solidFill>
                <a:srgbClr val="FFFFFF"/>
              </a:solidFill>
            </a:endParaRPr>
          </a:p>
          <a:p>
            <a:pPr marL="571500" indent="-571500">
              <a:lnSpc>
                <a:spcPct val="130000"/>
              </a:lnSpc>
              <a:buFont typeface="Arial"/>
              <a:buChar char="•"/>
            </a:pPr>
            <a:r>
              <a:rPr lang="en-US" sz="2800" dirty="0" smtClean="0">
                <a:solidFill>
                  <a:srgbClr val="FFFFFF"/>
                </a:solidFill>
              </a:rPr>
              <a:t>Sydney</a:t>
            </a:r>
            <a:r>
              <a:rPr lang="en-US" sz="2800" dirty="0">
                <a:solidFill>
                  <a:srgbClr val="FFFFFF"/>
                </a:solidFill>
              </a:rPr>
              <a:t>, </a:t>
            </a:r>
            <a:r>
              <a:rPr lang="en-US" sz="2800" dirty="0" smtClean="0">
                <a:solidFill>
                  <a:srgbClr val="FFFFFF"/>
                </a:solidFill>
              </a:rPr>
              <a:t>Australia</a:t>
            </a:r>
          </a:p>
          <a:p>
            <a:pPr marL="571500" indent="-571500">
              <a:lnSpc>
                <a:spcPct val="130000"/>
              </a:lnSpc>
              <a:buFont typeface="Arial"/>
              <a:buChar char="•"/>
            </a:pPr>
            <a:r>
              <a:rPr lang="en-US" sz="2800" dirty="0" smtClean="0">
                <a:solidFill>
                  <a:srgbClr val="FFFFFF"/>
                </a:solidFill>
                <a:hlinkClick r:id="rId3"/>
              </a:rPr>
              <a:t>michael.cahill</a:t>
            </a:r>
            <a:r>
              <a:rPr lang="en-US" sz="2800" dirty="0">
                <a:solidFill>
                  <a:srgbClr val="FFFFFF"/>
                </a:solidFill>
                <a:hlinkClick r:id="rId3"/>
              </a:rPr>
              <a:t>@mongodb.com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endParaRPr lang="en-US" sz="2800" dirty="0" smtClean="0">
              <a:solidFill>
                <a:srgbClr val="FFFFFF"/>
              </a:solidFill>
            </a:endParaRPr>
          </a:p>
          <a:p>
            <a:pPr marL="571500" indent="-571500">
              <a:lnSpc>
                <a:spcPct val="130000"/>
              </a:lnSpc>
              <a:buFont typeface="Arial"/>
              <a:buChar char="•"/>
            </a:pPr>
            <a:r>
              <a:rPr lang="en-US" sz="2800" dirty="0" smtClean="0">
                <a:solidFill>
                  <a:srgbClr val="FFFFFF"/>
                </a:solidFill>
              </a:rPr>
              <a:t>@</a:t>
            </a:r>
            <a:r>
              <a:rPr lang="en-US" sz="2800" dirty="0" err="1">
                <a:solidFill>
                  <a:srgbClr val="FFFFFF"/>
                </a:solidFill>
              </a:rPr>
              <a:t>m_j_cahill</a:t>
            </a:r>
            <a:endParaRPr lang="en-US" sz="2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2436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5053" y="334211"/>
            <a:ext cx="10922000" cy="5392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600" b="1" dirty="0" smtClean="0">
                <a:solidFill>
                  <a:schemeClr val="bg1"/>
                </a:solidFill>
              </a:rPr>
              <a:t>What You Will Learn</a:t>
            </a:r>
          </a:p>
          <a:p>
            <a:pPr>
              <a:lnSpc>
                <a:spcPct val="120000"/>
              </a:lnSpc>
            </a:pPr>
            <a:endParaRPr lang="en-US" sz="3600" dirty="0" smtClean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 smtClean="0">
                <a:solidFill>
                  <a:srgbClr val="FFFFFF"/>
                </a:solidFill>
              </a:rPr>
              <a:t>WiredTiger Architecture</a:t>
            </a: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In-memory performance</a:t>
            </a: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 smtClean="0">
                <a:solidFill>
                  <a:schemeClr val="bg1"/>
                </a:solidFill>
              </a:rPr>
              <a:t>Document</a:t>
            </a:r>
            <a:r>
              <a:rPr lang="en-US" sz="3600" dirty="0">
                <a:solidFill>
                  <a:schemeClr val="bg1"/>
                </a:solidFill>
              </a:rPr>
              <a:t>-level concurrency</a:t>
            </a: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 smtClean="0">
                <a:solidFill>
                  <a:schemeClr val="bg1"/>
                </a:solidFill>
              </a:rPr>
              <a:t>Compression and checksums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Durability </a:t>
            </a:r>
            <a:r>
              <a:rPr lang="en-US" sz="3600" dirty="0" smtClean="0">
                <a:solidFill>
                  <a:schemeClr val="bg1"/>
                </a:solidFill>
              </a:rPr>
              <a:t>and the journal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What’s next</a:t>
            </a:r>
            <a:r>
              <a:rPr lang="en-US" sz="3600" dirty="0" smtClean="0">
                <a:solidFill>
                  <a:schemeClr val="bg1"/>
                </a:solidFill>
              </a:rPr>
              <a:t>?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9087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webinar is not…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How to write </a:t>
            </a:r>
            <a:r>
              <a:rPr lang="en-US" sz="2800" dirty="0"/>
              <a:t>stand-alone WiredTiger </a:t>
            </a:r>
            <a:r>
              <a:rPr lang="en-US" sz="2800" dirty="0" smtClean="0"/>
              <a:t>apps</a:t>
            </a:r>
          </a:p>
          <a:p>
            <a:pPr lvl="1"/>
            <a:r>
              <a:rPr lang="en-US" sz="2800" dirty="0" smtClean="0"/>
              <a:t>contact </a:t>
            </a:r>
            <a:r>
              <a:rPr lang="en-US" sz="2800" dirty="0" smtClean="0">
                <a:hlinkClick r:id="rId2"/>
              </a:rPr>
              <a:t>info@wiredtiger.com</a:t>
            </a:r>
            <a:r>
              <a:rPr lang="en-US" sz="2800" dirty="0" smtClean="0"/>
              <a:t> if you are interested</a:t>
            </a:r>
            <a:endParaRPr lang="en-US" sz="2800" dirty="0"/>
          </a:p>
          <a:p>
            <a:r>
              <a:rPr lang="en-US" sz="2800" dirty="0"/>
              <a:t>H</a:t>
            </a:r>
            <a:r>
              <a:rPr lang="en-US" sz="2800" dirty="0" smtClean="0"/>
              <a:t>ow </a:t>
            </a:r>
            <a:r>
              <a:rPr lang="en-US" sz="2800" dirty="0"/>
              <a:t>to configure </a:t>
            </a:r>
            <a:r>
              <a:rPr lang="en-US" sz="2800" dirty="0" err="1"/>
              <a:t>MongoDB</a:t>
            </a:r>
            <a:r>
              <a:rPr lang="en-US" sz="2800" dirty="0"/>
              <a:t> </a:t>
            </a:r>
            <a:r>
              <a:rPr lang="en-US" sz="2800" dirty="0" smtClean="0"/>
              <a:t>with WiredTiger for your workload</a:t>
            </a:r>
          </a:p>
        </p:txBody>
      </p:sp>
    </p:spTree>
    <p:extLst>
      <p:ext uri="{BB962C8B-B14F-4D97-AF65-F5344CB8AC3E}">
        <p14:creationId xmlns:p14="http://schemas.microsoft.com/office/powerpoint/2010/main" val="33577721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7600"/>
            <a:ext cx="12192000" cy="461704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 may have seen this: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066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r this…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/>
          <a:srcRect l="-26531" r="-26531"/>
          <a:stretch>
            <a:fillRect/>
          </a:stretch>
        </p:blipFill>
        <p:spPr>
          <a:xfrm>
            <a:off x="609600" y="1186435"/>
            <a:ext cx="10972800" cy="4923895"/>
          </a:xfrm>
        </p:spPr>
      </p:pic>
    </p:spTree>
    <p:extLst>
      <p:ext uri="{BB962C8B-B14F-4D97-AF65-F5344CB8AC3E}">
        <p14:creationId xmlns:p14="http://schemas.microsoft.com/office/powerpoint/2010/main" val="11178356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5053" y="334211"/>
            <a:ext cx="10922000" cy="5392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600" b="1" dirty="0" smtClean="0">
                <a:solidFill>
                  <a:schemeClr val="bg1"/>
                </a:solidFill>
              </a:rPr>
              <a:t>What You Will Learn</a:t>
            </a:r>
          </a:p>
          <a:p>
            <a:pPr>
              <a:lnSpc>
                <a:spcPct val="120000"/>
              </a:lnSpc>
            </a:pPr>
            <a:endParaRPr lang="en-US" sz="3600" dirty="0" smtClean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Wingdings" charset="2"/>
              <a:buChar char="Ø"/>
            </a:pPr>
            <a:r>
              <a:rPr lang="en-US" sz="3600" dirty="0" smtClean="0">
                <a:solidFill>
                  <a:schemeClr val="accent1"/>
                </a:solidFill>
              </a:rPr>
              <a:t>WiredTiger Architecture</a:t>
            </a: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In-memory performance</a:t>
            </a: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 smtClean="0">
                <a:solidFill>
                  <a:schemeClr val="bg1"/>
                </a:solidFill>
              </a:rPr>
              <a:t>Document</a:t>
            </a:r>
            <a:r>
              <a:rPr lang="en-US" sz="3600" dirty="0">
                <a:solidFill>
                  <a:schemeClr val="bg1"/>
                </a:solidFill>
              </a:rPr>
              <a:t>-level concurrency</a:t>
            </a: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 smtClean="0">
                <a:solidFill>
                  <a:schemeClr val="bg1"/>
                </a:solidFill>
              </a:rPr>
              <a:t>Compression and checksums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Durability </a:t>
            </a:r>
            <a:r>
              <a:rPr lang="en-US" sz="3600" dirty="0" smtClean="0">
                <a:solidFill>
                  <a:schemeClr val="bg1"/>
                </a:solidFill>
              </a:rPr>
              <a:t>and the journal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What’s next</a:t>
            </a:r>
            <a:r>
              <a:rPr lang="en-US" sz="3600" dirty="0" smtClean="0">
                <a:solidFill>
                  <a:schemeClr val="bg1"/>
                </a:solidFill>
              </a:rPr>
              <a:t>?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7332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MongoDB’s</a:t>
            </a:r>
            <a:r>
              <a:rPr lang="en-US" dirty="0" smtClean="0"/>
              <a:t> Storage </a:t>
            </a:r>
            <a:r>
              <a:rPr lang="en-US" dirty="0"/>
              <a:t>Engine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Allows different storage engines to "plug-in"</a:t>
            </a:r>
          </a:p>
          <a:p>
            <a:pPr lvl="1"/>
            <a:r>
              <a:rPr lang="en-US" sz="2800" dirty="0" smtClean="0"/>
              <a:t>different </a:t>
            </a:r>
            <a:r>
              <a:rPr lang="en-US" sz="2800" dirty="0"/>
              <a:t>workloads have different performance characteristics </a:t>
            </a:r>
          </a:p>
          <a:p>
            <a:pPr lvl="1"/>
            <a:r>
              <a:rPr lang="en-US" sz="2800" dirty="0" err="1"/>
              <a:t>mmap</a:t>
            </a:r>
            <a:r>
              <a:rPr lang="en-US" sz="2800" dirty="0"/>
              <a:t> is not ideal for all workloads</a:t>
            </a:r>
          </a:p>
          <a:p>
            <a:pPr lvl="1"/>
            <a:r>
              <a:rPr lang="en-US" sz="2800" dirty="0" smtClean="0"/>
              <a:t>more </a:t>
            </a:r>
            <a:r>
              <a:rPr lang="en-US" sz="2800" dirty="0"/>
              <a:t>flexibility </a:t>
            </a:r>
          </a:p>
          <a:p>
            <a:pPr lvl="2"/>
            <a:r>
              <a:rPr lang="en-US" sz="2800" dirty="0" smtClean="0"/>
              <a:t>mix </a:t>
            </a:r>
            <a:r>
              <a:rPr lang="en-US" sz="2800" dirty="0"/>
              <a:t>storage engines on same replica set/</a:t>
            </a:r>
            <a:r>
              <a:rPr lang="en-US" sz="2800" dirty="0" err="1"/>
              <a:t>sharded</a:t>
            </a:r>
            <a:r>
              <a:rPr lang="en-US" sz="2800" dirty="0"/>
              <a:t> </a:t>
            </a:r>
            <a:r>
              <a:rPr lang="en-US" sz="2800" dirty="0" smtClean="0"/>
              <a:t>cluster</a:t>
            </a:r>
          </a:p>
          <a:p>
            <a:pPr lvl="2"/>
            <a:r>
              <a:rPr lang="en-US" sz="2800" dirty="0" err="1" smtClean="0"/>
              <a:t>MongoDB</a:t>
            </a:r>
            <a:r>
              <a:rPr lang="en-US" sz="2800" dirty="0" smtClean="0"/>
              <a:t> can innovate faster</a:t>
            </a:r>
            <a:endParaRPr lang="en-US" sz="2800" dirty="0"/>
          </a:p>
          <a:p>
            <a:r>
              <a:rPr lang="en-US" sz="2800" dirty="0"/>
              <a:t>Opportunity to integrate further (HDFS, native encrypted, hardware optimized …) </a:t>
            </a:r>
            <a:endParaRPr lang="en-US" sz="2800" dirty="0" smtClean="0"/>
          </a:p>
          <a:p>
            <a:r>
              <a:rPr lang="en-US" sz="2800" dirty="0" smtClean="0"/>
              <a:t>Great way for us to demonstrate WiredTiger’s performance</a:t>
            </a:r>
          </a:p>
        </p:txBody>
      </p:sp>
      <p:pic>
        <p:nvPicPr>
          <p:cNvPr id="4" name="Picture 3" descr="plug_ic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15" y="136315"/>
            <a:ext cx="1017767" cy="101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681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Engine Layer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1267903" y="1092654"/>
            <a:ext cx="9138486" cy="5051898"/>
            <a:chOff x="2504346" y="1648347"/>
            <a:chExt cx="6969099" cy="3875459"/>
          </a:xfrm>
        </p:grpSpPr>
        <p:sp>
          <p:nvSpPr>
            <p:cNvPr id="4" name="Shape 46"/>
            <p:cNvSpPr/>
            <p:nvPr/>
          </p:nvSpPr>
          <p:spPr>
            <a:xfrm>
              <a:off x="3061872" y="2023173"/>
              <a:ext cx="1029900" cy="846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>
              <a:solidFill>
                <a:srgbClr val="24242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Content Repo</a:t>
              </a:r>
            </a:p>
          </p:txBody>
        </p:sp>
        <p:sp>
          <p:nvSpPr>
            <p:cNvPr id="5" name="Shape 47"/>
            <p:cNvSpPr/>
            <p:nvPr/>
          </p:nvSpPr>
          <p:spPr>
            <a:xfrm>
              <a:off x="4255133" y="2023173"/>
              <a:ext cx="1029900" cy="846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>
              <a:solidFill>
                <a:srgbClr val="24242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IoT Sensor Backend</a:t>
              </a:r>
            </a:p>
          </p:txBody>
        </p:sp>
        <p:sp>
          <p:nvSpPr>
            <p:cNvPr id="6" name="Shape 48"/>
            <p:cNvSpPr/>
            <p:nvPr/>
          </p:nvSpPr>
          <p:spPr>
            <a:xfrm>
              <a:off x="5448397" y="2023173"/>
              <a:ext cx="1029900" cy="846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>
              <a:solidFill>
                <a:srgbClr val="24242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 Service</a:t>
              </a:r>
            </a:p>
          </p:txBody>
        </p:sp>
        <p:sp>
          <p:nvSpPr>
            <p:cNvPr id="7" name="Shape 49"/>
            <p:cNvSpPr/>
            <p:nvPr/>
          </p:nvSpPr>
          <p:spPr>
            <a:xfrm>
              <a:off x="6641659" y="2023173"/>
              <a:ext cx="1029900" cy="846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>
              <a:solidFill>
                <a:srgbClr val="24242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Customer Analytics</a:t>
              </a:r>
            </a:p>
          </p:txBody>
        </p:sp>
        <p:sp>
          <p:nvSpPr>
            <p:cNvPr id="8" name="Shape 50"/>
            <p:cNvSpPr/>
            <p:nvPr/>
          </p:nvSpPr>
          <p:spPr>
            <a:xfrm>
              <a:off x="7834920" y="2023173"/>
              <a:ext cx="1029900" cy="846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>
              <a:solidFill>
                <a:srgbClr val="24242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 b="0" i="0" u="none" strike="noStrike" cap="none" baseline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Archive</a:t>
              </a:r>
            </a:p>
          </p:txBody>
        </p:sp>
        <p:sp>
          <p:nvSpPr>
            <p:cNvPr id="9" name="Shape 51"/>
            <p:cNvSpPr/>
            <p:nvPr/>
          </p:nvSpPr>
          <p:spPr>
            <a:xfrm>
              <a:off x="3061903" y="3021139"/>
              <a:ext cx="5802899" cy="412400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n" sz="1600" b="0" i="0" u="none" strike="noStrike" cap="none" baseline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MongoDB Query Language (MQL) + Native Drivers</a:t>
              </a:r>
            </a:p>
          </p:txBody>
        </p:sp>
        <p:sp>
          <p:nvSpPr>
            <p:cNvPr id="10" name="Shape 52"/>
            <p:cNvSpPr/>
            <p:nvPr/>
          </p:nvSpPr>
          <p:spPr>
            <a:xfrm>
              <a:off x="3061903" y="3575799"/>
              <a:ext cx="5802899" cy="412400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 b="0" i="0" u="none" strike="noStrike" cap="none" baseline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MongoDB Document Data Model</a:t>
              </a:r>
            </a:p>
          </p:txBody>
        </p:sp>
        <p:sp>
          <p:nvSpPr>
            <p:cNvPr id="11" name="Shape 53"/>
            <p:cNvSpPr/>
            <p:nvPr/>
          </p:nvSpPr>
          <p:spPr>
            <a:xfrm>
              <a:off x="3061897" y="4130478"/>
              <a:ext cx="1029900" cy="591199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MMAP V1</a:t>
              </a:r>
            </a:p>
          </p:txBody>
        </p:sp>
        <p:sp>
          <p:nvSpPr>
            <p:cNvPr id="12" name="Shape 54"/>
            <p:cNvSpPr/>
            <p:nvPr/>
          </p:nvSpPr>
          <p:spPr>
            <a:xfrm>
              <a:off x="4255147" y="4130478"/>
              <a:ext cx="1029900" cy="591199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WT</a:t>
              </a:r>
            </a:p>
          </p:txBody>
        </p:sp>
        <p:sp>
          <p:nvSpPr>
            <p:cNvPr id="13" name="Shape 55"/>
            <p:cNvSpPr/>
            <p:nvPr/>
          </p:nvSpPr>
          <p:spPr>
            <a:xfrm>
              <a:off x="5448397" y="4156178"/>
              <a:ext cx="1029900" cy="591199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38761D"/>
              </a:solidFill>
              <a:prstDash val="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In-Memory</a:t>
              </a:r>
            </a:p>
          </p:txBody>
        </p:sp>
        <p:sp>
          <p:nvSpPr>
            <p:cNvPr id="14" name="Shape 56"/>
            <p:cNvSpPr/>
            <p:nvPr/>
          </p:nvSpPr>
          <p:spPr>
            <a:xfrm>
              <a:off x="6641647" y="4130478"/>
              <a:ext cx="1029900" cy="591199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38761D"/>
              </a:solidFill>
              <a:prstDash val="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>
                  <a:solidFill>
                    <a:srgbClr val="000000"/>
                  </a:solidFill>
                </a:rPr>
                <a:t>?</a:t>
              </a:r>
            </a:p>
          </p:txBody>
        </p:sp>
        <p:sp>
          <p:nvSpPr>
            <p:cNvPr id="15" name="Shape 57"/>
            <p:cNvSpPr/>
            <p:nvPr/>
          </p:nvSpPr>
          <p:spPr>
            <a:xfrm>
              <a:off x="7834897" y="4130478"/>
              <a:ext cx="1029900" cy="591199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38761D"/>
              </a:solidFill>
              <a:prstDash val="dot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>
                  <a:solidFill>
                    <a:srgbClr val="000000"/>
                  </a:solidFill>
                </a:rPr>
                <a:t>?</a:t>
              </a:r>
            </a:p>
          </p:txBody>
        </p:sp>
        <p:sp>
          <p:nvSpPr>
            <p:cNvPr id="16" name="Shape 58"/>
            <p:cNvSpPr/>
            <p:nvPr/>
          </p:nvSpPr>
          <p:spPr>
            <a:xfrm rot="5400000">
              <a:off x="4127746" y="3849445"/>
              <a:ext cx="90000" cy="2221799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9050" cap="flat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Clr>
                  <a:srgbClr val="000000"/>
                </a:buClr>
                <a:buFont typeface="Calibri"/>
                <a:buNone/>
              </a:pPr>
              <a:endParaRPr sz="2800" b="0" i="0" u="none" strike="noStrike" cap="none" baseline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Shape 59"/>
            <p:cNvSpPr txBox="1"/>
            <p:nvPr/>
          </p:nvSpPr>
          <p:spPr>
            <a:xfrm>
              <a:off x="3061853" y="5199006"/>
              <a:ext cx="2221799" cy="324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200" b="0" i="0" u="none" strike="noStrike" cap="none" baseline="0" dirty="0">
                  <a:latin typeface="Arial"/>
                  <a:ea typeface="Arial"/>
                  <a:cs typeface="Arial"/>
                  <a:sym typeface="Arial"/>
                </a:rPr>
                <a:t>Supported in MongoDB 3.0</a:t>
              </a:r>
            </a:p>
          </p:txBody>
        </p:sp>
        <p:sp>
          <p:nvSpPr>
            <p:cNvPr id="18" name="Shape 60"/>
            <p:cNvSpPr txBox="1"/>
            <p:nvPr/>
          </p:nvSpPr>
          <p:spPr>
            <a:xfrm>
              <a:off x="6641647" y="5199006"/>
              <a:ext cx="2223300" cy="324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200" b="0" i="0" u="none" strike="noStrike" cap="none" baseline="0" dirty="0">
                  <a:latin typeface="Arial"/>
                  <a:ea typeface="Arial"/>
                  <a:cs typeface="Arial"/>
                  <a:sym typeface="Arial"/>
                </a:rPr>
                <a:t>Future Possible Storage Engines</a:t>
              </a:r>
            </a:p>
          </p:txBody>
        </p:sp>
        <p:sp>
          <p:nvSpPr>
            <p:cNvPr id="19" name="Shape 61"/>
            <p:cNvSpPr/>
            <p:nvPr/>
          </p:nvSpPr>
          <p:spPr>
            <a:xfrm rot="5400000">
              <a:off x="7708171" y="3848689"/>
              <a:ext cx="90000" cy="22233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9050" cap="flat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Clr>
                  <a:srgbClr val="000000"/>
                </a:buClr>
                <a:buFont typeface="Calibri"/>
                <a:buNone/>
              </a:pPr>
              <a:endParaRPr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Shape 62"/>
            <p:cNvSpPr/>
            <p:nvPr/>
          </p:nvSpPr>
          <p:spPr>
            <a:xfrm rot="16200000" flipH="1">
              <a:off x="8388646" y="3649945"/>
              <a:ext cx="1713600" cy="455999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Management</a:t>
              </a:r>
            </a:p>
          </p:txBody>
        </p:sp>
        <p:sp>
          <p:nvSpPr>
            <p:cNvPr id="21" name="Shape 63"/>
            <p:cNvSpPr/>
            <p:nvPr/>
          </p:nvSpPr>
          <p:spPr>
            <a:xfrm rot="16200000" flipH="1">
              <a:off x="1875546" y="3649945"/>
              <a:ext cx="1713600" cy="455999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16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Security</a:t>
              </a:r>
            </a:p>
          </p:txBody>
        </p:sp>
        <p:sp>
          <p:nvSpPr>
            <p:cNvPr id="22" name="Shape 64"/>
            <p:cNvSpPr txBox="1"/>
            <p:nvPr/>
          </p:nvSpPr>
          <p:spPr>
            <a:xfrm>
              <a:off x="3006163" y="1648347"/>
              <a:ext cx="5802899" cy="324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" sz="2800" b="1" i="0" u="none" strike="noStrike" cap="none" baseline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Example Future State</a:t>
              </a:r>
            </a:p>
          </p:txBody>
        </p:sp>
        <p:sp>
          <p:nvSpPr>
            <p:cNvPr id="23" name="Shape 65"/>
            <p:cNvSpPr txBox="1"/>
            <p:nvPr/>
          </p:nvSpPr>
          <p:spPr>
            <a:xfrm>
              <a:off x="5361247" y="5199006"/>
              <a:ext cx="1193100" cy="3248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en-US" sz="1200" b="0" i="0" u="none" strike="noStrike" cap="none" baseline="0" dirty="0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Experimental</a:t>
              </a:r>
              <a:endParaRPr lang="en" sz="1200" b="0" i="0" u="none" strike="noStrike" cap="none" baseline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Shape 66"/>
            <p:cNvSpPr/>
            <p:nvPr/>
          </p:nvSpPr>
          <p:spPr>
            <a:xfrm rot="5400000">
              <a:off x="5918370" y="4445389"/>
              <a:ext cx="90000" cy="10299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9050" cap="flat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Clr>
                  <a:srgbClr val="000000"/>
                </a:buClr>
                <a:buFont typeface="Calibri"/>
                <a:buNone/>
              </a:pPr>
              <a:endParaRPr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58276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 for WiredTiger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12"/>
            <a:ext cx="10972800" cy="4974166"/>
          </a:xfrm>
        </p:spPr>
        <p:txBody>
          <a:bodyPr>
            <a:noAutofit/>
          </a:bodyPr>
          <a:lstStyle/>
          <a:p>
            <a:r>
              <a:rPr lang="en-US" sz="2800" dirty="0" smtClean="0"/>
              <a:t>Take advantage of modern hardware:</a:t>
            </a:r>
          </a:p>
          <a:p>
            <a:pPr lvl="1"/>
            <a:r>
              <a:rPr lang="en-US" sz="2800" dirty="0" smtClean="0"/>
              <a:t>many CPU cores</a:t>
            </a:r>
          </a:p>
          <a:p>
            <a:pPr lvl="1"/>
            <a:r>
              <a:rPr lang="en-US" sz="2800" dirty="0" smtClean="0"/>
              <a:t>lots of RAM</a:t>
            </a:r>
          </a:p>
          <a:p>
            <a:endParaRPr lang="en-US" sz="1200" dirty="0"/>
          </a:p>
          <a:p>
            <a:r>
              <a:rPr lang="en-US" sz="2800" dirty="0" smtClean="0"/>
              <a:t>Minimize </a:t>
            </a:r>
            <a:r>
              <a:rPr lang="en-US" sz="2800" dirty="0"/>
              <a:t>contention between threads</a:t>
            </a:r>
          </a:p>
          <a:p>
            <a:pPr lvl="1"/>
            <a:r>
              <a:rPr lang="en-US" sz="2800" dirty="0"/>
              <a:t>lock-free algorithms, </a:t>
            </a:r>
            <a:r>
              <a:rPr lang="en-US" sz="2800" dirty="0" smtClean="0"/>
              <a:t>e.g., hazard </a:t>
            </a:r>
            <a:r>
              <a:rPr lang="en-US" sz="2800" dirty="0"/>
              <a:t>pointers</a:t>
            </a:r>
          </a:p>
          <a:p>
            <a:pPr lvl="1"/>
            <a:r>
              <a:rPr lang="en-US" sz="2800" dirty="0" smtClean="0"/>
              <a:t>eliminate blocking </a:t>
            </a:r>
            <a:r>
              <a:rPr lang="en-US" sz="2800" dirty="0"/>
              <a:t>due to concurrency control</a:t>
            </a:r>
          </a:p>
          <a:p>
            <a:pPr marL="457200" lvl="1" indent="0">
              <a:buNone/>
            </a:pPr>
            <a:endParaRPr lang="en-US" sz="1200" dirty="0"/>
          </a:p>
          <a:p>
            <a:r>
              <a:rPr lang="en-US" sz="2800" dirty="0"/>
              <a:t>Hotter cache and more work per I/O</a:t>
            </a:r>
          </a:p>
          <a:p>
            <a:pPr lvl="1"/>
            <a:r>
              <a:rPr lang="en-US" sz="2800" dirty="0"/>
              <a:t>compact file formats</a:t>
            </a:r>
          </a:p>
          <a:p>
            <a:pPr lvl="1"/>
            <a:r>
              <a:rPr lang="en-US" sz="2800" dirty="0" smtClean="0"/>
              <a:t>compression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929569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WiredTiger Architecture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702" y="968262"/>
            <a:ext cx="4699000" cy="588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866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5053" y="334211"/>
            <a:ext cx="10922000" cy="5392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600" b="1" dirty="0" smtClean="0">
                <a:solidFill>
                  <a:schemeClr val="bg1"/>
                </a:solidFill>
              </a:rPr>
              <a:t>What You Will Learn</a:t>
            </a:r>
          </a:p>
          <a:p>
            <a:pPr>
              <a:lnSpc>
                <a:spcPct val="120000"/>
              </a:lnSpc>
            </a:pPr>
            <a:endParaRPr lang="en-US" sz="3600" dirty="0" smtClean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 smtClean="0">
                <a:solidFill>
                  <a:srgbClr val="FFFFFF"/>
                </a:solidFill>
              </a:rPr>
              <a:t>WiredTiger Architecture</a:t>
            </a:r>
          </a:p>
          <a:p>
            <a:pPr marL="571500" indent="-571500">
              <a:lnSpc>
                <a:spcPct val="120000"/>
              </a:lnSpc>
              <a:buFont typeface="Wingdings" charset="2"/>
              <a:buChar char="Ø"/>
            </a:pPr>
            <a:r>
              <a:rPr lang="en-US" sz="3600" dirty="0">
                <a:solidFill>
                  <a:schemeClr val="accent1"/>
                </a:solidFill>
              </a:rPr>
              <a:t>In-memory performance</a:t>
            </a: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 smtClean="0">
                <a:solidFill>
                  <a:schemeClr val="bg1"/>
                </a:solidFill>
              </a:rPr>
              <a:t>Document</a:t>
            </a:r>
            <a:r>
              <a:rPr lang="en-US" sz="3600" dirty="0">
                <a:solidFill>
                  <a:schemeClr val="bg1"/>
                </a:solidFill>
              </a:rPr>
              <a:t>-level concurrency</a:t>
            </a: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 smtClean="0">
                <a:solidFill>
                  <a:schemeClr val="bg1"/>
                </a:solidFill>
              </a:rPr>
              <a:t>Compression and checksums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Durability </a:t>
            </a:r>
            <a:r>
              <a:rPr lang="en-US" sz="3600" dirty="0" smtClean="0">
                <a:solidFill>
                  <a:schemeClr val="bg1"/>
                </a:solidFill>
              </a:rPr>
              <a:t>and the journal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What’s next</a:t>
            </a:r>
            <a:r>
              <a:rPr lang="en-US" sz="3600" dirty="0" smtClean="0">
                <a:solidFill>
                  <a:schemeClr val="bg1"/>
                </a:solidFill>
              </a:rPr>
              <a:t>?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1875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</a:t>
            </a:r>
            <a:r>
              <a:rPr lang="en-US" dirty="0" err="1" smtClean="0"/>
              <a:t>B+tree</a:t>
            </a:r>
            <a:r>
              <a:rPr lang="en-US" dirty="0" smtClean="0"/>
              <a:t> (</a:t>
            </a:r>
            <a:r>
              <a:rPr lang="en-US" dirty="0" err="1" smtClean="0"/>
              <a:t>ht</a:t>
            </a:r>
            <a:r>
              <a:rPr lang="en-US" dirty="0" smtClean="0"/>
              <a:t> </a:t>
            </a:r>
            <a:r>
              <a:rPr lang="en-US" dirty="0" err="1" smtClean="0"/>
              <a:t>wikipedia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7" y="1235955"/>
            <a:ext cx="10106526" cy="465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554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Trees in cache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312" y="1150938"/>
            <a:ext cx="9217024" cy="587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522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Hazard Pointers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312" y="1150938"/>
            <a:ext cx="9217024" cy="5879528"/>
          </a:xfrm>
          <a:prstGeom prst="rect">
            <a:avLst/>
          </a:prstGeom>
        </p:spPr>
      </p:pic>
      <p:sp>
        <p:nvSpPr>
          <p:cNvPr id="5" name="Oval Callout 4"/>
          <p:cNvSpPr/>
          <p:nvPr/>
        </p:nvSpPr>
        <p:spPr>
          <a:xfrm>
            <a:off x="4816368" y="2573602"/>
            <a:ext cx="2448272" cy="1008112"/>
          </a:xfrm>
          <a:prstGeom prst="wedgeEllipseCallou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memory flush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5917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Pages in cache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967" y="1179600"/>
            <a:ext cx="6769100" cy="554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054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In-memory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Trees in cache are optimized for in-memory access</a:t>
            </a:r>
          </a:p>
          <a:p>
            <a:r>
              <a:rPr lang="en-US" sz="2800" dirty="0" smtClean="0"/>
              <a:t>Follow pointers to traverse a tree</a:t>
            </a:r>
          </a:p>
          <a:p>
            <a:pPr lvl="1"/>
            <a:r>
              <a:rPr lang="en-US" sz="2800" dirty="0" smtClean="0"/>
              <a:t>no locking to access pages in cache</a:t>
            </a:r>
          </a:p>
          <a:p>
            <a:r>
              <a:rPr lang="en-US" sz="2800" dirty="0" smtClean="0"/>
              <a:t>Keep updates separate from clean data</a:t>
            </a:r>
          </a:p>
          <a:p>
            <a:r>
              <a:rPr lang="en-US" sz="2800" dirty="0" smtClean="0"/>
              <a:t>Do structural changes (eviction, splits) in background threads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817348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5053" y="334211"/>
            <a:ext cx="10922000" cy="5392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600" b="1" dirty="0" smtClean="0">
                <a:solidFill>
                  <a:schemeClr val="bg1"/>
                </a:solidFill>
              </a:rPr>
              <a:t>What You Will Learn</a:t>
            </a:r>
          </a:p>
          <a:p>
            <a:pPr>
              <a:lnSpc>
                <a:spcPct val="120000"/>
              </a:lnSpc>
            </a:pPr>
            <a:endParaRPr lang="en-US" sz="3600" dirty="0" smtClean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 smtClean="0">
                <a:solidFill>
                  <a:schemeClr val="bg1"/>
                </a:solidFill>
              </a:rPr>
              <a:t>WiredTiger Architecture</a:t>
            </a: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In-memory performance</a:t>
            </a:r>
          </a:p>
          <a:p>
            <a:pPr marL="571500" indent="-571500">
              <a:lnSpc>
                <a:spcPct val="120000"/>
              </a:lnSpc>
              <a:buFont typeface="Wingdings" charset="2"/>
              <a:buChar char="Ø"/>
            </a:pPr>
            <a:r>
              <a:rPr lang="en-US" sz="3600" dirty="0" smtClean="0">
                <a:solidFill>
                  <a:srgbClr val="BBD49E"/>
                </a:solidFill>
              </a:rPr>
              <a:t>Document</a:t>
            </a:r>
            <a:r>
              <a:rPr lang="en-US" sz="3600" dirty="0">
                <a:solidFill>
                  <a:srgbClr val="BBD49E"/>
                </a:solidFill>
              </a:rPr>
              <a:t>-level concurrency</a:t>
            </a: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 smtClean="0">
                <a:solidFill>
                  <a:schemeClr val="bg1"/>
                </a:solidFill>
              </a:rPr>
              <a:t>Compression and checksums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Durability </a:t>
            </a:r>
            <a:r>
              <a:rPr lang="en-US" sz="3600" dirty="0" smtClean="0">
                <a:solidFill>
                  <a:schemeClr val="bg1"/>
                </a:solidFill>
              </a:rPr>
              <a:t>and the journal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What’s next</a:t>
            </a:r>
            <a:r>
              <a:rPr lang="en-US" sz="3600" dirty="0" smtClean="0">
                <a:solidFill>
                  <a:schemeClr val="bg1"/>
                </a:solidFill>
              </a:rPr>
              <a:t>?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6582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Concurrency Control?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Computers have</a:t>
            </a:r>
          </a:p>
          <a:p>
            <a:pPr lvl="1"/>
            <a:r>
              <a:rPr lang="en-US" sz="2800" dirty="0" smtClean="0"/>
              <a:t>multiple CPU cores</a:t>
            </a:r>
          </a:p>
          <a:p>
            <a:pPr lvl="1"/>
            <a:r>
              <a:rPr lang="en-US" sz="2800" dirty="0" smtClean="0"/>
              <a:t>multiple I/O paths</a:t>
            </a:r>
          </a:p>
          <a:p>
            <a:r>
              <a:rPr lang="en-US" sz="2800" dirty="0" smtClean="0"/>
              <a:t>To make the most of the hardware, software has to execute multiple operations in parallel</a:t>
            </a:r>
          </a:p>
          <a:p>
            <a:r>
              <a:rPr lang="en-US" sz="2800" dirty="0" smtClean="0"/>
              <a:t>Concurrency control has to keep data consistent</a:t>
            </a:r>
          </a:p>
          <a:p>
            <a:r>
              <a:rPr lang="en-US" sz="2800" dirty="0" smtClean="0"/>
              <a:t>Common approaches:</a:t>
            </a:r>
          </a:p>
          <a:p>
            <a:pPr lvl="1"/>
            <a:r>
              <a:rPr lang="en-US" sz="2800" dirty="0" smtClean="0"/>
              <a:t>locking</a:t>
            </a:r>
          </a:p>
          <a:p>
            <a:pPr lvl="1"/>
            <a:r>
              <a:rPr lang="en-US" sz="2800" dirty="0" smtClean="0"/>
              <a:t>keeping multiple versions of data (MVCC)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96202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WiredTiger Concurrency Control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702" y="968262"/>
            <a:ext cx="4699000" cy="588973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378332" y="2199771"/>
            <a:ext cx="1963561" cy="194444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8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8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291264" y="3836736"/>
            <a:ext cx="1469446" cy="1296737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8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8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442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Pages in cache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967" y="1179600"/>
            <a:ext cx="6769100" cy="5545312"/>
          </a:xfrm>
          <a:prstGeom prst="rect">
            <a:avLst/>
          </a:prstGeom>
        </p:spPr>
      </p:pic>
      <p:sp>
        <p:nvSpPr>
          <p:cNvPr id="6" name="Oval Callout 5"/>
          <p:cNvSpPr/>
          <p:nvPr/>
        </p:nvSpPr>
        <p:spPr>
          <a:xfrm>
            <a:off x="8118508" y="966475"/>
            <a:ext cx="2448272" cy="825855"/>
          </a:xfrm>
          <a:prstGeom prst="wedgeEllipseCallou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</a:t>
            </a:r>
            <a:r>
              <a:rPr lang="en-US" dirty="0" err="1" smtClean="0"/>
              <a:t>kiplist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0807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Multiversion</a:t>
            </a:r>
            <a:r>
              <a:rPr lang="en-US" dirty="0" smtClean="0"/>
              <a:t> Concurrency Control (MVCC)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Multiple versions of records kept in cache</a:t>
            </a:r>
          </a:p>
          <a:p>
            <a:r>
              <a:rPr lang="en-US" sz="2800" dirty="0" smtClean="0"/>
              <a:t>Readers see the committed version before the transaction started</a:t>
            </a:r>
          </a:p>
          <a:p>
            <a:pPr lvl="1"/>
            <a:r>
              <a:rPr lang="en-US" sz="2800" dirty="0" err="1" smtClean="0"/>
              <a:t>MongoDB</a:t>
            </a:r>
            <a:r>
              <a:rPr lang="en-US" sz="2800" dirty="0" smtClean="0"/>
              <a:t> “yields” turn large operations into small transactions</a:t>
            </a:r>
          </a:p>
          <a:p>
            <a:r>
              <a:rPr lang="en-US" sz="2800" dirty="0" smtClean="0"/>
              <a:t>Writers can create new versions concurrent with readers</a:t>
            </a:r>
          </a:p>
          <a:p>
            <a:r>
              <a:rPr lang="en-US" sz="2800" dirty="0" smtClean="0"/>
              <a:t>Concurrent updates to a single record cause write conflicts</a:t>
            </a:r>
          </a:p>
          <a:p>
            <a:pPr lvl="1"/>
            <a:r>
              <a:rPr lang="en-US" sz="2800" dirty="0" err="1" smtClean="0"/>
              <a:t>MongoDB</a:t>
            </a:r>
            <a:r>
              <a:rPr lang="en-US" sz="2800" dirty="0" smtClean="0"/>
              <a:t> retries with back-off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768678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MVCC In Action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568" y="2776650"/>
            <a:ext cx="1879600" cy="3073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800" y="1620950"/>
            <a:ext cx="1879600" cy="4229100"/>
          </a:xfrm>
          <a:prstGeom prst="rect">
            <a:avLst/>
          </a:prstGeo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257325633"/>
              </p:ext>
            </p:extLst>
          </p:nvPr>
        </p:nvGraphicFramePr>
        <p:xfrm>
          <a:off x="7615990" y="3350245"/>
          <a:ext cx="1634958" cy="1225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856150"/>
            <a:ext cx="1879600" cy="1993900"/>
          </a:xfrm>
          <a:prstGeom prst="rect">
            <a:avLst/>
          </a:prstGeom>
        </p:spPr>
      </p:pic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129124838"/>
              </p:ext>
            </p:extLst>
          </p:nvPr>
        </p:nvGraphicFramePr>
        <p:xfrm>
          <a:off x="3017253" y="3350245"/>
          <a:ext cx="1634958" cy="1225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557766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5053" y="334211"/>
            <a:ext cx="10922000" cy="5392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600" b="1" dirty="0" smtClean="0">
                <a:solidFill>
                  <a:schemeClr val="bg1"/>
                </a:solidFill>
              </a:rPr>
              <a:t>What You Will Learn</a:t>
            </a:r>
          </a:p>
          <a:p>
            <a:pPr>
              <a:lnSpc>
                <a:spcPct val="120000"/>
              </a:lnSpc>
            </a:pPr>
            <a:endParaRPr lang="en-US" sz="3600" dirty="0" smtClean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 smtClean="0">
                <a:solidFill>
                  <a:schemeClr val="bg1"/>
                </a:solidFill>
              </a:rPr>
              <a:t>WiredTiger Architecture</a:t>
            </a: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In-memory performance</a:t>
            </a: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 smtClean="0">
                <a:solidFill>
                  <a:schemeClr val="bg1"/>
                </a:solidFill>
              </a:rPr>
              <a:t>Document</a:t>
            </a:r>
            <a:r>
              <a:rPr lang="en-US" sz="3600" dirty="0">
                <a:solidFill>
                  <a:schemeClr val="bg1"/>
                </a:solidFill>
              </a:rPr>
              <a:t>-level concurrency</a:t>
            </a:r>
          </a:p>
          <a:p>
            <a:pPr marL="571500" indent="-571500">
              <a:lnSpc>
                <a:spcPct val="120000"/>
              </a:lnSpc>
              <a:buFont typeface="Wingdings" charset="2"/>
              <a:buChar char="Ø"/>
            </a:pPr>
            <a:r>
              <a:rPr lang="en-US" sz="3600" dirty="0" smtClean="0">
                <a:solidFill>
                  <a:schemeClr val="accent1"/>
                </a:solidFill>
              </a:rPr>
              <a:t>Compression and checksums</a:t>
            </a:r>
            <a:endParaRPr lang="en-US" sz="3600" dirty="0">
              <a:solidFill>
                <a:schemeClr val="accent1"/>
              </a:solidFill>
            </a:endParaRP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Durability </a:t>
            </a:r>
            <a:r>
              <a:rPr lang="en-US" sz="3600" dirty="0" smtClean="0">
                <a:solidFill>
                  <a:schemeClr val="bg1"/>
                </a:solidFill>
              </a:rPr>
              <a:t>and the journal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What’s next</a:t>
            </a:r>
            <a:r>
              <a:rPr lang="en-US" sz="3600" dirty="0" smtClean="0">
                <a:solidFill>
                  <a:schemeClr val="bg1"/>
                </a:solidFill>
              </a:rPr>
              <a:t>?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5849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WiredTiger Page I/O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702" y="968262"/>
            <a:ext cx="4699000" cy="588973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004016" y="3114844"/>
            <a:ext cx="1963561" cy="194444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8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8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57579" y="4087064"/>
            <a:ext cx="2150696" cy="2085472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8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8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109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Trees in cache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312" y="1150938"/>
            <a:ext cx="9217024" cy="5879528"/>
          </a:xfrm>
          <a:prstGeom prst="rect">
            <a:avLst/>
          </a:prstGeom>
        </p:spPr>
      </p:pic>
      <p:sp>
        <p:nvSpPr>
          <p:cNvPr id="6" name="Oval Callout 5"/>
          <p:cNvSpPr/>
          <p:nvPr/>
        </p:nvSpPr>
        <p:spPr>
          <a:xfrm>
            <a:off x="8558064" y="2591098"/>
            <a:ext cx="2448272" cy="1008112"/>
          </a:xfrm>
          <a:prstGeom prst="wedgeEllipseCallou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read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6199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Pages in cache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967" y="1179600"/>
            <a:ext cx="6769100" cy="5545312"/>
          </a:xfrm>
          <a:prstGeom prst="rect">
            <a:avLst/>
          </a:prstGeom>
        </p:spPr>
      </p:pic>
      <p:sp>
        <p:nvSpPr>
          <p:cNvPr id="7" name="Oval Callout 6"/>
          <p:cNvSpPr/>
          <p:nvPr/>
        </p:nvSpPr>
        <p:spPr>
          <a:xfrm>
            <a:off x="6981733" y="3327907"/>
            <a:ext cx="2448272" cy="825855"/>
          </a:xfrm>
          <a:prstGeom prst="wedgeEllipseCallou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reconciled during write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9697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Checksums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 checksum is stored with every page</a:t>
            </a:r>
          </a:p>
          <a:p>
            <a:r>
              <a:rPr lang="en-US" sz="2800" dirty="0"/>
              <a:t>Checksums are validated during page read</a:t>
            </a:r>
          </a:p>
          <a:p>
            <a:pPr lvl="1"/>
            <a:r>
              <a:rPr lang="en-US" sz="2800" dirty="0" smtClean="0"/>
              <a:t>detects </a:t>
            </a:r>
            <a:r>
              <a:rPr lang="en-US" sz="2800" dirty="0" err="1"/>
              <a:t>filesystem</a:t>
            </a:r>
            <a:r>
              <a:rPr lang="en-US" sz="2800" dirty="0"/>
              <a:t> corruption, random </a:t>
            </a:r>
            <a:r>
              <a:rPr lang="en-US" sz="2800" dirty="0" err="1" smtClean="0"/>
              <a:t>bitflips</a:t>
            </a:r>
            <a:endParaRPr lang="en-US" sz="2800" dirty="0" smtClean="0"/>
          </a:p>
          <a:p>
            <a:r>
              <a:rPr lang="en-US" sz="2800" dirty="0" smtClean="0"/>
              <a:t>WiredTiger stores the checksum with the page address (typically in a parent page)</a:t>
            </a:r>
          </a:p>
          <a:p>
            <a:pPr lvl="1"/>
            <a:r>
              <a:rPr lang="en-US" sz="2800" dirty="0" smtClean="0"/>
              <a:t>extra safety against reading a stale page image</a:t>
            </a:r>
          </a:p>
        </p:txBody>
      </p:sp>
    </p:spTree>
    <p:extLst>
      <p:ext uri="{BB962C8B-B14F-4D97-AF65-F5344CB8AC3E}">
        <p14:creationId xmlns:p14="http://schemas.microsoft.com/office/powerpoint/2010/main" val="3660375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WiredTiger uses snappy compression by default in </a:t>
            </a:r>
            <a:r>
              <a:rPr lang="en-US" sz="2800" dirty="0" err="1"/>
              <a:t>MongoDB</a:t>
            </a:r>
            <a:endParaRPr lang="en-US" sz="2800" dirty="0"/>
          </a:p>
          <a:p>
            <a:r>
              <a:rPr lang="en-US" sz="2800" dirty="0" smtClean="0"/>
              <a:t>Supported </a:t>
            </a:r>
            <a:r>
              <a:rPr lang="en-US" sz="2800" dirty="0"/>
              <a:t>compression </a:t>
            </a:r>
            <a:r>
              <a:rPr lang="en-US" sz="2800" dirty="0" smtClean="0"/>
              <a:t>algorithms: </a:t>
            </a:r>
            <a:endParaRPr lang="en-US" sz="2800" dirty="0"/>
          </a:p>
          <a:p>
            <a:pPr lvl="1"/>
            <a:r>
              <a:rPr lang="en-US" sz="2800" dirty="0"/>
              <a:t>snappy [default]: good compression, low overhead</a:t>
            </a:r>
          </a:p>
          <a:p>
            <a:pPr lvl="1"/>
            <a:r>
              <a:rPr lang="en-US" sz="2800" dirty="0" err="1"/>
              <a:t>zlib</a:t>
            </a:r>
            <a:r>
              <a:rPr lang="en-US" sz="2800" dirty="0"/>
              <a:t>: better compression, more CPU</a:t>
            </a:r>
          </a:p>
          <a:p>
            <a:pPr lvl="1"/>
            <a:r>
              <a:rPr lang="en-US" sz="2800" dirty="0"/>
              <a:t>none</a:t>
            </a:r>
          </a:p>
          <a:p>
            <a:r>
              <a:rPr lang="en-US" sz="2800" dirty="0"/>
              <a:t>Indexes </a:t>
            </a:r>
            <a:r>
              <a:rPr lang="en-US" sz="2800" dirty="0" smtClean="0"/>
              <a:t>also use prefix </a:t>
            </a:r>
            <a:r>
              <a:rPr lang="en-US" sz="2800" dirty="0"/>
              <a:t>compression</a:t>
            </a:r>
          </a:p>
          <a:p>
            <a:pPr lvl="1"/>
            <a:r>
              <a:rPr lang="en-US" sz="2800" dirty="0"/>
              <a:t>s</a:t>
            </a:r>
            <a:r>
              <a:rPr lang="en-US" sz="2800" dirty="0" smtClean="0"/>
              <a:t>tays compressed in memory</a:t>
            </a:r>
            <a:endParaRPr lang="en-US" sz="2800" dirty="0"/>
          </a:p>
        </p:txBody>
      </p:sp>
      <p:pic>
        <p:nvPicPr>
          <p:cNvPr id="4" name="Shape 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2940" y="274640"/>
            <a:ext cx="1066800" cy="9355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3312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Compression in Action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646" y="921144"/>
            <a:ext cx="10178008" cy="55124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85410" y="5943964"/>
            <a:ext cx="2994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(Flights database, </a:t>
            </a:r>
            <a:r>
              <a:rPr lang="en-US" dirty="0" err="1" smtClean="0"/>
              <a:t>ht</a:t>
            </a:r>
            <a:r>
              <a:rPr lang="en-US" dirty="0" smtClean="0"/>
              <a:t> </a:t>
            </a:r>
            <a:r>
              <a:rPr lang="en-US" dirty="0" err="1" smtClean="0"/>
              <a:t>Asya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7658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5053" y="334211"/>
            <a:ext cx="10922000" cy="5392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600" b="1" dirty="0" smtClean="0">
                <a:solidFill>
                  <a:schemeClr val="bg1"/>
                </a:solidFill>
              </a:rPr>
              <a:t>What You Will Learn</a:t>
            </a:r>
          </a:p>
          <a:p>
            <a:pPr>
              <a:lnSpc>
                <a:spcPct val="120000"/>
              </a:lnSpc>
            </a:pPr>
            <a:endParaRPr lang="en-US" sz="3600" dirty="0" smtClean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 smtClean="0">
                <a:solidFill>
                  <a:schemeClr val="bg1"/>
                </a:solidFill>
              </a:rPr>
              <a:t>WiredTiger Architecture</a:t>
            </a: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In-memory performance</a:t>
            </a: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 smtClean="0">
                <a:solidFill>
                  <a:schemeClr val="bg1"/>
                </a:solidFill>
              </a:rPr>
              <a:t>Document</a:t>
            </a:r>
            <a:r>
              <a:rPr lang="en-US" sz="3600" dirty="0">
                <a:solidFill>
                  <a:schemeClr val="bg1"/>
                </a:solidFill>
              </a:rPr>
              <a:t>-level concurrency</a:t>
            </a: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 smtClean="0">
                <a:solidFill>
                  <a:schemeClr val="bg1"/>
                </a:solidFill>
              </a:rPr>
              <a:t>Compression and checksums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Wingdings" charset="2"/>
              <a:buChar char="Ø"/>
            </a:pPr>
            <a:r>
              <a:rPr lang="en-US" sz="3600" dirty="0">
                <a:solidFill>
                  <a:schemeClr val="accent1"/>
                </a:solidFill>
              </a:rPr>
              <a:t>Durability </a:t>
            </a:r>
            <a:r>
              <a:rPr lang="en-US" sz="3600" dirty="0" smtClean="0">
                <a:solidFill>
                  <a:schemeClr val="accent1"/>
                </a:solidFill>
              </a:rPr>
              <a:t>and the journal</a:t>
            </a:r>
            <a:endParaRPr lang="en-US" sz="3600" dirty="0">
              <a:solidFill>
                <a:schemeClr val="accent1"/>
              </a:solidFill>
            </a:endParaRPr>
          </a:p>
          <a:p>
            <a:pPr marL="571500" indent="-571500">
              <a:lnSpc>
                <a:spcPct val="120000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What’s next</a:t>
            </a:r>
            <a:r>
              <a:rPr lang="en-US" sz="3600" dirty="0" smtClean="0">
                <a:solidFill>
                  <a:schemeClr val="bg1"/>
                </a:solidFill>
              </a:rPr>
              <a:t>?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0171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Journal and Recovery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Write</a:t>
            </a:r>
            <a:r>
              <a:rPr lang="en-US" sz="2800" dirty="0"/>
              <a:t>-ahead </a:t>
            </a:r>
            <a:r>
              <a:rPr lang="en-US" sz="2800" dirty="0" smtClean="0"/>
              <a:t>logging (aka journal) enabled by default</a:t>
            </a:r>
            <a:endParaRPr lang="en-US" sz="2800" dirty="0"/>
          </a:p>
          <a:p>
            <a:r>
              <a:rPr lang="en-US" sz="2800" dirty="0"/>
              <a:t>Only written at transaction commit</a:t>
            </a:r>
          </a:p>
          <a:p>
            <a:r>
              <a:rPr lang="en-US" sz="2800" dirty="0" smtClean="0"/>
              <a:t>Log records are compressed with snappy by </a:t>
            </a:r>
            <a:r>
              <a:rPr lang="en-US" sz="2800" dirty="0"/>
              <a:t>default</a:t>
            </a:r>
          </a:p>
          <a:p>
            <a:r>
              <a:rPr lang="en-US" sz="2800" dirty="0"/>
              <a:t>Group </a:t>
            </a:r>
            <a:r>
              <a:rPr lang="en-US" sz="2800" dirty="0" smtClean="0"/>
              <a:t>commit for concurrency</a:t>
            </a:r>
            <a:endParaRPr lang="en-US" sz="2800" dirty="0"/>
          </a:p>
          <a:p>
            <a:r>
              <a:rPr lang="en-US" sz="2800" dirty="0"/>
              <a:t>Automatic log </a:t>
            </a:r>
            <a:r>
              <a:rPr lang="en-US" sz="2800" dirty="0" smtClean="0"/>
              <a:t>archive / removal</a:t>
            </a:r>
            <a:endParaRPr lang="en-US" sz="2800" dirty="0"/>
          </a:p>
          <a:p>
            <a:r>
              <a:rPr lang="en-US" sz="2800" dirty="0"/>
              <a:t>On startup, we rely on finding a consistent checkpoint in the metadata</a:t>
            </a:r>
          </a:p>
          <a:p>
            <a:r>
              <a:rPr lang="en-US" sz="2800" dirty="0" smtClean="0"/>
              <a:t>Use the </a:t>
            </a:r>
            <a:r>
              <a:rPr lang="en-US" sz="2800" dirty="0"/>
              <a:t>metadata to figure out </a:t>
            </a:r>
            <a:r>
              <a:rPr lang="en-US" sz="2800" dirty="0" smtClean="0"/>
              <a:t>how much to roll forward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528105" y="419999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7284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Durability without Journaling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MMAPv1 </a:t>
            </a:r>
            <a:r>
              <a:rPr lang="en-US" sz="2800" dirty="0" smtClean="0"/>
              <a:t>require the journal for consistency </a:t>
            </a:r>
          </a:p>
          <a:p>
            <a:pPr lvl="1"/>
            <a:r>
              <a:rPr lang="en-US" sz="2800" dirty="0"/>
              <a:t>r</a:t>
            </a:r>
            <a:r>
              <a:rPr lang="en-US" sz="2800" dirty="0" smtClean="0"/>
              <a:t>unning with “</a:t>
            </a:r>
            <a:r>
              <a:rPr lang="en-US" sz="2800" dirty="0" err="1" smtClean="0"/>
              <a:t>nojournal</a:t>
            </a:r>
            <a:r>
              <a:rPr lang="en-US" sz="2800" dirty="0" smtClean="0"/>
              <a:t>” is unsafe</a:t>
            </a:r>
            <a:endParaRPr lang="en-US" sz="2800" dirty="0"/>
          </a:p>
          <a:p>
            <a:r>
              <a:rPr lang="en-US" sz="2800" dirty="0" smtClean="0"/>
              <a:t>WiredTiger </a:t>
            </a:r>
            <a:r>
              <a:rPr lang="en-US" sz="2800" dirty="0"/>
              <a:t>doesn't have this need: no in-place updates</a:t>
            </a:r>
          </a:p>
          <a:p>
            <a:pPr lvl="1"/>
            <a:r>
              <a:rPr lang="en-US" sz="2800" dirty="0"/>
              <a:t>c</a:t>
            </a:r>
            <a:r>
              <a:rPr lang="en-US" sz="2800" dirty="0" smtClean="0"/>
              <a:t>heckpoints every 60 seconds by default</a:t>
            </a:r>
          </a:p>
          <a:p>
            <a:pPr lvl="1"/>
            <a:r>
              <a:rPr lang="en-US" sz="2800" dirty="0"/>
              <a:t>w</a:t>
            </a:r>
            <a:r>
              <a:rPr lang="en-US" sz="2800" dirty="0" smtClean="0"/>
              <a:t>ith “</a:t>
            </a:r>
            <a:r>
              <a:rPr lang="en-US" sz="2800" dirty="0" err="1" smtClean="0"/>
              <a:t>nojournal</a:t>
            </a:r>
            <a:r>
              <a:rPr lang="en-US" sz="2800" dirty="0" smtClean="0"/>
              <a:t>”, updates since the last checkpoint may be lost</a:t>
            </a:r>
          </a:p>
          <a:p>
            <a:pPr lvl="1"/>
            <a:r>
              <a:rPr lang="en-US" sz="2800" dirty="0"/>
              <a:t>d</a:t>
            </a:r>
            <a:r>
              <a:rPr lang="en-US" sz="2800" dirty="0" smtClean="0"/>
              <a:t>ata will still be consistent</a:t>
            </a:r>
          </a:p>
          <a:p>
            <a:r>
              <a:rPr lang="en-US" sz="2800" dirty="0" smtClean="0"/>
              <a:t>Replication can guarantee durability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506906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Writing a checkpoint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Write </a:t>
            </a:r>
            <a:r>
              <a:rPr lang="en-US" sz="2800" dirty="0" smtClean="0"/>
              <a:t>dirty </a:t>
            </a:r>
            <a:r>
              <a:rPr lang="en-US" sz="2800" dirty="0"/>
              <a:t>leaf pages</a:t>
            </a:r>
          </a:p>
          <a:p>
            <a:pPr lvl="1"/>
            <a:r>
              <a:rPr lang="en-US" sz="2800" dirty="0"/>
              <a:t>d</a:t>
            </a:r>
            <a:r>
              <a:rPr lang="en-US" sz="2800" dirty="0" smtClean="0"/>
              <a:t>on’t overwrite, write new versions into free space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Write </a:t>
            </a:r>
            <a:r>
              <a:rPr lang="en-US" sz="2800" dirty="0"/>
              <a:t>the internal pages, including the root</a:t>
            </a:r>
          </a:p>
          <a:p>
            <a:pPr lvl="1"/>
            <a:r>
              <a:rPr lang="en-US" sz="2800" dirty="0"/>
              <a:t>the old checkpoint is still valid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Sync the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Write the new root’s address to the metadata</a:t>
            </a:r>
          </a:p>
          <a:p>
            <a:pPr lvl="1"/>
            <a:r>
              <a:rPr lang="en-US" sz="2800" dirty="0"/>
              <a:t>free pages from old checkpoints once the metadata is </a:t>
            </a:r>
            <a:r>
              <a:rPr lang="en-US" sz="2800" dirty="0" smtClean="0"/>
              <a:t>durable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022134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Checkpoints in Action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826" y="1021350"/>
            <a:ext cx="8274385" cy="566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081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Checkpoints in Action (cont.)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836" y="1020017"/>
            <a:ext cx="8257005" cy="565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241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5053" y="334211"/>
            <a:ext cx="10922000" cy="5392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600" b="1" dirty="0" smtClean="0">
                <a:solidFill>
                  <a:schemeClr val="bg1"/>
                </a:solidFill>
              </a:rPr>
              <a:t>What You Will Learn</a:t>
            </a:r>
          </a:p>
          <a:p>
            <a:pPr>
              <a:lnSpc>
                <a:spcPct val="120000"/>
              </a:lnSpc>
            </a:pPr>
            <a:endParaRPr lang="en-US" sz="3600" dirty="0" smtClean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 smtClean="0">
                <a:solidFill>
                  <a:schemeClr val="bg1"/>
                </a:solidFill>
              </a:rPr>
              <a:t>WiredTiger Architecture</a:t>
            </a: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In-memory performance</a:t>
            </a: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 smtClean="0">
                <a:solidFill>
                  <a:schemeClr val="bg1"/>
                </a:solidFill>
              </a:rPr>
              <a:t>Document</a:t>
            </a:r>
            <a:r>
              <a:rPr lang="en-US" sz="3600" dirty="0">
                <a:solidFill>
                  <a:schemeClr val="bg1"/>
                </a:solidFill>
              </a:rPr>
              <a:t>-level concurrency</a:t>
            </a: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 smtClean="0">
                <a:solidFill>
                  <a:schemeClr val="bg1"/>
                </a:solidFill>
              </a:rPr>
              <a:t>Compression and checksums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Wingdings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Durability </a:t>
            </a:r>
            <a:r>
              <a:rPr lang="en-US" sz="3600" dirty="0" smtClean="0">
                <a:solidFill>
                  <a:schemeClr val="bg1"/>
                </a:solidFill>
              </a:rPr>
              <a:t>and the journal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20000"/>
              </a:lnSpc>
              <a:buFont typeface="Wingdings" charset="2"/>
              <a:buChar char="Ø"/>
            </a:pPr>
            <a:r>
              <a:rPr lang="en-US" sz="3600" dirty="0">
                <a:solidFill>
                  <a:schemeClr val="accent1"/>
                </a:solidFill>
              </a:rPr>
              <a:t>What’s next</a:t>
            </a:r>
            <a:r>
              <a:rPr lang="en-US" sz="3600" dirty="0" smtClean="0">
                <a:solidFill>
                  <a:schemeClr val="accent1"/>
                </a:solidFill>
              </a:rPr>
              <a:t>?</a:t>
            </a:r>
            <a:endParaRPr lang="en-US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8445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0" y="0"/>
            <a:ext cx="79459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618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WiredTiger LSM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Out-of-order insert workloads</a:t>
            </a:r>
          </a:p>
          <a:p>
            <a:r>
              <a:rPr lang="en-US" sz="3200" dirty="0"/>
              <a:t>Data set much larger than cache</a:t>
            </a:r>
          </a:p>
          <a:p>
            <a:r>
              <a:rPr lang="en-US" sz="3200" dirty="0"/>
              <a:t>Query performance is not (as) important</a:t>
            </a:r>
          </a:p>
          <a:p>
            <a:r>
              <a:rPr lang="en-US" sz="3200" dirty="0"/>
              <a:t>Resource overhead of background maintenance </a:t>
            </a:r>
            <a:r>
              <a:rPr lang="en-US" sz="3200" dirty="0" smtClean="0"/>
              <a:t>acceptable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38984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 descr="iibench_ls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461" r="-9461"/>
          <a:stretch>
            <a:fillRect/>
          </a:stretch>
        </p:blipFill>
        <p:spPr>
          <a:xfrm>
            <a:off x="507989" y="47527"/>
            <a:ext cx="11176001" cy="6146370"/>
          </a:xfrm>
        </p:spPr>
      </p:pic>
    </p:spTree>
    <p:extLst>
      <p:ext uri="{BB962C8B-B14F-4D97-AF65-F5344CB8AC3E}">
        <p14:creationId xmlns:p14="http://schemas.microsoft.com/office/powerpoint/2010/main" val="8215013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 for WiredTiger?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Tune </a:t>
            </a:r>
            <a:r>
              <a:rPr lang="en-US" sz="2800" dirty="0"/>
              <a:t>for (many) more </a:t>
            </a:r>
            <a:r>
              <a:rPr lang="en-US" sz="2800" dirty="0" smtClean="0"/>
              <a:t>workloads</a:t>
            </a:r>
          </a:p>
          <a:p>
            <a:pPr lvl="1"/>
            <a:r>
              <a:rPr lang="en-US" sz="2800" dirty="0" smtClean="0"/>
              <a:t>avoid stalls during checkpoints with 100GB+ caches</a:t>
            </a:r>
          </a:p>
          <a:p>
            <a:pPr lvl="1"/>
            <a:r>
              <a:rPr lang="en-US" sz="2800" dirty="0" smtClean="0"/>
              <a:t>make capped collections (including </a:t>
            </a:r>
            <a:r>
              <a:rPr lang="en-US" sz="2800" dirty="0" err="1" smtClean="0"/>
              <a:t>oplog</a:t>
            </a:r>
            <a:r>
              <a:rPr lang="en-US" sz="2800" dirty="0" smtClean="0"/>
              <a:t>) more efficient</a:t>
            </a:r>
          </a:p>
          <a:p>
            <a:pPr lvl="1"/>
            <a:r>
              <a:rPr lang="en-US" sz="2800" dirty="0" smtClean="0"/>
              <a:t>Mark Callaghan seeing ~2x speedup in 3.1 snapshots: </a:t>
            </a:r>
            <a:r>
              <a:rPr lang="en-US" sz="2800" dirty="0" smtClean="0">
                <a:hlinkClick r:id="rId2"/>
              </a:rPr>
              <a:t>http://smalldatum.blogspot.com/</a:t>
            </a:r>
            <a:r>
              <a:rPr lang="en-US" sz="2800" dirty="0" smtClean="0"/>
              <a:t> </a:t>
            </a:r>
            <a:endParaRPr lang="en-US" sz="2800" dirty="0"/>
          </a:p>
          <a:p>
            <a:r>
              <a:rPr lang="en-US" sz="2800" dirty="0" smtClean="0"/>
              <a:t>Make </a:t>
            </a:r>
            <a:r>
              <a:rPr lang="en-US" sz="2800" dirty="0"/>
              <a:t>Log Structured Merge (LSM) </a:t>
            </a:r>
            <a:r>
              <a:rPr lang="en-US" sz="2800" dirty="0" smtClean="0"/>
              <a:t>trees work </a:t>
            </a:r>
            <a:r>
              <a:rPr lang="en-US" sz="2800" dirty="0"/>
              <a:t>well with </a:t>
            </a:r>
            <a:r>
              <a:rPr lang="en-US" sz="2800" dirty="0" err="1" smtClean="0"/>
              <a:t>MongoDB</a:t>
            </a:r>
            <a:endParaRPr lang="en-US" sz="2800" dirty="0" smtClean="0"/>
          </a:p>
          <a:p>
            <a:pPr lvl="1"/>
            <a:r>
              <a:rPr lang="en-US" sz="2800" dirty="0" smtClean="0"/>
              <a:t>out-of-cache, write</a:t>
            </a:r>
            <a:r>
              <a:rPr lang="en-US" sz="2800" dirty="0"/>
              <a:t>-heavy workloads</a:t>
            </a:r>
          </a:p>
          <a:p>
            <a:r>
              <a:rPr lang="en-US" sz="2800" dirty="0" smtClean="0"/>
              <a:t>Adding encryption</a:t>
            </a:r>
          </a:p>
          <a:p>
            <a:r>
              <a:rPr lang="en-US" sz="2800" dirty="0" smtClean="0"/>
              <a:t>More </a:t>
            </a:r>
            <a:r>
              <a:rPr lang="en-US" sz="2800" dirty="0"/>
              <a:t>advanced transactional semantics in the storage engine API</a:t>
            </a:r>
          </a:p>
        </p:txBody>
      </p:sp>
    </p:spTree>
    <p:extLst>
      <p:ext uri="{BB962C8B-B14F-4D97-AF65-F5344CB8AC3E}">
        <p14:creationId xmlns:p14="http://schemas.microsoft.com/office/powerpoint/2010/main" val="516585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914400" y="2266976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Thanks!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828800" y="4063715"/>
            <a:ext cx="8534400" cy="175260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Michael Cahill</a:t>
            </a:r>
          </a:p>
          <a:p>
            <a:r>
              <a:rPr lang="en-US" dirty="0" err="1" smtClean="0"/>
              <a:t>michael.cahill@mongodb.com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715079"/>
            <a:ext cx="2286000" cy="65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029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mongodb-wide">
  <a:themeElements>
    <a:clrScheme name="MongoDB 2">
      <a:dk1>
        <a:sysClr val="windowText" lastClr="000000"/>
      </a:dk1>
      <a:lt1>
        <a:sysClr val="window" lastClr="FFFFFF"/>
      </a:lt1>
      <a:dk2>
        <a:srgbClr val="242423"/>
      </a:dk2>
      <a:lt2>
        <a:srgbClr val="FFFFFF"/>
      </a:lt2>
      <a:accent1>
        <a:srgbClr val="BBD49E"/>
      </a:accent1>
      <a:accent2>
        <a:srgbClr val="9ABF75"/>
      </a:accent2>
      <a:accent3>
        <a:srgbClr val="7AAB4E"/>
      </a:accent3>
      <a:accent4>
        <a:srgbClr val="5B972B"/>
      </a:accent4>
      <a:accent5>
        <a:srgbClr val="416A20"/>
      </a:accent5>
      <a:accent6>
        <a:srgbClr val="294216"/>
      </a:accent6>
      <a:hlink>
        <a:srgbClr val="5B972B"/>
      </a:hlink>
      <a:folHlink>
        <a:srgbClr val="416A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mongodb-wide" id="{89F4BDD1-5098-B74F-9F22-D200A6F3B3A0}" vid="{FA7D09A6-2203-744C-A835-8F758266B5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mongodb-wide.potx</Template>
  <TotalTime>3949</TotalTime>
  <Words>1209</Words>
  <Application>Microsoft Macintosh PowerPoint</Application>
  <PresentationFormat>Custom</PresentationFormat>
  <Paragraphs>245</Paragraphs>
  <Slides>42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mongodb-wide</vt:lpstr>
      <vt:lpstr>A Technical Introduction to WiredTiger</vt:lpstr>
      <vt:lpstr>PowerPoint Presentation</vt:lpstr>
      <vt:lpstr>PowerPoint Presentation</vt:lpstr>
      <vt:lpstr>This webinar is not…</vt:lpstr>
      <vt:lpstr>You may have seen this:</vt:lpstr>
      <vt:lpstr>or this…</vt:lpstr>
      <vt:lpstr>PowerPoint Presentation</vt:lpstr>
      <vt:lpstr>MongoDB’s Storage Engine API</vt:lpstr>
      <vt:lpstr>Storage Engine Layer</vt:lpstr>
      <vt:lpstr>Motivation for WiredTiger</vt:lpstr>
      <vt:lpstr>WiredTiger Architecture</vt:lpstr>
      <vt:lpstr>PowerPoint Presentation</vt:lpstr>
      <vt:lpstr>Traditional B+tree (ht wikipedia)</vt:lpstr>
      <vt:lpstr>Trees in cache</vt:lpstr>
      <vt:lpstr>Hazard Pointers</vt:lpstr>
      <vt:lpstr>Pages in cache</vt:lpstr>
      <vt:lpstr>In-memory performance</vt:lpstr>
      <vt:lpstr>PowerPoint Presentation</vt:lpstr>
      <vt:lpstr>What is Concurrency Control?</vt:lpstr>
      <vt:lpstr>WiredTiger Concurrency Control</vt:lpstr>
      <vt:lpstr>Pages in cache</vt:lpstr>
      <vt:lpstr>Multiversion Concurrency Control (MVCC)</vt:lpstr>
      <vt:lpstr>MVCC In Action</vt:lpstr>
      <vt:lpstr>PowerPoint Presentation</vt:lpstr>
      <vt:lpstr>WiredTiger Page I/O</vt:lpstr>
      <vt:lpstr>Trees in cache</vt:lpstr>
      <vt:lpstr>Pages in cache</vt:lpstr>
      <vt:lpstr>Checksums</vt:lpstr>
      <vt:lpstr>Compression</vt:lpstr>
      <vt:lpstr>Compression in Action</vt:lpstr>
      <vt:lpstr>PowerPoint Presentation</vt:lpstr>
      <vt:lpstr>Journal and Recovery</vt:lpstr>
      <vt:lpstr>Durability without Journaling</vt:lpstr>
      <vt:lpstr>Writing a checkpoint</vt:lpstr>
      <vt:lpstr>Checkpoints in Action</vt:lpstr>
      <vt:lpstr>Checkpoints in Action (cont.)</vt:lpstr>
      <vt:lpstr>PowerPoint Presentation</vt:lpstr>
      <vt:lpstr>PowerPoint Presentation</vt:lpstr>
      <vt:lpstr>WiredTiger LSM support</vt:lpstr>
      <vt:lpstr>PowerPoint Presentation</vt:lpstr>
      <vt:lpstr>What’s next for WiredTiger?</vt:lpstr>
      <vt:lpstr>Thanks!  Questions?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Michael Cahill</cp:lastModifiedBy>
  <cp:revision>45</cp:revision>
  <dcterms:created xsi:type="dcterms:W3CDTF">2015-04-27T20:46:45Z</dcterms:created>
  <dcterms:modified xsi:type="dcterms:W3CDTF">2015-07-09T07:55:16Z</dcterms:modified>
</cp:coreProperties>
</file>