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266" r:id="rId2"/>
    <p:sldId id="334" r:id="rId3"/>
    <p:sldId id="267" r:id="rId4"/>
    <p:sldId id="312" r:id="rId5"/>
    <p:sldId id="309" r:id="rId6"/>
    <p:sldId id="269" r:id="rId7"/>
    <p:sldId id="271" r:id="rId8"/>
    <p:sldId id="313" r:id="rId9"/>
    <p:sldId id="272" r:id="rId10"/>
    <p:sldId id="314" r:id="rId11"/>
    <p:sldId id="276" r:id="rId12"/>
    <p:sldId id="277" r:id="rId13"/>
    <p:sldId id="278" r:id="rId14"/>
    <p:sldId id="279" r:id="rId15"/>
    <p:sldId id="280" r:id="rId16"/>
    <p:sldId id="315" r:id="rId17"/>
    <p:sldId id="323" r:id="rId18"/>
    <p:sldId id="327" r:id="rId19"/>
    <p:sldId id="324" r:id="rId20"/>
    <p:sldId id="325" r:id="rId21"/>
    <p:sldId id="326" r:id="rId22"/>
    <p:sldId id="281" r:id="rId23"/>
    <p:sldId id="282" r:id="rId24"/>
    <p:sldId id="283" r:id="rId25"/>
    <p:sldId id="284" r:id="rId26"/>
    <p:sldId id="285" r:id="rId27"/>
    <p:sldId id="310" r:id="rId28"/>
    <p:sldId id="286" r:id="rId29"/>
    <p:sldId id="287" r:id="rId30"/>
    <p:sldId id="288" r:id="rId31"/>
    <p:sldId id="316" r:id="rId32"/>
    <p:sldId id="289" r:id="rId33"/>
    <p:sldId id="291" r:id="rId34"/>
    <p:sldId id="292" r:id="rId35"/>
    <p:sldId id="317" r:id="rId36"/>
    <p:sldId id="329" r:id="rId37"/>
    <p:sldId id="331" r:id="rId38"/>
    <p:sldId id="330" r:id="rId39"/>
    <p:sldId id="328" r:id="rId40"/>
    <p:sldId id="293" r:id="rId41"/>
    <p:sldId id="294" r:id="rId42"/>
    <p:sldId id="295" r:id="rId43"/>
    <p:sldId id="296" r:id="rId44"/>
    <p:sldId id="298" r:id="rId45"/>
    <p:sldId id="299" r:id="rId46"/>
    <p:sldId id="318" r:id="rId47"/>
    <p:sldId id="301" r:id="rId48"/>
    <p:sldId id="319" r:id="rId49"/>
    <p:sldId id="320" r:id="rId50"/>
    <p:sldId id="321" r:id="rId51"/>
    <p:sldId id="302" r:id="rId52"/>
    <p:sldId id="304" r:id="rId53"/>
    <p:sldId id="305" r:id="rId54"/>
    <p:sldId id="332" r:id="rId55"/>
    <p:sldId id="333" r:id="rId56"/>
    <p:sldId id="306" r:id="rId57"/>
    <p:sldId id="322" r:id="rId58"/>
    <p:sldId id="308" r:id="rId5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p:clrMru>
    <a:srgbClr val="242423"/>
    <a:srgbClr val="5B972B"/>
    <a:srgbClr val="9ABF75"/>
    <a:srgbClr val="B3B2B2"/>
    <a:srgbClr val="8F8E8D"/>
    <a:srgbClr val="383737"/>
    <a:srgbClr val="BCDC96"/>
    <a:srgbClr val="6D6C6C"/>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435" autoAdjust="0"/>
  </p:normalViewPr>
  <p:slideViewPr>
    <p:cSldViewPr snapToGrid="0" snapToObjects="1">
      <p:cViewPr>
        <p:scale>
          <a:sx n="103" d="100"/>
          <a:sy n="103" d="100"/>
        </p:scale>
        <p:origin x="-968" y="368"/>
      </p:cViewPr>
      <p:guideLst>
        <p:guide orient="horz" pos="2160"/>
        <p:guide pos="2867"/>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notesMaster" Target="notesMasters/notesMaster1.xml"/><Relationship Id="rId61" Type="http://schemas.openxmlformats.org/officeDocument/2006/relationships/printerSettings" Target="printerSettings/printerSettings1.bin"/><Relationship Id="rId62" Type="http://schemas.openxmlformats.org/officeDocument/2006/relationships/presProps" Target="pres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462FC2-861B-FE49-95F6-7871D784B841}" type="datetimeFigureOut">
              <a:rPr lang="en-US" smtClean="0"/>
              <a:t>9/9/15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B3746F-040E-704E-867C-988A0A69C4B8}" type="slidenum">
              <a:rPr lang="en-US" smtClean="0"/>
              <a:t>‹#›</a:t>
            </a:fld>
            <a:endParaRPr lang="en-US"/>
          </a:p>
        </p:txBody>
      </p:sp>
    </p:spTree>
    <p:extLst>
      <p:ext uri="{BB962C8B-B14F-4D97-AF65-F5344CB8AC3E}">
        <p14:creationId xmlns:p14="http://schemas.microsoft.com/office/powerpoint/2010/main" val="25232909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HELLO!</a:t>
            </a:r>
          </a:p>
          <a:p>
            <a:r>
              <a:rPr lang="en-US" dirty="0" smtClean="0"/>
              <a:t>This</a:t>
            </a:r>
            <a:r>
              <a:rPr lang="en-US" baseline="0" dirty="0" smtClean="0"/>
              <a:t> is Buzz Moschetti at </a:t>
            </a:r>
            <a:r>
              <a:rPr lang="en-US" baseline="0" dirty="0" err="1" smtClean="0"/>
              <a:t>MongoDB</a:t>
            </a:r>
            <a:r>
              <a:rPr lang="en-US" baseline="0" dirty="0" smtClean="0"/>
              <a:t>, and welcome </a:t>
            </a:r>
            <a:r>
              <a:rPr lang="en-US" dirty="0" smtClean="0"/>
              <a:t>to today’s webinar entitled</a:t>
            </a:r>
            <a:r>
              <a:rPr lang="en-US" baseline="0" dirty="0" smtClean="0"/>
              <a:t> “Thinking in Documents”, part of our Back To Basics series.</a:t>
            </a:r>
          </a:p>
          <a:p>
            <a:r>
              <a:rPr lang="en-US" baseline="0" dirty="0" smtClean="0"/>
              <a:t>If your travel plans today do not include exploring the document model in </a:t>
            </a:r>
            <a:r>
              <a:rPr lang="en-US" baseline="0" dirty="0" err="1" smtClean="0"/>
              <a:t>MongoDB</a:t>
            </a:r>
            <a:r>
              <a:rPr lang="en-US" baseline="0" dirty="0" smtClean="0"/>
              <a:t> then please exit the aircraft immediately and see an agent at the gate</a:t>
            </a:r>
          </a:p>
          <a:p>
            <a:r>
              <a:rPr lang="en-US" baseline="0" dirty="0" smtClean="0"/>
              <a:t>Otherwise – WELCOME ABOARD for about the next hour.</a:t>
            </a:r>
          </a:p>
          <a:p>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1</a:t>
            </a:fld>
            <a:endParaRPr lang="en-US"/>
          </a:p>
        </p:txBody>
      </p:sp>
    </p:spTree>
    <p:extLst>
      <p:ext uri="{BB962C8B-B14F-4D97-AF65-F5344CB8AC3E}">
        <p14:creationId xmlns:p14="http://schemas.microsoft.com/office/powerpoint/2010/main" val="1086422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talk about some the terms.</a:t>
            </a:r>
          </a:p>
          <a:p>
            <a:endParaRPr lang="en-US" dirty="0" smtClean="0"/>
          </a:p>
          <a:p>
            <a:r>
              <a:rPr lang="en-US" dirty="0" smtClean="0"/>
              <a:t>JOINS:   RDBMS uses</a:t>
            </a:r>
            <a:r>
              <a:rPr lang="en-US" baseline="0" dirty="0" smtClean="0"/>
              <a:t> Join to stich together fundamentally simple things into larger, more complex data.</a:t>
            </a:r>
          </a:p>
          <a:p>
            <a:r>
              <a:rPr lang="en-US" baseline="0" dirty="0" err="1" smtClean="0"/>
              <a:t>MongoDB</a:t>
            </a:r>
            <a:r>
              <a:rPr lang="en-US" baseline="0" dirty="0" smtClean="0"/>
              <a:t> uses embedding of data within data and linking to produce the same result</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2</a:t>
            </a:fld>
            <a:endParaRPr lang="en-US"/>
          </a:p>
        </p:txBody>
      </p:sp>
    </p:spTree>
    <p:extLst>
      <p:ext uri="{BB962C8B-B14F-4D97-AF65-F5344CB8AC3E}">
        <p14:creationId xmlns:p14="http://schemas.microsoft.com/office/powerpoint/2010/main" val="538092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are three themes that are important to grasp</a:t>
            </a:r>
            <a:r>
              <a:rPr lang="en-US" baseline="0" dirty="0" smtClean="0"/>
              <a:t> when Thinking In Documents in </a:t>
            </a:r>
            <a:r>
              <a:rPr lang="en-US" baseline="0" dirty="0" err="1" smtClean="0"/>
              <a:t>MongoDB</a:t>
            </a:r>
            <a:r>
              <a:rPr lang="en-US" baseline="0" dirty="0" smtClean="0"/>
              <a:t> and these will be reinforced throughout the presentation.</a:t>
            </a:r>
          </a:p>
          <a:p>
            <a:endParaRPr lang="en-US" dirty="0" smtClean="0"/>
          </a:p>
          <a:p>
            <a:r>
              <a:rPr lang="en-US" dirty="0" smtClean="0"/>
              <a:t>First, great</a:t>
            </a:r>
            <a:r>
              <a:rPr lang="en-US" baseline="0" dirty="0" smtClean="0"/>
              <a:t> schema design….    </a:t>
            </a:r>
            <a:r>
              <a:rPr lang="en-US" dirty="0" smtClean="0"/>
              <a:t>I’ll repeat it:   great…</a:t>
            </a:r>
          </a:p>
          <a:p>
            <a:r>
              <a:rPr lang="en-US" dirty="0" smtClean="0"/>
              <a:t>This is not new</a:t>
            </a:r>
            <a:r>
              <a:rPr lang="en-US" baseline="0" dirty="0" smtClean="0"/>
              <a:t> or something revolutionary to </a:t>
            </a:r>
            <a:r>
              <a:rPr lang="en-US" baseline="0" dirty="0" err="1" smtClean="0"/>
              <a:t>MongoDB</a:t>
            </a:r>
            <a:r>
              <a:rPr lang="en-US" baseline="0" dirty="0" smtClean="0"/>
              <a:t>.</a:t>
            </a:r>
          </a:p>
          <a:p>
            <a:r>
              <a:rPr lang="en-US" baseline="0" dirty="0" smtClean="0"/>
              <a:t>It is something we have been doing all along in the construction of solutions.   Sometimes well, sometimes not.</a:t>
            </a:r>
          </a:p>
          <a:p>
            <a:r>
              <a:rPr lang="en-US" baseline="0" dirty="0" smtClean="0"/>
              <a:t>It’s just that the data structures and APIs used by </a:t>
            </a:r>
            <a:r>
              <a:rPr lang="en-US" baseline="0" dirty="0" err="1" smtClean="0"/>
              <a:t>MongoDB</a:t>
            </a:r>
            <a:r>
              <a:rPr lang="en-US" baseline="0" dirty="0" smtClean="0"/>
              <a:t> make it much easier to satisfy the first two bullet points.</a:t>
            </a:r>
          </a:p>
          <a:p>
            <a:r>
              <a:rPr lang="en-US" baseline="0" dirty="0" smtClean="0"/>
              <a:t>Particularly for an up-stack software engineer kind of person like myself, the ease and power of well-harmonizing your persistence with your code – java, </a:t>
            </a:r>
            <a:r>
              <a:rPr lang="en-US" baseline="0" dirty="0" err="1" smtClean="0"/>
              <a:t>javascript</a:t>
            </a:r>
            <a:r>
              <a:rPr lang="en-US" baseline="0" dirty="0" smtClean="0"/>
              <a:t>, </a:t>
            </a:r>
            <a:r>
              <a:rPr lang="en-US" baseline="0" dirty="0" err="1" smtClean="0"/>
              <a:t>perl</a:t>
            </a:r>
            <a:r>
              <a:rPr lang="en-US" baseline="0" dirty="0" smtClean="0"/>
              <a:t>, python – is a vital part of</a:t>
            </a:r>
          </a:p>
          <a:p>
            <a:r>
              <a:rPr lang="en-US" baseline="0" dirty="0" smtClean="0"/>
              <a:t>ensuring your overall information architecture is robust.</a:t>
            </a:r>
          </a:p>
          <a:p>
            <a:r>
              <a:rPr lang="en-US" baseline="0" dirty="0" smtClean="0"/>
              <a:t>Part of the exercise also involves candidly addressing legacy RDBMS issues that we see over and over again after 40 years, like schema explosion and field overloading and flattening</a:t>
            </a:r>
          </a:p>
          <a:p>
            <a:r>
              <a:rPr lang="en-US" baseline="0" dirty="0" smtClean="0"/>
              <a:t>Boils down to   success = “schema” + code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3</a:t>
            </a:fld>
            <a:endParaRPr lang="en-US"/>
          </a:p>
        </p:txBody>
      </p:sp>
    </p:spTree>
    <p:extLst>
      <p:ext uri="{BB962C8B-B14F-4D97-AF65-F5344CB8AC3E}">
        <p14:creationId xmlns:p14="http://schemas.microsoft.com/office/powerpoint/2010/main" val="4226268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Potentially very provocative.</a:t>
            </a:r>
          </a:p>
          <a:p>
            <a:r>
              <a:rPr lang="en-US" baseline="0" dirty="0" smtClean="0"/>
              <a:t>In the old days, we had long requirements cycles and one or both of the following things happened:</a:t>
            </a:r>
          </a:p>
          <a:p>
            <a:pPr marL="228600" indent="-228600">
              <a:buAutoNum type="arabicPeriod"/>
            </a:pPr>
            <a:r>
              <a:rPr lang="en-US" baseline="0" dirty="0" smtClean="0"/>
              <a:t>Requirements changed midstream, invalidating a lot of schema design already performed especially for certain 1:1 entity relationships</a:t>
            </a:r>
          </a:p>
          <a:p>
            <a:pPr marL="228600" indent="-228600">
              <a:buAutoNum type="arabicPeriod"/>
            </a:pPr>
            <a:r>
              <a:rPr lang="en-US" baseline="0" dirty="0" smtClean="0"/>
              <a:t>High quality problem:  The solution was asked to scale well beyond the original goals</a:t>
            </a:r>
          </a:p>
          <a:p>
            <a:pPr marL="0" indent="0">
              <a:buNone/>
            </a:pPr>
            <a:r>
              <a:rPr lang="en-US" baseline="0" dirty="0" smtClean="0"/>
              <a:t>Increasingly, it is no longer acceptable to have a 6 or 12 or 18 month requirements phase to build a system that lasts 10 years or more.</a:t>
            </a:r>
          </a:p>
          <a:p>
            <a:pPr marL="0" indent="0">
              <a:buNone/>
            </a:pPr>
            <a:r>
              <a:rPr lang="en-US" baseline="0" dirty="0" smtClean="0"/>
              <a:t>You want to get the initial information architecture done in a couple of weeks, expand upon it incrementally, and build a system that doesn’t have to live 10 years to “justify its development time.”</a:t>
            </a:r>
          </a:p>
          <a:p>
            <a:pPr marL="0" indent="0">
              <a:buNone/>
            </a:pP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4</a:t>
            </a:fld>
            <a:endParaRPr lang="en-US"/>
          </a:p>
        </p:txBody>
      </p:sp>
    </p:spTree>
    <p:extLst>
      <p:ext uri="{BB962C8B-B14F-4D97-AF65-F5344CB8AC3E}">
        <p14:creationId xmlns:p14="http://schemas.microsoft.com/office/powerpoint/2010/main" val="4226268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Because </a:t>
            </a:r>
            <a:r>
              <a:rPr lang="en-US" dirty="0" err="1" smtClean="0"/>
              <a:t>MongoDB</a:t>
            </a:r>
            <a:r>
              <a:rPr lang="en-US" baseline="0" dirty="0" smtClean="0"/>
              <a:t> is impedance matched to the software around it, you have a great deal of design flexibility and even innovation in the way you construct the overall solution.</a:t>
            </a:r>
          </a:p>
          <a:p>
            <a:r>
              <a:rPr lang="en-US" baseline="0" dirty="0" smtClean="0"/>
              <a:t>We’ll explore some of those best practices today that will really put you on the road to Thinking In Documents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5</a:t>
            </a:fld>
            <a:endParaRPr lang="en-US"/>
          </a:p>
        </p:txBody>
      </p:sp>
    </p:spTree>
    <p:extLst>
      <p:ext uri="{BB962C8B-B14F-4D97-AF65-F5344CB8AC3E}">
        <p14:creationId xmlns:p14="http://schemas.microsoft.com/office/powerpoint/2010/main" val="4226268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talk about some the terms.</a:t>
            </a:r>
          </a:p>
          <a:p>
            <a:endParaRPr lang="en-US" dirty="0" smtClean="0"/>
          </a:p>
          <a:p>
            <a:r>
              <a:rPr lang="en-US" dirty="0" smtClean="0"/>
              <a:t>JOINS:   RDBMS uses</a:t>
            </a:r>
            <a:r>
              <a:rPr lang="en-US" baseline="0" dirty="0" smtClean="0"/>
              <a:t> Join to stich together fundamentally simple things into larger, more complex data.</a:t>
            </a:r>
          </a:p>
          <a:p>
            <a:r>
              <a:rPr lang="en-US" baseline="0" dirty="0" err="1" smtClean="0"/>
              <a:t>MongoDB</a:t>
            </a:r>
            <a:r>
              <a:rPr lang="en-US" baseline="0" dirty="0" smtClean="0"/>
              <a:t> uses embedding of data within data and linking to produce the same result</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6</a:t>
            </a:fld>
            <a:endParaRPr lang="en-US"/>
          </a:p>
        </p:txBody>
      </p:sp>
    </p:spTree>
    <p:extLst>
      <p:ext uri="{BB962C8B-B14F-4D97-AF65-F5344CB8AC3E}">
        <p14:creationId xmlns:p14="http://schemas.microsoft.com/office/powerpoint/2010/main" val="538092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document</a:t>
            </a:r>
            <a:r>
              <a:rPr lang="en-US" baseline="0" dirty="0" smtClean="0"/>
              <a:t> is not a PDF or a MS word artifact.</a:t>
            </a:r>
            <a:endParaRPr lang="en-US" dirty="0" smtClean="0"/>
          </a:p>
          <a:p>
            <a:r>
              <a:rPr lang="en-US" dirty="0" smtClean="0"/>
              <a:t>A document a</a:t>
            </a:r>
            <a:r>
              <a:rPr lang="en-US" baseline="0" dirty="0" smtClean="0"/>
              <a:t> term for </a:t>
            </a:r>
            <a:r>
              <a:rPr lang="en-US" dirty="0" smtClean="0"/>
              <a:t>a rich shape.</a:t>
            </a:r>
            <a:r>
              <a:rPr lang="en-US" baseline="0" dirty="0" smtClean="0"/>
              <a:t>   Structures of structures of lists of structures that ultimately at the leaves have familiar scalars like </a:t>
            </a:r>
            <a:r>
              <a:rPr lang="en-US" baseline="0" dirty="0" err="1" smtClean="0"/>
              <a:t>int</a:t>
            </a:r>
            <a:r>
              <a:rPr lang="en-US" baseline="0" dirty="0" smtClean="0"/>
              <a:t>, double, </a:t>
            </a:r>
            <a:r>
              <a:rPr lang="en-US" baseline="0" dirty="0" err="1" smtClean="0"/>
              <a:t>datetimes</a:t>
            </a:r>
            <a:r>
              <a:rPr lang="en-US" baseline="0" dirty="0" smtClean="0"/>
              <a:t>, and string.   </a:t>
            </a:r>
          </a:p>
          <a:p>
            <a:r>
              <a:rPr lang="en-US" baseline="0" dirty="0" smtClean="0"/>
              <a:t>In this example we see also that we’re carrying a thumbnail photo in a binary byte array type; that’s natively supported as well. </a:t>
            </a:r>
          </a:p>
          <a:p>
            <a:r>
              <a:rPr lang="en-US" baseline="0" dirty="0" smtClean="0"/>
              <a:t>This is different than the traditional row-column approach used in RDBMS.</a:t>
            </a:r>
          </a:p>
          <a:p>
            <a:r>
              <a:rPr lang="en-US" baseline="0" dirty="0" smtClean="0"/>
              <a:t>Another important difference is that In </a:t>
            </a:r>
            <a:r>
              <a:rPr lang="en-US" baseline="0" dirty="0" err="1" smtClean="0"/>
              <a:t>MongoDB</a:t>
            </a:r>
            <a:r>
              <a:rPr lang="en-US" baseline="0" dirty="0" smtClean="0"/>
              <a:t>, it is not required for every document in a collection to be the same shape; shapes can VARY</a:t>
            </a:r>
          </a:p>
          <a:p>
            <a:r>
              <a:rPr lang="en-US" baseline="0" dirty="0" smtClean="0"/>
              <a:t>With the upcoming release of 3.2, we will be supporting documentation validation so in those designs where certain fields and their types are absolutely mandatory, we’ll be able to enforce that at the DB engine level similar to – but not exactly like – traditional schemas.</a:t>
            </a:r>
          </a:p>
          <a:p>
            <a:r>
              <a:rPr lang="en-US" baseline="0" dirty="0" smtClean="0"/>
              <a:t>Truth is in most non-trivial systems, even with RDBMS and stored </a:t>
            </a:r>
            <a:r>
              <a:rPr lang="en-US" baseline="0" dirty="0" err="1" smtClean="0"/>
              <a:t>procs</a:t>
            </a:r>
            <a:r>
              <a:rPr lang="en-US" baseline="0" dirty="0" smtClean="0"/>
              <a:t>, etc. plenty of validation and logic is being handled outside the database..</a:t>
            </a:r>
          </a:p>
          <a:p>
            <a:endParaRPr lang="en-US" baseline="0" dirty="0" smtClean="0"/>
          </a:p>
          <a:p>
            <a:r>
              <a:rPr lang="en-US" baseline="0" dirty="0" smtClean="0"/>
              <a:t>Now here is something very important:</a:t>
            </a:r>
          </a:p>
          <a:p>
            <a:r>
              <a:rPr lang="en-US" baseline="0" dirty="0" smtClean="0"/>
              <a:t>For the purposes of the webinar, we will be seeing this “to-string” representation of a document as it is emitted from the </a:t>
            </a:r>
            <a:r>
              <a:rPr lang="en-US" baseline="0" dirty="0" err="1" smtClean="0"/>
              <a:t>MongoDB</a:t>
            </a:r>
            <a:r>
              <a:rPr lang="en-US" baseline="0" dirty="0" smtClean="0"/>
              <a:t> CLI.</a:t>
            </a:r>
          </a:p>
          <a:p>
            <a:r>
              <a:rPr lang="en-US" baseline="0" dirty="0" smtClean="0"/>
              <a:t>This is easy to read and gets the structural design points across nicely.</a:t>
            </a:r>
          </a:p>
          <a:p>
            <a:r>
              <a:rPr lang="en-US" baseline="0" dirty="0" smtClean="0"/>
              <a:t>But make no mistake:  you want most of your actual software interaction with </a:t>
            </a:r>
            <a:r>
              <a:rPr lang="en-US" baseline="0" dirty="0" err="1" smtClean="0"/>
              <a:t>MongoDB</a:t>
            </a:r>
            <a:r>
              <a:rPr lang="en-US" baseline="0" dirty="0" smtClean="0"/>
              <a:t> (and frankly any DB) to be via high fidelity types, not a big string with whitespaces and CR and quotes and whatnot.</a:t>
            </a:r>
          </a:p>
          <a:p>
            <a:r>
              <a:rPr lang="en-US" baseline="0" dirty="0" smtClean="0"/>
              <a:t> </a:t>
            </a:r>
          </a:p>
        </p:txBody>
      </p:sp>
      <p:sp>
        <p:nvSpPr>
          <p:cNvPr id="4" name="Slide Number Placeholder 3"/>
          <p:cNvSpPr>
            <a:spLocks noGrp="1"/>
          </p:cNvSpPr>
          <p:nvPr>
            <p:ph type="sldNum" sz="quarter" idx="10"/>
          </p:nvPr>
        </p:nvSpPr>
        <p:spPr/>
        <p:txBody>
          <a:bodyPr/>
          <a:lstStyle/>
          <a:p>
            <a:fld id="{4127CFAD-63D9-427B-9EB5-780FF78F24D4}" type="slidenum">
              <a:rPr lang="en-US" smtClean="0"/>
              <a:t>7</a:t>
            </a:fld>
            <a:endParaRPr lang="en-US"/>
          </a:p>
        </p:txBody>
      </p:sp>
    </p:spTree>
    <p:extLst>
      <p:ext uri="{BB962C8B-B14F-4D97-AF65-F5344CB8AC3E}">
        <p14:creationId xmlns:p14="http://schemas.microsoft.com/office/powerpoint/2010/main" val="2772230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Drivers in each language represent documents</a:t>
            </a:r>
            <a:r>
              <a:rPr lang="en-US" sz="1200" baseline="0" dirty="0" smtClean="0"/>
              <a:t> in a language-native form most appropriate for that language.</a:t>
            </a:r>
          </a:p>
          <a:p>
            <a:r>
              <a:rPr lang="en-US" sz="1200" baseline="0" dirty="0" smtClean="0"/>
              <a:t>Java has maps, python has dictionaries.   You deal with actual objects like Dates, not strings that must be constructed or parsed.</a:t>
            </a:r>
          </a:p>
          <a:p>
            <a:r>
              <a:rPr lang="en-US" sz="1200" baseline="0" dirty="0" smtClean="0"/>
              <a:t>Another important note:   We’ll be using query functionality to kill 2 birds with one stone:  </a:t>
            </a:r>
          </a:p>
          <a:p>
            <a:pPr marL="228600" indent="-228600">
              <a:buAutoNum type="arabicPeriod"/>
            </a:pPr>
            <a:r>
              <a:rPr lang="en-US" sz="1200" baseline="0" dirty="0" smtClean="0"/>
              <a:t>To show the shape of the document</a:t>
            </a:r>
          </a:p>
          <a:p>
            <a:pPr marL="228600" indent="-228600">
              <a:buAutoNum type="arabicPeriod"/>
            </a:pPr>
            <a:r>
              <a:rPr lang="en-US" sz="1200" baseline="0" dirty="0" smtClean="0"/>
              <a:t>To show just a bit of the </a:t>
            </a:r>
            <a:r>
              <a:rPr lang="en-US" sz="1200" baseline="0" dirty="0" err="1" smtClean="0"/>
              <a:t>MongoDB</a:t>
            </a:r>
            <a:r>
              <a:rPr lang="en-US" sz="1200" baseline="0" dirty="0" smtClean="0"/>
              <a:t> query language itself including </a:t>
            </a:r>
            <a:r>
              <a:rPr lang="en-US" sz="1200" baseline="0" dirty="0" err="1" smtClean="0"/>
              <a:t>dotpath</a:t>
            </a:r>
            <a:r>
              <a:rPr lang="en-US" sz="1200" baseline="0" dirty="0" smtClean="0"/>
              <a:t> notation to “dig into” substructures</a:t>
            </a:r>
          </a:p>
          <a:p>
            <a:pPr marL="0" indent="0">
              <a:buNone/>
            </a:pPr>
            <a:r>
              <a:rPr lang="en-US" sz="1200" baseline="0" dirty="0" smtClean="0"/>
              <a:t>Note also that in </a:t>
            </a:r>
            <a:r>
              <a:rPr lang="en-US" sz="1200" baseline="0" dirty="0" err="1" smtClean="0"/>
              <a:t>MongoDB</a:t>
            </a:r>
            <a:r>
              <a:rPr lang="en-US" sz="1200" baseline="0" dirty="0" smtClean="0"/>
              <a:t>, documents go into collections in the same shape they come out so we won’t focus on insert.</a:t>
            </a:r>
          </a:p>
          <a:p>
            <a:pPr marL="0" indent="0">
              <a:buNone/>
            </a:pPr>
            <a:r>
              <a:rPr lang="en-US" sz="1200" baseline="0" dirty="0" smtClean="0"/>
              <a:t>This is a very different design paradigm from RDBMS, where, for example, the read-side of an operation implemented as an 8 way join is very different than the set of insert statements (some of them in a loop) required for the write side.</a:t>
            </a:r>
          </a:p>
        </p:txBody>
      </p:sp>
      <p:sp>
        <p:nvSpPr>
          <p:cNvPr id="4" name="Slide Number Placeholder 3"/>
          <p:cNvSpPr>
            <a:spLocks noGrp="1"/>
          </p:cNvSpPr>
          <p:nvPr>
            <p:ph type="sldNum" sz="quarter" idx="10"/>
          </p:nvPr>
        </p:nvSpPr>
        <p:spPr/>
        <p:txBody>
          <a:bodyPr/>
          <a:lstStyle/>
          <a:p>
            <a:fld id="{4127CFAD-63D9-427B-9EB5-780FF78F24D4}" type="slidenum">
              <a:rPr lang="en-US" smtClean="0"/>
              <a:t>8</a:t>
            </a:fld>
            <a:endParaRPr lang="en-US"/>
          </a:p>
        </p:txBody>
      </p:sp>
    </p:spTree>
    <p:extLst>
      <p:ext uri="{BB962C8B-B14F-4D97-AF65-F5344CB8AC3E}">
        <p14:creationId xmlns:p14="http://schemas.microsoft.com/office/powerpoint/2010/main" val="2772230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Let’s get back to data design.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Traditional data design is characterized by some of the points above, and this</a:t>
            </a:r>
            <a:r>
              <a:rPr lang="en-US" baseline="0" dirty="0" smtClean="0"/>
              <a:t> is largely because the design goals and constraints of legacy RDBMS engines heavily influence the data being put into them.</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These platforms were designed when CPUs were slow and memory was VERY expensive.</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Perhaps more interesting is that the languages of the time – COBOL, FORTRAN, APL, PASCAL, C – were very compile time oriented and very rectangular in their expression of data structures.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One could say rigid schema combined with these languages was in fact well-harmonized.</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Overall, the platform is VERY focused on the physical representation of data.</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For example, although most have been conflated, the legacy types of char, </a:t>
            </a:r>
            <a:r>
              <a:rPr lang="en-US" baseline="0" dirty="0" err="1" smtClean="0"/>
              <a:t>varchar</a:t>
            </a:r>
            <a:r>
              <a:rPr lang="en-US" baseline="0" dirty="0" smtClean="0"/>
              <a:t>, text, CLOB etc. to represent a string suggest a strong coupling to byte-wise storage concerns.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9</a:t>
            </a:fld>
            <a:endParaRPr lang="en-US"/>
          </a:p>
        </p:txBody>
      </p:sp>
    </p:spTree>
    <p:extLst>
      <p:ext uri="{BB962C8B-B14F-4D97-AF65-F5344CB8AC3E}">
        <p14:creationId xmlns:p14="http://schemas.microsoft.com/office/powerpoint/2010/main" val="2983229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Documents, on the other hand,</a:t>
            </a:r>
            <a:r>
              <a:rPr lang="en-US" baseline="0" dirty="0" smtClean="0"/>
              <a:t> are more like business entities.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You’ll want to think of your data moving in and out as objects.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And the types and features of Document APIs are designed to be well-harmonized with today’s programming languages – Java, C#, python, </a:t>
            </a:r>
            <a:r>
              <a:rPr lang="en-US" baseline="0" dirty="0" err="1" smtClean="0"/>
              <a:t>node.js</a:t>
            </a:r>
            <a:r>
              <a:rPr lang="en-US" baseline="0" dirty="0" smtClean="0"/>
              <a:t>, </a:t>
            </a:r>
            <a:r>
              <a:rPr lang="en-US" baseline="0" dirty="0" err="1" smtClean="0"/>
              <a:t>Scala</a:t>
            </a:r>
            <a:r>
              <a:rPr lang="en-US" baseline="0" dirty="0" smtClean="0"/>
              <a:t> , C++ -- languages that are not nearly as compile-time oriented and offer great capabilities to dynamically manipulate data and perform reflection/introspection upon it.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10</a:t>
            </a:fld>
            <a:endParaRPr lang="en-US"/>
          </a:p>
        </p:txBody>
      </p:sp>
    </p:spTree>
    <p:extLst>
      <p:ext uri="{BB962C8B-B14F-4D97-AF65-F5344CB8AC3E}">
        <p14:creationId xmlns:p14="http://schemas.microsoft.com/office/powerpoint/2010/main" val="2983229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a:t>
            </a:r>
            <a:r>
              <a:rPr lang="en-US" baseline="0" dirty="0" smtClean="0"/>
              <a:t> what better way to show this than diving right into a problem?</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11</a:t>
            </a:fld>
            <a:endParaRPr lang="en-US"/>
          </a:p>
        </p:txBody>
      </p:sp>
    </p:spTree>
    <p:extLst>
      <p:ext uri="{BB962C8B-B14F-4D97-AF65-F5344CB8AC3E}">
        <p14:creationId xmlns:p14="http://schemas.microsoft.com/office/powerpoint/2010/main" val="3931635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Today we’ll</a:t>
            </a:r>
            <a:r>
              <a:rPr lang="en-US" baseline="0" dirty="0" smtClean="0"/>
              <a:t> explore data structures and schema for a library management application</a:t>
            </a:r>
            <a:endParaRPr lang="en-US" dirty="0" smtClean="0"/>
          </a:p>
          <a:p>
            <a:r>
              <a:rPr lang="en-US" dirty="0" smtClean="0"/>
              <a:t>Good</a:t>
            </a:r>
            <a:r>
              <a:rPr lang="en-US" baseline="0" dirty="0" smtClean="0"/>
              <a:t> example because in general most of you have some familiarity with the entities involved and we can explore some 1:1, 1:n  and other design elements</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12</a:t>
            </a:fld>
            <a:endParaRPr lang="en-US"/>
          </a:p>
        </p:txBody>
      </p:sp>
    </p:spTree>
    <p:extLst>
      <p:ext uri="{BB962C8B-B14F-4D97-AF65-F5344CB8AC3E}">
        <p14:creationId xmlns:p14="http://schemas.microsoft.com/office/powerpoint/2010/main" val="37311665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To make things a little more interesting, we’ll capture our emerging requirements in the form of questions the application needs to ask the database.</a:t>
            </a:r>
          </a:p>
          <a:p>
            <a:r>
              <a:rPr lang="en-US" baseline="0" dirty="0" smtClean="0"/>
              <a:t>This is useful because, again, it helps us keep our eye on the software layer above the database</a:t>
            </a:r>
          </a:p>
          <a:p>
            <a:endParaRPr lang="en-US" baseline="0" dirty="0" smtClean="0"/>
          </a:p>
          <a:p>
            <a:r>
              <a:rPr lang="en-US" baseline="0" dirty="0" smtClean="0"/>
              <a:t>Imagine a patron walks up to the counter and presents his/her library card to check out some books.  The first thing a librarian might want to do is confirm the patron’s address so as to have a place to send the library police when the book isn’t returned in a timely manner.</a:t>
            </a:r>
          </a:p>
        </p:txBody>
      </p:sp>
      <p:sp>
        <p:nvSpPr>
          <p:cNvPr id="4" name="Slide Number Placeholder 3"/>
          <p:cNvSpPr>
            <a:spLocks noGrp="1"/>
          </p:cNvSpPr>
          <p:nvPr>
            <p:ph type="sldNum" sz="quarter" idx="10"/>
          </p:nvPr>
        </p:nvSpPr>
        <p:spPr/>
        <p:txBody>
          <a:bodyPr/>
          <a:lstStyle/>
          <a:p>
            <a:fld id="{4127CFAD-63D9-427B-9EB5-780FF78F24D4}" type="slidenum">
              <a:rPr lang="en-US" smtClean="0"/>
              <a:t>13</a:t>
            </a:fld>
            <a:endParaRPr lang="en-US"/>
          </a:p>
        </p:txBody>
      </p:sp>
    </p:spTree>
    <p:extLst>
      <p:ext uri="{BB962C8B-B14F-4D97-AF65-F5344CB8AC3E}">
        <p14:creationId xmlns:p14="http://schemas.microsoft.com/office/powerpoint/2010/main" val="14233969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might be the very first cut at such a thing, with</a:t>
            </a:r>
            <a:r>
              <a:rPr lang="en-US" baseline="0" dirty="0" smtClean="0"/>
              <a:t> 2 collections, patrons and addresses.   Both share a common key space on the _id unique ID field. </a:t>
            </a:r>
          </a:p>
          <a:p>
            <a:r>
              <a:rPr lang="en-US" dirty="0" smtClean="0"/>
              <a:t>To get name and address will require 2 queries.</a:t>
            </a:r>
          </a:p>
          <a:p>
            <a:endParaRPr lang="en-US" dirty="0" smtClean="0"/>
          </a:p>
          <a:p>
            <a:r>
              <a:rPr lang="en-US" baseline="0" dirty="0" smtClean="0"/>
              <a:t>Very important:  You notice here that a list of favorite genres has been set up.  It is a LIST of strings.   Not a semicolon or comma delimited string.   </a:t>
            </a:r>
          </a:p>
          <a:p>
            <a:r>
              <a:rPr lang="en-US" baseline="0" dirty="0" smtClean="0"/>
              <a:t>Each element of that list is completely addressable, </a:t>
            </a:r>
            <a:r>
              <a:rPr lang="en-US" baseline="0" dirty="0" err="1" smtClean="0"/>
              <a:t>queryable</a:t>
            </a:r>
            <a:r>
              <a:rPr lang="en-US" baseline="0" dirty="0" smtClean="0"/>
              <a:t>, and updatable via </a:t>
            </a:r>
            <a:r>
              <a:rPr lang="en-US" baseline="0" dirty="0" err="1" smtClean="0"/>
              <a:t>dotpath</a:t>
            </a:r>
            <a:r>
              <a:rPr lang="en-US" baseline="0" dirty="0" smtClean="0"/>
              <a:t> notation.   As is the entire list.</a:t>
            </a:r>
          </a:p>
          <a:p>
            <a:r>
              <a:rPr lang="en-US" baseline="0" dirty="0" smtClean="0"/>
              <a:t>And should we require it, it is </a:t>
            </a:r>
            <a:r>
              <a:rPr lang="en-US" baseline="0" dirty="0" err="1" smtClean="0"/>
              <a:t>indexable</a:t>
            </a:r>
            <a:r>
              <a:rPr lang="en-US" baseline="0" dirty="0" smtClean="0"/>
              <a:t>.   But let’s not get too far ahead.</a:t>
            </a:r>
          </a:p>
          <a:p>
            <a:endParaRPr lang="en-US" dirty="0" smtClean="0"/>
          </a:p>
          <a:p>
            <a:r>
              <a:rPr lang="en-US" dirty="0" smtClean="0"/>
              <a:t>Can we do better?</a:t>
            </a:r>
          </a:p>
          <a:p>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14</a:t>
            </a:fld>
            <a:endParaRPr lang="en-US"/>
          </a:p>
        </p:txBody>
      </p:sp>
    </p:spTree>
    <p:extLst>
      <p:ext uri="{BB962C8B-B14F-4D97-AF65-F5344CB8AC3E}">
        <p14:creationId xmlns:p14="http://schemas.microsoft.com/office/powerpoint/2010/main" val="41306586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think we can:  embed the address substructure into the patron document.  </a:t>
            </a:r>
          </a:p>
          <a:p>
            <a:endParaRPr lang="en-US" dirty="0" smtClean="0"/>
          </a:p>
          <a:p>
            <a:r>
              <a:rPr lang="en-US" dirty="0" smtClean="0"/>
              <a:t>Only</a:t>
            </a:r>
            <a:r>
              <a:rPr lang="en-US" baseline="0" dirty="0" smtClean="0"/>
              <a:t> 1 query is necessary.</a:t>
            </a:r>
          </a:p>
          <a:p>
            <a:endParaRPr lang="en-US" baseline="0" dirty="0" smtClean="0"/>
          </a:p>
          <a:p>
            <a:r>
              <a:rPr lang="en-US" baseline="0" dirty="0" smtClean="0"/>
              <a:t>You notice here that we treated address like an Object.   We did not “flatten” everything out into </a:t>
            </a:r>
            <a:r>
              <a:rPr lang="en-US" baseline="0" dirty="0" err="1" smtClean="0"/>
              <a:t>addr_street</a:t>
            </a:r>
            <a:r>
              <a:rPr lang="en-US" baseline="0" dirty="0" smtClean="0"/>
              <a:t>, </a:t>
            </a:r>
            <a:r>
              <a:rPr lang="en-US" baseline="0" dirty="0" err="1" smtClean="0"/>
              <a:t>addr_city</a:t>
            </a:r>
            <a:r>
              <a:rPr lang="en-US" baseline="0" dirty="0" smtClean="0"/>
              <a:t>, </a:t>
            </a:r>
            <a:r>
              <a:rPr lang="en-US" baseline="0" dirty="0" err="1" smtClean="0"/>
              <a:t>addr_state</a:t>
            </a:r>
            <a:r>
              <a:rPr lang="en-US" baseline="0" dirty="0" smtClean="0"/>
              <a:t>, etc.</a:t>
            </a:r>
          </a:p>
          <a:p>
            <a:r>
              <a:rPr lang="en-US" baseline="0" dirty="0" smtClean="0"/>
              <a:t>We’ll come back to that again in just a  few slides and see the power it provides.</a:t>
            </a:r>
          </a:p>
          <a:p>
            <a:r>
              <a:rPr lang="en-US" baseline="0" dirty="0" smtClean="0"/>
              <a:t>Already, with this simple example, two important aspects of Thinking In Documents are </a:t>
            </a:r>
            <a:r>
              <a:rPr lang="en-US" baseline="0" dirty="0" err="1" smtClean="0"/>
              <a:t>hilighted</a:t>
            </a:r>
            <a:r>
              <a:rPr lang="en-US" baseline="0" dirty="0" smtClean="0"/>
              <a:t>:  arrays and substructures.</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15</a:t>
            </a:fld>
            <a:endParaRPr lang="en-US"/>
          </a:p>
        </p:txBody>
      </p:sp>
    </p:spTree>
    <p:extLst>
      <p:ext uri="{BB962C8B-B14F-4D97-AF65-F5344CB8AC3E}">
        <p14:creationId xmlns:p14="http://schemas.microsoft.com/office/powerpoint/2010/main" val="31285159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a:t>
            </a:r>
            <a:r>
              <a:rPr lang="en-US" baseline="0" dirty="0" smtClean="0"/>
              <a:t> common concern that pops up at this point is that every query will act like “SELECT *” and drag back potentially a LOT of data.</a:t>
            </a:r>
          </a:p>
          <a:p>
            <a:r>
              <a:rPr lang="en-US" baseline="0" dirty="0" smtClean="0"/>
              <a:t>In </a:t>
            </a:r>
            <a:r>
              <a:rPr lang="en-US" baseline="0" dirty="0" err="1" smtClean="0"/>
              <a:t>MongoDB</a:t>
            </a:r>
            <a:r>
              <a:rPr lang="en-US" baseline="0" dirty="0" smtClean="0"/>
              <a:t> you can control that with projection as we see here, where fields can be explicitly included or excluded.</a:t>
            </a:r>
          </a:p>
          <a:p>
            <a:r>
              <a:rPr lang="en-US" baseline="0" dirty="0" smtClean="0"/>
              <a:t>This operation is of course processed server side and is efficient.</a:t>
            </a:r>
          </a:p>
          <a:p>
            <a:r>
              <a:rPr lang="en-US" baseline="0" dirty="0" smtClean="0"/>
              <a:t>Note that we can both pick up an entire substructure as a unit OR JUST specific subfields using “dot notation”.</a:t>
            </a:r>
          </a:p>
          <a:p>
            <a:r>
              <a:rPr lang="en-US" baseline="0" dirty="0" smtClean="0"/>
              <a:t>Very powerful.</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16</a:t>
            </a:fld>
            <a:endParaRPr lang="en-US"/>
          </a:p>
        </p:txBody>
      </p:sp>
    </p:spTree>
    <p:extLst>
      <p:ext uri="{BB962C8B-B14F-4D97-AF65-F5344CB8AC3E}">
        <p14:creationId xmlns:p14="http://schemas.microsoft.com/office/powerpoint/2010/main" val="31285159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Before</a:t>
            </a:r>
            <a:r>
              <a:rPr lang="en-US" baseline="0" dirty="0" smtClean="0"/>
              <a:t> I mentioned we’d see more about the power of substructure.</a:t>
            </a:r>
          </a:p>
          <a:p>
            <a:r>
              <a:rPr lang="en-US" baseline="0" dirty="0" smtClean="0"/>
              <a:t>Substructure is the concept that allows your schema to really well-harmonize with software.</a:t>
            </a:r>
          </a:p>
          <a:p>
            <a:r>
              <a:rPr lang="en-US" dirty="0" smtClean="0"/>
              <a:t>By</a:t>
            </a:r>
            <a:r>
              <a:rPr lang="en-US" baseline="0" dirty="0" smtClean="0"/>
              <a:t> being able to pull out the entire address structure, you can</a:t>
            </a:r>
            <a:r>
              <a:rPr lang="en-US" baseline="0" dirty="0"/>
              <a:t> </a:t>
            </a:r>
            <a:r>
              <a:rPr lang="en-US" baseline="0" dirty="0" smtClean="0"/>
              <a:t>pass it to a function that does something interesting with no matter what fields are or are not set.</a:t>
            </a:r>
          </a:p>
          <a:p>
            <a:r>
              <a:rPr lang="en-US" baseline="0" dirty="0" smtClean="0"/>
              <a:t>And what’s really great is that these substructures are generic Maps or dictionaries – NO COMPILE TIME dependencies!</a:t>
            </a:r>
          </a:p>
          <a:p>
            <a:endParaRPr lang="en-US" baseline="0"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17</a:t>
            </a:fld>
            <a:endParaRPr lang="en-US"/>
          </a:p>
        </p:txBody>
      </p:sp>
    </p:spTree>
    <p:extLst>
      <p:ext uri="{BB962C8B-B14F-4D97-AF65-F5344CB8AC3E}">
        <p14:creationId xmlns:p14="http://schemas.microsoft.com/office/powerpoint/2010/main" val="10684858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your Thinking in Documents, then remember that Document</a:t>
            </a:r>
            <a:r>
              <a:rPr lang="en-US" baseline="0" dirty="0" smtClean="0"/>
              <a:t> Shapes can vary.</a:t>
            </a:r>
          </a:p>
          <a:p>
            <a:r>
              <a:rPr lang="en-US" baseline="0" dirty="0" err="1" smtClean="0"/>
              <a:t>Apols</a:t>
            </a:r>
            <a:r>
              <a:rPr lang="en-US" baseline="0" dirty="0" smtClean="0"/>
              <a:t> for the small font.</a:t>
            </a:r>
          </a:p>
          <a:p>
            <a:r>
              <a:rPr lang="en-US" baseline="0" dirty="0" smtClean="0"/>
              <a:t>But here, we are inserting a new document where address contains an additional field “country” (and, if you’re watching closely, does NOT have the </a:t>
            </a:r>
            <a:r>
              <a:rPr lang="en-US" baseline="0" dirty="0" err="1" smtClean="0"/>
              <a:t>zipcode</a:t>
            </a:r>
            <a:r>
              <a:rPr lang="en-US" baseline="0" dirty="0" smtClean="0"/>
              <a:t> field!)</a:t>
            </a:r>
          </a:p>
          <a:p>
            <a:r>
              <a:rPr lang="en-US" baseline="0" dirty="0" smtClean="0"/>
              <a:t>When do a find and ask for the address field, two slightly different shapes emerge.</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18</a:t>
            </a:fld>
            <a:endParaRPr lang="en-US"/>
          </a:p>
        </p:txBody>
      </p:sp>
    </p:spTree>
    <p:extLst>
      <p:ext uri="{BB962C8B-B14F-4D97-AF65-F5344CB8AC3E}">
        <p14:creationId xmlns:p14="http://schemas.microsoft.com/office/powerpoint/2010/main" val="31285159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But more importantly,</a:t>
            </a:r>
            <a:r>
              <a:rPr lang="en-US" baseline="0" dirty="0" smtClean="0"/>
              <a:t> only one place “needs” to change:  the place where the new “country” field is actually consumed.</a:t>
            </a:r>
          </a:p>
          <a:p>
            <a:r>
              <a:rPr lang="en-US" baseline="0" dirty="0" smtClean="0"/>
              <a:t>Neither the query nor the intermediate parts of the call stack change at all – the new country field simply flows through!</a:t>
            </a:r>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19</a:t>
            </a:fld>
            <a:endParaRPr lang="en-US"/>
          </a:p>
        </p:txBody>
      </p:sp>
    </p:spTree>
    <p:extLst>
      <p:ext uri="{BB962C8B-B14F-4D97-AF65-F5344CB8AC3E}">
        <p14:creationId xmlns:p14="http://schemas.microsoft.com/office/powerpoint/2010/main" val="10684858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Assuming you’re not in a</a:t>
            </a:r>
            <a:r>
              <a:rPr lang="en-US" baseline="0" dirty="0" smtClean="0"/>
              <a:t> “select *” environment which has it’s own huge set of issues, this is the traditional approach to the same problem.</a:t>
            </a:r>
          </a:p>
          <a:p>
            <a:r>
              <a:rPr lang="en-US" baseline="0" dirty="0" smtClean="0"/>
              <a:t>For brevity I am leaving out the entire issue of ALTER TABLE and schema migration scripts which may be avoided in </a:t>
            </a:r>
            <a:r>
              <a:rPr lang="en-US" baseline="0" dirty="0" err="1" smtClean="0"/>
              <a:t>MongoDB</a:t>
            </a:r>
            <a:r>
              <a:rPr lang="en-US" baseline="0" dirty="0" smtClean="0"/>
              <a:t>.</a:t>
            </a:r>
          </a:p>
          <a:p>
            <a:r>
              <a:rPr lang="en-US" baseline="0" dirty="0" smtClean="0"/>
              <a:t>The focus here is </a:t>
            </a:r>
            <a:r>
              <a:rPr lang="en-US" baseline="0" dirty="0" err="1" smtClean="0"/>
              <a:t>agilty</a:t>
            </a:r>
            <a:r>
              <a:rPr lang="en-US" baseline="0" dirty="0" smtClean="0"/>
              <a:t> and accuracy of Day 2 mods needed and how many places you have to make them.</a:t>
            </a:r>
          </a:p>
          <a:p>
            <a:endParaRPr lang="en-US" baseline="0" dirty="0" smtClean="0"/>
          </a:p>
          <a:p>
            <a:r>
              <a:rPr lang="en-US" baseline="0" dirty="0" smtClean="0"/>
              <a:t>Here, Every SQL statement that pulled out city, state, and zip has to be assessed in the context of </a:t>
            </a:r>
            <a:r>
              <a:rPr lang="en-US" dirty="0" err="1" smtClean="0">
                <a:solidFill>
                  <a:srgbClr val="FFFFFF"/>
                </a:solidFill>
                <a:latin typeface="Courier"/>
                <a:cs typeface="Courier"/>
              </a:rPr>
              <a:t>doSomethingWithOneAddress</a:t>
            </a:r>
            <a:r>
              <a:rPr lang="en-US" dirty="0" smtClean="0">
                <a:solidFill>
                  <a:srgbClr val="FFFFFF"/>
                </a:solidFill>
                <a:latin typeface="Courier"/>
                <a:cs typeface="Courier"/>
              </a:rPr>
              <a:t>().   In others words, if the call to </a:t>
            </a:r>
            <a:r>
              <a:rPr lang="en-US" dirty="0" err="1" smtClean="0">
                <a:solidFill>
                  <a:srgbClr val="FFFFFF"/>
                </a:solidFill>
                <a:latin typeface="Courier"/>
                <a:cs typeface="Courier"/>
              </a:rPr>
              <a:t>doSomethingWithOneAddress</a:t>
            </a:r>
            <a:r>
              <a:rPr lang="en-US" dirty="0" smtClean="0">
                <a:solidFill>
                  <a:srgbClr val="FFFFFF"/>
                </a:solidFill>
                <a:latin typeface="Courier"/>
                <a:cs typeface="Courier"/>
              </a:rPr>
              <a:t>()</a:t>
            </a:r>
            <a:r>
              <a:rPr lang="en-US" baseline="0" dirty="0" smtClean="0">
                <a:solidFill>
                  <a:srgbClr val="FFFFFF"/>
                </a:solidFill>
                <a:latin typeface="Courier"/>
                <a:cs typeface="Courier"/>
              </a:rPr>
              <a:t> exists in code – the call NOT the one implementation -- then BOTH the SQL statement and the thing that converts it into a useful object  (located hopefully nearby)   have to be modified.   This potentially is a large undertaking!</a:t>
            </a:r>
            <a:endParaRPr lang="en-US" baseline="0"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20</a:t>
            </a:fld>
            <a:endParaRPr lang="en-US"/>
          </a:p>
        </p:txBody>
      </p:sp>
    </p:spTree>
    <p:extLst>
      <p:ext uri="{BB962C8B-B14F-4D97-AF65-F5344CB8AC3E}">
        <p14:creationId xmlns:p14="http://schemas.microsoft.com/office/powerpoint/2010/main" val="10684858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problem is magnified by the number of</a:t>
            </a:r>
            <a:r>
              <a:rPr lang="en-US" baseline="0" dirty="0" smtClean="0"/>
              <a:t> addresses that you may be pulling out.</a:t>
            </a:r>
          </a:p>
          <a:p>
            <a:endParaRPr lang="en-US" baseline="0" dirty="0" smtClean="0"/>
          </a:p>
          <a:p>
            <a:r>
              <a:rPr lang="en-US" baseline="0" dirty="0" smtClean="0"/>
              <a:t>In SQL and rectangles, you have to track down everything that looks like it is part of an address and ALTER TABLE and add columns to the select statements.</a:t>
            </a:r>
          </a:p>
          <a:p>
            <a:endParaRPr lang="en-US" baseline="0" dirty="0" smtClean="0"/>
          </a:p>
          <a:p>
            <a:r>
              <a:rPr lang="en-US" baseline="0" dirty="0" smtClean="0"/>
              <a:t>In </a:t>
            </a:r>
            <a:r>
              <a:rPr lang="en-US" baseline="0" dirty="0" err="1" smtClean="0"/>
              <a:t>MongoDB</a:t>
            </a:r>
            <a:r>
              <a:rPr lang="en-US" baseline="0" dirty="0" smtClean="0"/>
              <a:t> and Documents, the additional material is automatically collected and flowed downstream with no DDL or compile time entanglements.</a:t>
            </a:r>
          </a:p>
          <a:p>
            <a:r>
              <a:rPr lang="en-US" baseline="0" dirty="0" smtClean="0"/>
              <a:t>We’ll see in a moment how Lists in Documents make this easier still!</a:t>
            </a:r>
          </a:p>
        </p:txBody>
      </p:sp>
      <p:sp>
        <p:nvSpPr>
          <p:cNvPr id="4" name="Slide Number Placeholder 3"/>
          <p:cNvSpPr>
            <a:spLocks noGrp="1"/>
          </p:cNvSpPr>
          <p:nvPr>
            <p:ph type="sldNum" sz="quarter" idx="10"/>
          </p:nvPr>
        </p:nvSpPr>
        <p:spPr/>
        <p:txBody>
          <a:bodyPr/>
          <a:lstStyle/>
          <a:p>
            <a:fld id="{4127CFAD-63D9-427B-9EB5-780FF78F24D4}" type="slidenum">
              <a:rPr lang="en-US" smtClean="0"/>
              <a:t>21</a:t>
            </a:fld>
            <a:endParaRPr lang="en-US"/>
          </a:p>
        </p:txBody>
      </p:sp>
    </p:spTree>
    <p:extLst>
      <p:ext uri="{BB962C8B-B14F-4D97-AF65-F5344CB8AC3E}">
        <p14:creationId xmlns:p14="http://schemas.microsoft.com/office/powerpoint/2010/main" val="10684858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summarize one-to-one relationships.</a:t>
            </a:r>
          </a:p>
          <a:p>
            <a:r>
              <a:rPr lang="en-US" dirty="0" smtClean="0"/>
              <a:t>Read performance</a:t>
            </a:r>
            <a:r>
              <a:rPr lang="en-US" baseline="0" dirty="0" smtClean="0"/>
              <a:t> – especially for complex shapes of documents that otherwise would entail </a:t>
            </a:r>
            <a:r>
              <a:rPr lang="en-US" baseline="0" dirty="0" err="1" smtClean="0"/>
              <a:t>multiway</a:t>
            </a:r>
            <a:r>
              <a:rPr lang="en-US" baseline="0" dirty="0" smtClean="0"/>
              <a:t> JOINs -- is optimized because we only need a single query and a single disk/memory hit..</a:t>
            </a:r>
          </a:p>
          <a:p>
            <a:endParaRPr lang="en-US" baseline="0" dirty="0" smtClean="0"/>
          </a:p>
          <a:p>
            <a:r>
              <a:rPr lang="en-US" baseline="0" dirty="0" err="1" smtClean="0"/>
              <a:t>MongoDB</a:t>
            </a:r>
            <a:r>
              <a:rPr lang="en-US" baseline="0" dirty="0" smtClean="0"/>
              <a:t> is especially useful in dealing with 1:1 belongs-to relationships </a:t>
            </a:r>
          </a:p>
          <a:p>
            <a:r>
              <a:rPr lang="en-US" baseline="0" dirty="0" smtClean="0"/>
              <a:t>Not every non-scalar datum is going to force you to create a new table, a foreign key, and key management.</a:t>
            </a:r>
          </a:p>
          <a:p>
            <a:endParaRPr lang="en-US" baseline="0" dirty="0" smtClean="0"/>
          </a:p>
          <a:p>
            <a:r>
              <a:rPr lang="en-US" baseline="0" dirty="0" smtClean="0"/>
              <a:t>It keeps simple things simple.</a:t>
            </a:r>
          </a:p>
          <a:p>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22</a:t>
            </a:fld>
            <a:endParaRPr lang="en-US"/>
          </a:p>
        </p:txBody>
      </p:sp>
    </p:spTree>
    <p:extLst>
      <p:ext uri="{BB962C8B-B14F-4D97-AF65-F5344CB8AC3E}">
        <p14:creationId xmlns:p14="http://schemas.microsoft.com/office/powerpoint/2010/main" val="18775923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Business Requirements Change!</a:t>
            </a:r>
          </a:p>
          <a:p>
            <a:endParaRPr lang="en-US" baseline="0" dirty="0" smtClean="0"/>
          </a:p>
          <a:p>
            <a:r>
              <a:rPr lang="en-US" baseline="0" dirty="0" smtClean="0"/>
              <a:t>People may have more than one address.</a:t>
            </a:r>
          </a:p>
          <a:p>
            <a:r>
              <a:rPr lang="en-US" baseline="0" dirty="0" smtClean="0"/>
              <a:t>And:  we acknowledge that the legacy practice of assuming some small number of instances and flattening out addresses into address1 and address2 is bound to bump up against a situation where someone has 3 addresses. </a:t>
            </a:r>
          </a:p>
          <a:p>
            <a:r>
              <a:rPr lang="en-US" baseline="0" dirty="0" smtClean="0"/>
              <a:t>We’ve seen where that leads traditional schema design.</a:t>
            </a:r>
          </a:p>
          <a:p>
            <a:r>
              <a:rPr lang="en-US" baseline="0" dirty="0" smtClean="0"/>
              <a:t>We don’t want to repeat it.</a:t>
            </a:r>
          </a:p>
        </p:txBody>
      </p:sp>
      <p:sp>
        <p:nvSpPr>
          <p:cNvPr id="4" name="Slide Number Placeholder 3"/>
          <p:cNvSpPr>
            <a:spLocks noGrp="1"/>
          </p:cNvSpPr>
          <p:nvPr>
            <p:ph type="sldNum" sz="quarter" idx="10"/>
          </p:nvPr>
        </p:nvSpPr>
        <p:spPr/>
        <p:txBody>
          <a:bodyPr/>
          <a:lstStyle/>
          <a:p>
            <a:fld id="{4127CFAD-63D9-427B-9EB5-780FF78F24D4}" type="slidenum">
              <a:rPr lang="en-US" smtClean="0"/>
              <a:t>23</a:t>
            </a:fld>
            <a:endParaRPr lang="en-US"/>
          </a:p>
        </p:txBody>
      </p:sp>
    </p:spTree>
    <p:extLst>
      <p:ext uri="{BB962C8B-B14F-4D97-AF65-F5344CB8AC3E}">
        <p14:creationId xmlns:p14="http://schemas.microsoft.com/office/powerpoint/2010/main" val="142286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just model </a:t>
            </a:r>
            <a:r>
              <a:rPr lang="en-US" baseline="0" dirty="0" smtClean="0"/>
              <a:t>addresses as an array.</a:t>
            </a:r>
          </a:p>
          <a:p>
            <a:r>
              <a:rPr lang="en-US" baseline="0" dirty="0" smtClean="0"/>
              <a:t>That was easy.</a:t>
            </a:r>
          </a:p>
          <a:p>
            <a:r>
              <a:rPr lang="en-US" baseline="0" dirty="0" smtClean="0"/>
              <a:t>No need to create a new table, set up foreign keys, do key management, etc.</a:t>
            </a:r>
          </a:p>
          <a:p>
            <a:r>
              <a:rPr lang="en-US" baseline="0" dirty="0" smtClean="0"/>
              <a:t>We combine the power of arrays with substructures.</a:t>
            </a:r>
          </a:p>
          <a:p>
            <a:r>
              <a:rPr lang="en-US" baseline="0" dirty="0" smtClean="0"/>
              <a:t>At times it takes longer to describe the change than it does to implement it and have it available as part of the information architecture including querying and indexing.</a:t>
            </a:r>
          </a:p>
          <a:p>
            <a:endParaRPr lang="en-US" baseline="0" dirty="0" smtClean="0"/>
          </a:p>
          <a:p>
            <a:r>
              <a:rPr lang="en-US" baseline="0" dirty="0" smtClean="0"/>
              <a:t>And again, these rich structures are presented in the client side driver as Lists, Maps, dictionaries, arrays and other high-fidelity types.</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24</a:t>
            </a:fld>
            <a:endParaRPr lang="en-US"/>
          </a:p>
        </p:txBody>
      </p:sp>
    </p:spTree>
    <p:extLst>
      <p:ext uri="{BB962C8B-B14F-4D97-AF65-F5344CB8AC3E}">
        <p14:creationId xmlns:p14="http://schemas.microsoft.com/office/powerpoint/2010/main" val="40808615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suppose this design</a:t>
            </a:r>
            <a:r>
              <a:rPr lang="en-US" baseline="0" dirty="0" smtClean="0"/>
              <a:t> change occurred on Day 2, after the system was placed into production.</a:t>
            </a:r>
            <a:endParaRPr lang="en-US" dirty="0" smtClean="0"/>
          </a:p>
          <a:p>
            <a:r>
              <a:rPr lang="en-US" dirty="0" smtClean="0"/>
              <a:t>What about the old documents</a:t>
            </a:r>
            <a:r>
              <a:rPr lang="en-US" baseline="0" dirty="0" smtClean="0"/>
              <a:t> that had address, not addresses?</a:t>
            </a:r>
          </a:p>
          <a:p>
            <a:r>
              <a:rPr lang="en-US" baseline="0" dirty="0" smtClean="0"/>
              <a:t>There are 2 aspects to this issue.</a:t>
            </a:r>
            <a:endParaRPr lang="en-US" dirty="0" smtClean="0"/>
          </a:p>
          <a:p>
            <a:pPr marL="228600" indent="-228600">
              <a:buAutoNum type="arabicPeriod"/>
            </a:pPr>
            <a:r>
              <a:rPr lang="en-US" dirty="0" smtClean="0"/>
              <a:t>The </a:t>
            </a:r>
            <a:r>
              <a:rPr lang="en-US" dirty="0" err="1" smtClean="0"/>
              <a:t>MongoDB</a:t>
            </a:r>
            <a:r>
              <a:rPr lang="en-US" baseline="0" dirty="0" smtClean="0"/>
              <a:t> paradigm is that the code layer just above the DB is responsible for managing these types of things.    The same code that is responsible for the higher-level business validation and verification is also responsible for selectively using (both on a read and write basis) the address or addresses field.</a:t>
            </a:r>
          </a:p>
          <a:p>
            <a:pPr marL="228600" indent="-228600">
              <a:buAutoNum type="arabicPeriod"/>
            </a:pPr>
            <a:r>
              <a:rPr lang="en-US" baseline="0" dirty="0" smtClean="0"/>
              <a:t>There are several migration strategies that one could employ in conjunction with functionality at the code layer.</a:t>
            </a:r>
          </a:p>
          <a:p>
            <a:pPr marL="0" indent="0">
              <a:buNone/>
            </a:pPr>
            <a:endParaRPr lang="en-US" baseline="0" dirty="0" smtClean="0"/>
          </a:p>
          <a:p>
            <a:pPr marL="0" indent="0">
              <a:buNone/>
            </a:pPr>
            <a:r>
              <a:rPr lang="en-US" baseline="0" dirty="0" smtClean="0"/>
              <a:t>Remember, Thinking In Documents means thinking about documents with varying shapes.</a:t>
            </a:r>
          </a:p>
        </p:txBody>
      </p:sp>
      <p:sp>
        <p:nvSpPr>
          <p:cNvPr id="4" name="Slide Number Placeholder 3"/>
          <p:cNvSpPr>
            <a:spLocks noGrp="1"/>
          </p:cNvSpPr>
          <p:nvPr>
            <p:ph type="sldNum" sz="quarter" idx="10"/>
          </p:nvPr>
        </p:nvSpPr>
        <p:spPr/>
        <p:txBody>
          <a:bodyPr/>
          <a:lstStyle/>
          <a:p>
            <a:fld id="{4127CFAD-63D9-427B-9EB5-780FF78F24D4}" type="slidenum">
              <a:rPr lang="en-US" smtClean="0"/>
              <a:t>25</a:t>
            </a:fld>
            <a:endParaRPr lang="en-US"/>
          </a:p>
        </p:txBody>
      </p:sp>
    </p:spTree>
    <p:extLst>
      <p:ext uri="{BB962C8B-B14F-4D97-AF65-F5344CB8AC3E}">
        <p14:creationId xmlns:p14="http://schemas.microsoft.com/office/powerpoint/2010/main" val="34135915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Migrate on release:   If address exists, write into new array of size 1 of new fields addresses and remove</a:t>
            </a:r>
            <a:r>
              <a:rPr lang="en-US" baseline="0" dirty="0" smtClean="0"/>
              <a:t> address field.</a:t>
            </a:r>
          </a:p>
          <a:p>
            <a:endParaRPr lang="en-US" baseline="0"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26</a:t>
            </a:fld>
            <a:endParaRPr lang="en-US"/>
          </a:p>
        </p:txBody>
      </p:sp>
    </p:spTree>
    <p:extLst>
      <p:ext uri="{BB962C8B-B14F-4D97-AF65-F5344CB8AC3E}">
        <p14:creationId xmlns:p14="http://schemas.microsoft.com/office/powerpoint/2010/main" val="10684858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When we say “let the code deal with it” we mean something like this.</a:t>
            </a:r>
          </a:p>
          <a:p>
            <a:r>
              <a:rPr lang="en-US" baseline="0" dirty="0" smtClean="0"/>
              <a:t>The Data Access Layer code in cooperation with the Document model significantly eases Day 2 information architecture change.</a:t>
            </a:r>
          </a:p>
          <a:p>
            <a:r>
              <a:rPr lang="en-US" baseline="0" dirty="0" smtClean="0"/>
              <a:t>And again, this is an important aspect of Thinking In Documents.</a:t>
            </a:r>
          </a:p>
        </p:txBody>
      </p:sp>
      <p:sp>
        <p:nvSpPr>
          <p:cNvPr id="4" name="Slide Number Placeholder 3"/>
          <p:cNvSpPr>
            <a:spLocks noGrp="1"/>
          </p:cNvSpPr>
          <p:nvPr>
            <p:ph type="sldNum" sz="quarter" idx="10"/>
          </p:nvPr>
        </p:nvSpPr>
        <p:spPr/>
        <p:txBody>
          <a:bodyPr/>
          <a:lstStyle/>
          <a:p>
            <a:fld id="{4127CFAD-63D9-427B-9EB5-780FF78F24D4}" type="slidenum">
              <a:rPr lang="en-US" smtClean="0"/>
              <a:t>27</a:t>
            </a:fld>
            <a:endParaRPr lang="en-US"/>
          </a:p>
        </p:txBody>
      </p:sp>
    </p:spTree>
    <p:extLst>
      <p:ext uri="{BB962C8B-B14F-4D97-AF65-F5344CB8AC3E}">
        <p14:creationId xmlns:p14="http://schemas.microsoft.com/office/powerpoint/2010/main" val="10684858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Moving</a:t>
            </a:r>
            <a:r>
              <a:rPr lang="en-US" baseline="0" dirty="0" smtClean="0"/>
              <a:t> on, let’s look at another relationship in our emerging information architecture:  publisher and books.</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28</a:t>
            </a:fld>
            <a:endParaRPr lang="en-US"/>
          </a:p>
        </p:txBody>
      </p:sp>
    </p:spTree>
    <p:extLst>
      <p:ext uri="{BB962C8B-B14F-4D97-AF65-F5344CB8AC3E}">
        <p14:creationId xmlns:p14="http://schemas.microsoft.com/office/powerpoint/2010/main" val="26208699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Shameless plug!</a:t>
            </a:r>
          </a:p>
          <a:p>
            <a:r>
              <a:rPr lang="en-US" dirty="0" smtClean="0"/>
              <a:t>Note that a book may have</a:t>
            </a:r>
            <a:r>
              <a:rPr lang="en-US" baseline="0" dirty="0" smtClean="0"/>
              <a:t> multiple authors….</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29</a:t>
            </a:fld>
            <a:endParaRPr lang="en-US"/>
          </a:p>
        </p:txBody>
      </p:sp>
    </p:spTree>
    <p:extLst>
      <p:ext uri="{BB962C8B-B14F-4D97-AF65-F5344CB8AC3E}">
        <p14:creationId xmlns:p14="http://schemas.microsoft.com/office/powerpoint/2010/main" val="20542626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Here’s a first</a:t>
            </a:r>
            <a:r>
              <a:rPr lang="en-US" baseline="0" dirty="0" smtClean="0"/>
              <a:t> cut at the design.</a:t>
            </a:r>
          </a:p>
          <a:p>
            <a:r>
              <a:rPr lang="en-US" baseline="0" dirty="0" smtClean="0"/>
              <a:t>Here, the 1:! Belongs-to relationship between book and publisher is not nearly as strong as patron to address</a:t>
            </a:r>
          </a:p>
          <a:p>
            <a:endParaRPr lang="en-US" dirty="0" smtClean="0"/>
          </a:p>
          <a:p>
            <a:r>
              <a:rPr lang="en-US" dirty="0" smtClean="0"/>
              <a:t>But for the moment, let’s choose to duplicate publisher in every book that the publisher has published.  </a:t>
            </a:r>
          </a:p>
          <a:p>
            <a:endParaRPr lang="en-US" dirty="0" smtClean="0"/>
          </a:p>
          <a:p>
            <a:r>
              <a:rPr lang="en-US" dirty="0" smtClean="0"/>
              <a:t>Data duplication</a:t>
            </a:r>
            <a:r>
              <a:rPr lang="en-US" baseline="0" dirty="0" smtClean="0"/>
              <a:t> is OK because the publisher is largely immutable.</a:t>
            </a:r>
          </a:p>
          <a:p>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30</a:t>
            </a:fld>
            <a:endParaRPr lang="en-US"/>
          </a:p>
        </p:txBody>
      </p:sp>
    </p:spTree>
    <p:extLst>
      <p:ext uri="{BB962C8B-B14F-4D97-AF65-F5344CB8AC3E}">
        <p14:creationId xmlns:p14="http://schemas.microsoft.com/office/powerpoint/2010/main" val="4911115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Here’s an even better one:   making the author name more granular by</a:t>
            </a:r>
            <a:r>
              <a:rPr lang="en-US" baseline="0" dirty="0" smtClean="0"/>
              <a:t> making it a substructure with separate first and last name elements.</a:t>
            </a:r>
          </a:p>
          <a:p>
            <a:endParaRPr lang="en-US" baseline="0" dirty="0" smtClean="0"/>
          </a:p>
          <a:p>
            <a:r>
              <a:rPr lang="en-US" baseline="0" dirty="0" smtClean="0"/>
              <a:t>A good rule of thumb is to try to eliminate embedded whitespace or punctuation in a field by breaking it down into substructure.</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31</a:t>
            </a:fld>
            <a:endParaRPr lang="en-US"/>
          </a:p>
        </p:txBody>
      </p:sp>
    </p:spTree>
    <p:extLst>
      <p:ext uri="{BB962C8B-B14F-4D97-AF65-F5344CB8AC3E}">
        <p14:creationId xmlns:p14="http://schemas.microsoft.com/office/powerpoint/2010/main" val="4911115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design will permit</a:t>
            </a:r>
            <a:r>
              <a:rPr lang="en-US" baseline="0" dirty="0" smtClean="0"/>
              <a:t> very high speed display of relevant book information.</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And we can still quickly look up all books for a given publisher.</a:t>
            </a:r>
            <a:endParaRPr lang="en-US"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32</a:t>
            </a:fld>
            <a:endParaRPr lang="en-US"/>
          </a:p>
        </p:txBody>
      </p:sp>
    </p:spTree>
    <p:extLst>
      <p:ext uri="{BB962C8B-B14F-4D97-AF65-F5344CB8AC3E}">
        <p14:creationId xmlns:p14="http://schemas.microsoft.com/office/powerpoint/2010/main" val="8421921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Suppose publisher</a:t>
            </a:r>
            <a:r>
              <a:rPr lang="en-US" baseline="0" dirty="0" smtClean="0"/>
              <a:t> info is not so static.</a:t>
            </a:r>
          </a:p>
          <a:p>
            <a:r>
              <a:rPr lang="en-US" dirty="0" smtClean="0"/>
              <a:t>Maybe we want</a:t>
            </a:r>
            <a:r>
              <a:rPr lang="en-US" baseline="0" dirty="0" smtClean="0"/>
              <a:t> to take a more traditional route and separate publisher information out into it’s own collection.</a:t>
            </a:r>
          </a:p>
          <a:p>
            <a:r>
              <a:rPr lang="en-US" baseline="0" dirty="0" smtClean="0"/>
              <a:t>We need to assign _ids and we’ll use simplified examples here.</a:t>
            </a:r>
          </a:p>
          <a:p>
            <a:r>
              <a:rPr lang="en-US" baseline="0" dirty="0" smtClean="0"/>
              <a:t>Note that in </a:t>
            </a:r>
            <a:r>
              <a:rPr lang="en-US" baseline="0" dirty="0" err="1" smtClean="0"/>
              <a:t>MongoDB</a:t>
            </a:r>
            <a:r>
              <a:rPr lang="en-US" baseline="0" dirty="0" smtClean="0"/>
              <a:t> each document needs a unique _id but it’s not important for today’s talk to get into the advanced topic of _id construction </a:t>
            </a:r>
          </a:p>
          <a:p>
            <a:r>
              <a:rPr lang="en-US" baseline="0" dirty="0" smtClean="0"/>
              <a:t>If you don’t supply one, one will be created automatically.</a:t>
            </a:r>
          </a:p>
          <a:p>
            <a:r>
              <a:rPr lang="en-US" baseline="0" dirty="0" smtClean="0"/>
              <a:t>And here’s a teaser: _id does not have to be a string or number or scalar:  it can be a multi-field substructure!</a:t>
            </a:r>
          </a:p>
          <a:p>
            <a:endParaRPr lang="en-US" baseline="0" dirty="0" smtClean="0"/>
          </a:p>
          <a:p>
            <a:r>
              <a:rPr lang="en-US" baseline="0" dirty="0" smtClean="0"/>
              <a:t>Note that the belongs-to 1:1 relationship of locations carries over nicely without fuss.</a:t>
            </a:r>
          </a:p>
          <a:p>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33</a:t>
            </a:fld>
            <a:endParaRPr lang="en-US"/>
          </a:p>
        </p:txBody>
      </p:sp>
    </p:spTree>
    <p:extLst>
      <p:ext uri="{BB962C8B-B14F-4D97-AF65-F5344CB8AC3E}">
        <p14:creationId xmlns:p14="http://schemas.microsoft.com/office/powerpoint/2010/main" val="36631265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It now takes 2 queries</a:t>
            </a:r>
            <a:r>
              <a:rPr lang="en-US" baseline="0" dirty="0" smtClean="0"/>
              <a:t> to pull the information.</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Now this isn’t the end of the world.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It’s effectively no more </a:t>
            </a:r>
            <a:r>
              <a:rPr lang="en-US" b="1" baseline="0" dirty="0" smtClean="0"/>
              <a:t>code work </a:t>
            </a:r>
            <a:r>
              <a:rPr lang="en-US" baseline="0" dirty="0" smtClean="0"/>
              <a:t>than a JOIN.   Instead of decomposing a </a:t>
            </a:r>
            <a:r>
              <a:rPr lang="en-US" baseline="0" dirty="0" err="1" smtClean="0"/>
              <a:t>resultset</a:t>
            </a:r>
            <a:r>
              <a:rPr lang="en-US" baseline="0" dirty="0" smtClean="0"/>
              <a:t> or passing the result into an ORM, your code layer deals directly with the database.</a:t>
            </a:r>
          </a:p>
        </p:txBody>
      </p:sp>
      <p:sp>
        <p:nvSpPr>
          <p:cNvPr id="4" name="Slide Number Placeholder 3"/>
          <p:cNvSpPr>
            <a:spLocks noGrp="1"/>
          </p:cNvSpPr>
          <p:nvPr>
            <p:ph type="sldNum" sz="quarter" idx="10"/>
          </p:nvPr>
        </p:nvSpPr>
        <p:spPr/>
        <p:txBody>
          <a:bodyPr/>
          <a:lstStyle/>
          <a:p>
            <a:fld id="{4127CFAD-63D9-427B-9EB5-780FF78F24D4}" type="slidenum">
              <a:rPr lang="en-US" smtClean="0"/>
              <a:t>34</a:t>
            </a:fld>
            <a:endParaRPr lang="en-US"/>
          </a:p>
        </p:txBody>
      </p:sp>
    </p:spTree>
    <p:extLst>
      <p:ext uri="{BB962C8B-B14F-4D97-AF65-F5344CB8AC3E}">
        <p14:creationId xmlns:p14="http://schemas.microsoft.com/office/powerpoint/2010/main" val="36991577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If we want to get more than</a:t>
            </a:r>
            <a:r>
              <a:rPr lang="en-US" baseline="0" dirty="0" smtClean="0"/>
              <a:t> one book, no problem.</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Get the books and as you’re processing the book data, capture the publisher ID.</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store it in a map to remove duplicate IDs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Then we turn aroun</a:t>
            </a:r>
            <a:r>
              <a:rPr lang="en-US" baseline="0" dirty="0" smtClean="0"/>
              <a:t>d and do an efficient lookup by primary key into the publishers collection.   This works well regardless of whether the list is 1 long or 10,000.</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This is effectively the multi value JOIN.    And of course the approach applies to linking any number of collections, not just the 2 we see here.</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In </a:t>
            </a:r>
            <a:r>
              <a:rPr lang="en-US" baseline="0" dirty="0" err="1" smtClean="0"/>
              <a:t>MongoDB</a:t>
            </a:r>
            <a:r>
              <a:rPr lang="en-US" baseline="0" dirty="0" smtClean="0"/>
              <a:t>, the application assembles material from multiple queries.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Before the chat window lights up with all sorts of questions and rage, let’s do a quick compare and contrast to SQL.</a:t>
            </a:r>
          </a:p>
        </p:txBody>
      </p:sp>
      <p:sp>
        <p:nvSpPr>
          <p:cNvPr id="4" name="Slide Number Placeholder 3"/>
          <p:cNvSpPr>
            <a:spLocks noGrp="1"/>
          </p:cNvSpPr>
          <p:nvPr>
            <p:ph type="sldNum" sz="quarter" idx="10"/>
          </p:nvPr>
        </p:nvSpPr>
        <p:spPr/>
        <p:txBody>
          <a:bodyPr/>
          <a:lstStyle/>
          <a:p>
            <a:fld id="{4127CFAD-63D9-427B-9EB5-780FF78F24D4}" type="slidenum">
              <a:rPr lang="en-US" smtClean="0"/>
              <a:t>35</a:t>
            </a:fld>
            <a:endParaRPr lang="en-US"/>
          </a:p>
        </p:txBody>
      </p:sp>
    </p:spTree>
    <p:extLst>
      <p:ext uri="{BB962C8B-B14F-4D97-AF65-F5344CB8AC3E}">
        <p14:creationId xmlns:p14="http://schemas.microsoft.com/office/powerpoint/2010/main" val="36991577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This example should be straightforward to most of you.</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As you know, the basic behavior of JOIN has some subtle issues:</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US" baseline="0" dirty="0" smtClean="0"/>
              <a:t>The </a:t>
            </a:r>
            <a:r>
              <a:rPr lang="en-US" baseline="0" dirty="0" err="1" smtClean="0"/>
              <a:t>cartesian</a:t>
            </a:r>
            <a:r>
              <a:rPr lang="en-US" baseline="0" dirty="0" smtClean="0"/>
              <a:t> product in the </a:t>
            </a:r>
            <a:r>
              <a:rPr lang="en-US" baseline="0" dirty="0" err="1" smtClean="0"/>
              <a:t>ResultSet</a:t>
            </a:r>
            <a:r>
              <a:rPr lang="en-US" baseline="0" dirty="0" smtClean="0"/>
              <a:t> is a giant rectangle containing repeating column values; you have to do something to change that into a form well-</a:t>
            </a:r>
            <a:r>
              <a:rPr lang="en-US" baseline="0" dirty="0" err="1" smtClean="0"/>
              <a:t>digestable</a:t>
            </a:r>
            <a:r>
              <a:rPr lang="en-US" baseline="0" dirty="0" smtClean="0"/>
              <a:t> by your  application.</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US" baseline="0" dirty="0" smtClean="0"/>
              <a:t>Depending on the amount of </a:t>
            </a:r>
            <a:r>
              <a:rPr lang="en-US" baseline="0" dirty="0" err="1" smtClean="0"/>
              <a:t>JOINed</a:t>
            </a:r>
            <a:r>
              <a:rPr lang="en-US" baseline="0" dirty="0" smtClean="0"/>
              <a:t> columns and the cardinality, you could be redundantly dragging LOTS of data across the network.</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US" baseline="0" dirty="0" smtClean="0"/>
              <a:t>And on top of it all, it’s hard to deal with Giant Rectangle efficiently because the </a:t>
            </a:r>
            <a:r>
              <a:rPr lang="en-US" baseline="0" dirty="0" err="1" smtClean="0"/>
              <a:t>JOINed</a:t>
            </a:r>
            <a:r>
              <a:rPr lang="en-US" baseline="0" dirty="0" smtClean="0"/>
              <a:t> data is jumping around.</a:t>
            </a:r>
          </a:p>
        </p:txBody>
      </p:sp>
      <p:sp>
        <p:nvSpPr>
          <p:cNvPr id="4" name="Slide Number Placeholder 3"/>
          <p:cNvSpPr>
            <a:spLocks noGrp="1"/>
          </p:cNvSpPr>
          <p:nvPr>
            <p:ph type="sldNum" sz="quarter" idx="10"/>
          </p:nvPr>
        </p:nvSpPr>
        <p:spPr/>
        <p:txBody>
          <a:bodyPr/>
          <a:lstStyle/>
          <a:p>
            <a:fld id="{4127CFAD-63D9-427B-9EB5-780FF78F24D4}" type="slidenum">
              <a:rPr lang="en-US" smtClean="0"/>
              <a:t>36</a:t>
            </a:fld>
            <a:endParaRPr lang="en-US"/>
          </a:p>
        </p:txBody>
      </p:sp>
    </p:spTree>
    <p:extLst>
      <p:ext uri="{BB962C8B-B14F-4D97-AF65-F5344CB8AC3E}">
        <p14:creationId xmlns:p14="http://schemas.microsoft.com/office/powerpoint/2010/main" val="36991577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This leads us to run things through ORDER BY so that we can now more easily deal with the Giant Rectangle.</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What does this do to performance?</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What if it’s more than a 2 way JOIN?  4 or 8 way?</a:t>
            </a:r>
          </a:p>
        </p:txBody>
      </p:sp>
      <p:sp>
        <p:nvSpPr>
          <p:cNvPr id="4" name="Slide Number Placeholder 3"/>
          <p:cNvSpPr>
            <a:spLocks noGrp="1"/>
          </p:cNvSpPr>
          <p:nvPr>
            <p:ph type="sldNum" sz="quarter" idx="10"/>
          </p:nvPr>
        </p:nvSpPr>
        <p:spPr/>
        <p:txBody>
          <a:bodyPr/>
          <a:lstStyle/>
          <a:p>
            <a:fld id="{4127CFAD-63D9-427B-9EB5-780FF78F24D4}" type="slidenum">
              <a:rPr lang="en-US" smtClean="0"/>
              <a:t>37</a:t>
            </a:fld>
            <a:endParaRPr lang="en-US"/>
          </a:p>
        </p:txBody>
      </p:sp>
    </p:spTree>
    <p:extLst>
      <p:ext uri="{BB962C8B-B14F-4D97-AF65-F5344CB8AC3E}">
        <p14:creationId xmlns:p14="http://schemas.microsoft.com/office/powerpoint/2010/main" val="36991577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the end, for any</a:t>
            </a:r>
            <a:r>
              <a:rPr lang="en-US" baseline="0" dirty="0" smtClean="0"/>
              <a:t>thing except the most trivial of JOINs, the amount of work required to unwind or disassemble the Giant Rectangle is largely the same amount of code as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It takes for </a:t>
            </a:r>
            <a:r>
              <a:rPr lang="en-US" baseline="0" dirty="0" err="1" smtClean="0"/>
              <a:t>MongoDB</a:t>
            </a:r>
            <a:r>
              <a:rPr lang="en-US" baseline="0" dirty="0" smtClean="0"/>
              <a:t> to assemble material.</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For sophisticated queries to complex shapes, it could be argued that assembly is both easier to write AND maintain Day 2.</a:t>
            </a:r>
          </a:p>
        </p:txBody>
      </p:sp>
      <p:sp>
        <p:nvSpPr>
          <p:cNvPr id="4" name="Slide Number Placeholder 3"/>
          <p:cNvSpPr>
            <a:spLocks noGrp="1"/>
          </p:cNvSpPr>
          <p:nvPr>
            <p:ph type="sldNum" sz="quarter" idx="10"/>
          </p:nvPr>
        </p:nvSpPr>
        <p:spPr/>
        <p:txBody>
          <a:bodyPr/>
          <a:lstStyle/>
          <a:p>
            <a:fld id="{4127CFAD-63D9-427B-9EB5-780FF78F24D4}" type="slidenum">
              <a:rPr lang="en-US" smtClean="0"/>
              <a:t>38</a:t>
            </a:fld>
            <a:endParaRPr lang="en-US"/>
          </a:p>
        </p:txBody>
      </p:sp>
    </p:spTree>
    <p:extLst>
      <p:ext uri="{BB962C8B-B14F-4D97-AF65-F5344CB8AC3E}">
        <p14:creationId xmlns:p14="http://schemas.microsoft.com/office/powerpoint/2010/main" val="36991577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design will permit</a:t>
            </a:r>
            <a:r>
              <a:rPr lang="en-US" baseline="0" dirty="0" smtClean="0"/>
              <a:t> very high speed display of relevant book information.</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And we can still quickly look up all books for a given publisher.</a:t>
            </a:r>
            <a:endParaRPr lang="en-US"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39</a:t>
            </a:fld>
            <a:endParaRPr lang="en-US"/>
          </a:p>
        </p:txBody>
      </p:sp>
    </p:spTree>
    <p:extLst>
      <p:ext uri="{BB962C8B-B14F-4D97-AF65-F5344CB8AC3E}">
        <p14:creationId xmlns:p14="http://schemas.microsoft.com/office/powerpoint/2010/main" val="8421921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have already seen a way to do this :    by performing a find()</a:t>
            </a:r>
            <a:r>
              <a:rPr lang="en-US" baseline="0" dirty="0" smtClean="0"/>
              <a:t> on the Books collection with a particular publisher name OR publisher ID.</a:t>
            </a:r>
          </a:p>
          <a:p>
            <a:r>
              <a:rPr lang="en-US" baseline="0" dirty="0" smtClean="0"/>
              <a:t>But is there another way?</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40</a:t>
            </a:fld>
            <a:endParaRPr lang="en-US"/>
          </a:p>
        </p:txBody>
      </p:sp>
    </p:spTree>
    <p:extLst>
      <p:ext uri="{BB962C8B-B14F-4D97-AF65-F5344CB8AC3E}">
        <p14:creationId xmlns:p14="http://schemas.microsoft.com/office/powerpoint/2010/main" val="22617065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much as arrays </a:t>
            </a:r>
            <a:r>
              <a:rPr lang="en-US" baseline="0" dirty="0" smtClean="0"/>
              <a:t>are very useful in </a:t>
            </a:r>
            <a:r>
              <a:rPr lang="en-US" baseline="0" dirty="0" err="1" smtClean="0"/>
              <a:t>MongoDB</a:t>
            </a:r>
            <a:r>
              <a:rPr lang="en-US" baseline="0" dirty="0" smtClean="0"/>
              <a:t>, beware of the temptation to treat them as “rows.”</a:t>
            </a:r>
          </a:p>
          <a:p>
            <a:r>
              <a:rPr lang="en-US" dirty="0" smtClean="0"/>
              <a:t>Arrays should</a:t>
            </a:r>
            <a:r>
              <a:rPr lang="en-US" baseline="0" dirty="0" smtClean="0"/>
              <a:t> be “slow-growing” and not without a reasonable bound.</a:t>
            </a:r>
            <a:endParaRPr lang="en-US" baseline="0" dirty="0"/>
          </a:p>
          <a:p>
            <a:r>
              <a:rPr lang="en-US" baseline="0" dirty="0" smtClean="0"/>
              <a:t>For example, you wouldn’t carry system of record customer transactions as a array inside the customer.</a:t>
            </a:r>
          </a:p>
          <a:p>
            <a:r>
              <a:rPr lang="en-US" baseline="0" dirty="0" smtClean="0"/>
              <a:t>You MIGHT, however, for the purposes of speed at scale, duplicate the last 3 transactions as an array in the customer record – but that array is not growing without bound.</a:t>
            </a:r>
          </a:p>
          <a:p>
            <a:endParaRPr lang="en-US" baseline="0" dirty="0" smtClean="0"/>
          </a:p>
          <a:p>
            <a:r>
              <a:rPr lang="en-US" baseline="0" dirty="0" smtClean="0"/>
              <a:t>From an underlying technology basis, this is less of an issue now with the </a:t>
            </a:r>
            <a:r>
              <a:rPr lang="en-US" baseline="0" dirty="0" err="1" smtClean="0"/>
              <a:t>WiredTiger</a:t>
            </a:r>
            <a:r>
              <a:rPr lang="en-US" baseline="0" dirty="0" smtClean="0"/>
              <a:t> storage engine available in 3.0 but you should still be mindful of it.</a:t>
            </a:r>
          </a:p>
          <a:p>
            <a:endParaRPr lang="en-US" baseline="0"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41</a:t>
            </a:fld>
            <a:endParaRPr lang="en-US"/>
          </a:p>
        </p:txBody>
      </p:sp>
    </p:spTree>
    <p:extLst>
      <p:ext uri="{BB962C8B-B14F-4D97-AF65-F5344CB8AC3E}">
        <p14:creationId xmlns:p14="http://schemas.microsoft.com/office/powerpoint/2010/main" val="11919507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our schema is evolving, we’re beginning to see</a:t>
            </a:r>
            <a:r>
              <a:rPr lang="en-US" baseline="0" dirty="0" smtClean="0"/>
              <a:t> that an increasing number of questions can be efficiently answered by existing set of entities and relationships.</a:t>
            </a:r>
          </a:p>
          <a:p>
            <a:r>
              <a:rPr lang="en-US" baseline="0" dirty="0" smtClean="0"/>
              <a:t>This holds for authors; recall we set up the substructure of first and last names.    But suppose we want more detail on an author?</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42</a:t>
            </a:fld>
            <a:endParaRPr lang="en-US"/>
          </a:p>
        </p:txBody>
      </p:sp>
    </p:spTree>
    <p:extLst>
      <p:ext uri="{BB962C8B-B14F-4D97-AF65-F5344CB8AC3E}">
        <p14:creationId xmlns:p14="http://schemas.microsoft.com/office/powerpoint/2010/main" val="7045361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go ahead</a:t>
            </a:r>
            <a:r>
              <a:rPr lang="en-US" baseline="0" dirty="0" smtClean="0"/>
              <a:t> and create the Authors collection and link to it with a Author ID.</a:t>
            </a:r>
            <a:endParaRPr lang="en-US" baseline="0" dirty="0"/>
          </a:p>
          <a:p>
            <a:r>
              <a:rPr lang="en-US" baseline="0" dirty="0" smtClean="0"/>
              <a:t>Yes, we are using some fancier code here to extract the author IDs but in the end, it is still only 2 queries.</a:t>
            </a:r>
          </a:p>
          <a:p>
            <a:r>
              <a:rPr lang="en-US" baseline="0" dirty="0" smtClean="0"/>
              <a:t>The fancy code here is using a map() operation to extract just the author IDs which will be passed along to the $in operator </a:t>
            </a:r>
          </a:p>
          <a:p>
            <a:r>
              <a:rPr lang="en-US" baseline="0" dirty="0" smtClean="0"/>
              <a:t>The authors documents contain all sorts of information about each author.</a:t>
            </a:r>
          </a:p>
          <a:p>
            <a:r>
              <a:rPr lang="en-US" baseline="0" dirty="0" smtClean="0"/>
              <a:t>We have left the first and last names in the books document for the purposes of speed</a:t>
            </a:r>
          </a:p>
          <a:p>
            <a:r>
              <a:rPr lang="en-US" baseline="0" dirty="0" smtClean="0"/>
              <a:t>But we could get rid of them if we wanted.</a:t>
            </a:r>
          </a:p>
          <a:p>
            <a:r>
              <a:rPr lang="en-US" baseline="0" dirty="0" smtClean="0"/>
              <a:t>It is a choice of integrity vs. speed of retrieval.</a:t>
            </a:r>
          </a:p>
        </p:txBody>
      </p:sp>
      <p:sp>
        <p:nvSpPr>
          <p:cNvPr id="4" name="Slide Number Placeholder 3"/>
          <p:cNvSpPr>
            <a:spLocks noGrp="1"/>
          </p:cNvSpPr>
          <p:nvPr>
            <p:ph type="sldNum" sz="quarter" idx="10"/>
          </p:nvPr>
        </p:nvSpPr>
        <p:spPr/>
        <p:txBody>
          <a:bodyPr/>
          <a:lstStyle/>
          <a:p>
            <a:fld id="{4127CFAD-63D9-427B-9EB5-780FF78F24D4}" type="slidenum">
              <a:rPr lang="en-US" smtClean="0"/>
              <a:t>43</a:t>
            </a:fld>
            <a:endParaRPr lang="en-US"/>
          </a:p>
        </p:txBody>
      </p:sp>
    </p:spTree>
    <p:extLst>
      <p:ext uri="{BB962C8B-B14F-4D97-AF65-F5344CB8AC3E}">
        <p14:creationId xmlns:p14="http://schemas.microsoft.com/office/powerpoint/2010/main" val="29947027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Inevitably,</a:t>
            </a:r>
            <a:r>
              <a:rPr lang="en-US" baseline="0" dirty="0" smtClean="0"/>
              <a:t> we turn the question around and start to expose ourselves to the MANY-TO-MANY problem.</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44</a:t>
            </a:fld>
            <a:endParaRPr lang="en-US"/>
          </a:p>
        </p:txBody>
      </p:sp>
    </p:spTree>
    <p:extLst>
      <p:ext uri="{BB962C8B-B14F-4D97-AF65-F5344CB8AC3E}">
        <p14:creationId xmlns:p14="http://schemas.microsoft.com/office/powerpoint/2010/main" val="30212568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Here’s one way to do it:</a:t>
            </a:r>
            <a:r>
              <a:rPr lang="en-US" baseline="0" dirty="0"/>
              <a:t> </a:t>
            </a:r>
            <a:r>
              <a:rPr lang="en-US" baseline="0" dirty="0" smtClean="0"/>
              <a:t>  Acknowledging that most authors are not </a:t>
            </a:r>
            <a:r>
              <a:rPr lang="en-US" baseline="0" dirty="0" err="1" smtClean="0"/>
              <a:t>steven</a:t>
            </a:r>
            <a:r>
              <a:rPr lang="en-US" baseline="0" dirty="0" smtClean="0"/>
              <a:t> king or </a:t>
            </a:r>
            <a:r>
              <a:rPr lang="en-US" baseline="0" dirty="0" err="1" smtClean="0"/>
              <a:t>danielle</a:t>
            </a:r>
            <a:r>
              <a:rPr lang="en-US" baseline="0" dirty="0" smtClean="0"/>
              <a:t> </a:t>
            </a:r>
            <a:r>
              <a:rPr lang="en-US" baseline="0" dirty="0" err="1" smtClean="0"/>
              <a:t>steele</a:t>
            </a:r>
            <a:r>
              <a:rPr lang="en-US" baseline="0" dirty="0" smtClean="0"/>
              <a:t> and have something of upper bound on the books they’ve written, we can doubly link the books and authors collection.</a:t>
            </a:r>
          </a:p>
          <a:p>
            <a:endParaRPr lang="en-US" baseline="0" dirty="0" smtClean="0"/>
          </a:p>
          <a:p>
            <a:r>
              <a:rPr lang="en-US" baseline="0" dirty="0" smtClean="0"/>
              <a:t>In general the data is static so referential integrity is not as much as an issue as performance.</a:t>
            </a:r>
          </a:p>
          <a:p>
            <a:endParaRPr lang="en-US" baseline="0" dirty="0" smtClean="0"/>
          </a:p>
          <a:p>
            <a:r>
              <a:rPr lang="en-US" baseline="0" dirty="0" smtClean="0"/>
              <a:t>Again, we’ve kept title in the structure within the books field for performance purposes (to keep it to a single query)  when looking up basic info about an author.</a:t>
            </a:r>
          </a:p>
          <a:p>
            <a:r>
              <a:rPr lang="en-US" dirty="0" smtClean="0"/>
              <a:t>But if so desired, we could just have books be an array of book IDs and use a 2-query approach as</a:t>
            </a:r>
            <a:r>
              <a:rPr lang="en-US" baseline="0" dirty="0" smtClean="0"/>
              <a:t> we’ve seen in prior slides.</a:t>
            </a:r>
          </a:p>
          <a:p>
            <a:r>
              <a:rPr lang="en-US" baseline="0" dirty="0" smtClean="0"/>
              <a:t>Note this is different than publishers having an array of books because the upper bound for author-to-books is much less than publisher-to-books.</a:t>
            </a:r>
          </a:p>
          <a:p>
            <a:endParaRPr lang="en-US"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45</a:t>
            </a:fld>
            <a:endParaRPr lang="en-US"/>
          </a:p>
        </p:txBody>
      </p:sp>
    </p:spTree>
    <p:extLst>
      <p:ext uri="{BB962C8B-B14F-4D97-AF65-F5344CB8AC3E}">
        <p14:creationId xmlns:p14="http://schemas.microsoft.com/office/powerpoint/2010/main" val="16453874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Remember:</a:t>
            </a:r>
            <a:r>
              <a:rPr lang="en-US" baseline="0" dirty="0" smtClean="0"/>
              <a:t>   all fields including those inside structures inside arrays are </a:t>
            </a:r>
            <a:r>
              <a:rPr lang="en-US" baseline="0" dirty="0" err="1" smtClean="0"/>
              <a:t>indexable</a:t>
            </a:r>
            <a:r>
              <a:rPr lang="en-US" baseline="0" dirty="0" smtClean="0"/>
              <a:t>.</a:t>
            </a:r>
          </a:p>
          <a:p>
            <a:r>
              <a:rPr lang="en-US" baseline="0" dirty="0" smtClean="0"/>
              <a:t>We saw an example of this earlier with indexing on </a:t>
            </a:r>
            <a:r>
              <a:rPr lang="en-US" baseline="0" dirty="0" err="1" smtClean="0"/>
              <a:t>publisher.name</a:t>
            </a:r>
            <a:endParaRPr lang="en-US" baseline="0" dirty="0" smtClean="0"/>
          </a:p>
          <a:p>
            <a:endParaRPr lang="en-US" baseline="0" dirty="0" smtClean="0"/>
          </a:p>
          <a:p>
            <a:endParaRPr lang="en-US"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46</a:t>
            </a:fld>
            <a:endParaRPr lang="en-US"/>
          </a:p>
        </p:txBody>
      </p:sp>
    </p:spTree>
    <p:extLst>
      <p:ext uri="{BB962C8B-B14F-4D97-AF65-F5344CB8AC3E}">
        <p14:creationId xmlns:p14="http://schemas.microsoft.com/office/powerpoint/2010/main" val="16453874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Complex structures like arrays of coordinate pairs, deep nested</a:t>
            </a:r>
            <a:r>
              <a:rPr lang="en-US" baseline="0" dirty="0" smtClean="0"/>
              <a:t> data, etc.</a:t>
            </a:r>
          </a:p>
          <a:p>
            <a:endParaRPr lang="en-US" baseline="0" dirty="0" smtClean="0"/>
          </a:p>
          <a:p>
            <a:r>
              <a:rPr lang="en-US" baseline="0" dirty="0" smtClean="0"/>
              <a:t>With immutable designs, sometimes the safest / easiest route is to dereference the data.   Note that with the emergence of </a:t>
            </a:r>
            <a:r>
              <a:rPr lang="en-US" baseline="0" dirty="0" err="1" smtClean="0"/>
              <a:t>deduping</a:t>
            </a:r>
            <a:r>
              <a:rPr lang="en-US" baseline="0" dirty="0" smtClean="0"/>
              <a:t> storage arrays, this is increasingly becoming a practical and exciting solution!</a:t>
            </a:r>
          </a:p>
          <a:p>
            <a:endParaRPr lang="en-US" dirty="0"/>
          </a:p>
        </p:txBody>
      </p:sp>
      <p:sp>
        <p:nvSpPr>
          <p:cNvPr id="4" name="Slide Number Placeholder 3"/>
          <p:cNvSpPr>
            <a:spLocks noGrp="1"/>
          </p:cNvSpPr>
          <p:nvPr>
            <p:ph type="sldNum" sz="quarter" idx="10"/>
          </p:nvPr>
        </p:nvSpPr>
        <p:spPr/>
        <p:txBody>
          <a:bodyPr/>
          <a:lstStyle/>
          <a:p>
            <a:fld id="{8BB3746F-040E-704E-867C-988A0A69C4B8}" type="slidenum">
              <a:rPr lang="en-US" smtClean="0"/>
              <a:t>47</a:t>
            </a:fld>
            <a:endParaRPr lang="en-US"/>
          </a:p>
        </p:txBody>
      </p:sp>
    </p:spTree>
    <p:extLst>
      <p:ext uri="{BB962C8B-B14F-4D97-AF65-F5344CB8AC3E}">
        <p14:creationId xmlns:p14="http://schemas.microsoft.com/office/powerpoint/2010/main" val="19032212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Suppose the library wants</a:t>
            </a:r>
            <a:r>
              <a:rPr lang="en-US" baseline="0" dirty="0" smtClean="0"/>
              <a:t> to add value by having book clubs enhance the authors information with bespoke information. </a:t>
            </a:r>
          </a:p>
          <a:p>
            <a:r>
              <a:rPr lang="en-US" baseline="0" dirty="0" smtClean="0"/>
              <a:t>There are at least 3 challenges here:</a:t>
            </a:r>
          </a:p>
          <a:p>
            <a:r>
              <a:rPr lang="en-US" baseline="0" dirty="0" smtClean="0"/>
              <a:t>1.  the book club is operating semi-independently from the main system designers</a:t>
            </a:r>
          </a:p>
          <a:p>
            <a:pPr marL="228600" indent="-228600">
              <a:buAutoNum type="arabicPeriod" startAt="2"/>
            </a:pPr>
            <a:r>
              <a:rPr lang="en-US" baseline="0" dirty="0" smtClean="0"/>
              <a:t>Clearly, we don’t know early on what the book club is going to add</a:t>
            </a:r>
          </a:p>
          <a:p>
            <a:pPr marL="228600" indent="-228600">
              <a:buAutoNum type="arabicPeriod" startAt="2"/>
            </a:pPr>
            <a:r>
              <a:rPr lang="en-US" baseline="0" dirty="0" smtClean="0"/>
              <a:t>Each author may have a different set of information, created by a different member of the book club.</a:t>
            </a:r>
          </a:p>
          <a:p>
            <a:pPr marL="228600" indent="-228600">
              <a:buAutoNum type="arabicPeriod" startAt="2"/>
            </a:pPr>
            <a:endParaRPr lang="en-US" dirty="0" smtClean="0"/>
          </a:p>
          <a:p>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48</a:t>
            </a:fld>
            <a:endParaRPr lang="en-US"/>
          </a:p>
        </p:txBody>
      </p:sp>
    </p:spTree>
    <p:extLst>
      <p:ext uri="{BB962C8B-B14F-4D97-AF65-F5344CB8AC3E}">
        <p14:creationId xmlns:p14="http://schemas.microsoft.com/office/powerpoint/2010/main" val="30212568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a very, very exciting part of </a:t>
            </a:r>
            <a:r>
              <a:rPr lang="en-US" dirty="0" err="1" smtClean="0"/>
              <a:t>MongoDB</a:t>
            </a:r>
            <a:r>
              <a:rPr lang="en-US" dirty="0" smtClean="0"/>
              <a:t>.</a:t>
            </a:r>
          </a:p>
          <a:p>
            <a:r>
              <a:rPr lang="en-US" dirty="0" smtClean="0"/>
              <a:t>No need to come up with </a:t>
            </a:r>
            <a:r>
              <a:rPr lang="en-US" dirty="0" err="1" smtClean="0"/>
              <a:t>userDefined</a:t>
            </a:r>
            <a:r>
              <a:rPr lang="en-US" dirty="0" smtClean="0"/>
              <a:t> column 1, column</a:t>
            </a:r>
            <a:r>
              <a:rPr lang="en-US" baseline="0" dirty="0" smtClean="0"/>
              <a:t> 2, etc.</a:t>
            </a:r>
          </a:p>
          <a:p>
            <a:r>
              <a:rPr lang="en-US" baseline="0" dirty="0" smtClean="0"/>
              <a:t>We see here that Kristina and Mike have very different substructures inside the </a:t>
            </a:r>
            <a:r>
              <a:rPr lang="en-US" baseline="0" dirty="0" err="1" smtClean="0"/>
              <a:t>personalData</a:t>
            </a:r>
            <a:r>
              <a:rPr lang="en-US" baseline="0" dirty="0" smtClean="0"/>
              <a:t> field.</a:t>
            </a:r>
          </a:p>
          <a:p>
            <a:r>
              <a:rPr lang="en-US" baseline="0" dirty="0" smtClean="0"/>
              <a:t>We call this </a:t>
            </a:r>
            <a:r>
              <a:rPr lang="en-US" b="1" baseline="0" dirty="0" smtClean="0"/>
              <a:t>polymorphism</a:t>
            </a:r>
            <a:r>
              <a:rPr lang="en-US" baseline="0" dirty="0" smtClean="0"/>
              <a:t>:   the variation of shape from document-to-document within the same collection.</a:t>
            </a:r>
          </a:p>
          <a:p>
            <a:r>
              <a:rPr lang="en-US" baseline="0" dirty="0" smtClean="0"/>
              <a:t>The library application logic only is looking for a field called “</a:t>
            </a:r>
            <a:r>
              <a:rPr lang="en-US" baseline="0" dirty="0" err="1" smtClean="0"/>
              <a:t>personalData</a:t>
            </a:r>
            <a:r>
              <a:rPr lang="en-US" baseline="0" dirty="0" smtClean="0"/>
              <a:t>”; actions will be taken dynamically based on the shape and types in the substructure!</a:t>
            </a:r>
          </a:p>
          <a:p>
            <a:r>
              <a:rPr lang="en-US" baseline="0" dirty="0" smtClean="0"/>
              <a:t>For example, It is a very straightforward exercise to recursively “walk” the structure and construct a panel in a GUI – especially if you are using </a:t>
            </a:r>
            <a:r>
              <a:rPr lang="en-US" baseline="0" dirty="0" err="1" smtClean="0"/>
              <a:t>AngularJS</a:t>
            </a:r>
            <a:r>
              <a:rPr lang="en-US" baseline="0" dirty="0" smtClean="0"/>
              <a:t> and the MEAN stack</a:t>
            </a:r>
          </a:p>
          <a:p>
            <a:r>
              <a:rPr lang="en-US" baseline="0" dirty="0" smtClean="0"/>
              <a:t>(</a:t>
            </a:r>
            <a:r>
              <a:rPr lang="en-US" baseline="0" dirty="0" err="1" smtClean="0"/>
              <a:t>MongoDB</a:t>
            </a:r>
            <a:r>
              <a:rPr lang="en-US" baseline="0" dirty="0" smtClean="0"/>
              <a:t>  / Express / Angular / </a:t>
            </a:r>
            <a:r>
              <a:rPr lang="en-US" baseline="0" dirty="0" err="1" smtClean="0"/>
              <a:t>Node.js</a:t>
            </a:r>
            <a:r>
              <a:rPr lang="en-US" baseline="0" dirty="0" smtClean="0"/>
              <a:t> )</a:t>
            </a:r>
          </a:p>
          <a:p>
            <a:r>
              <a:rPr lang="en-US" baseline="0" dirty="0" smtClean="0"/>
              <a:t>No need to use XML or blobs or serialized objects.   It’s all native </a:t>
            </a:r>
            <a:r>
              <a:rPr lang="en-US" baseline="0" dirty="0" err="1" smtClean="0"/>
              <a:t>MongoDB</a:t>
            </a:r>
            <a:r>
              <a:rPr lang="en-US" baseline="0" dirty="0" smtClean="0"/>
              <a:t> -- and documents are represented in the form most easily natively manipulated by the language</a:t>
            </a:r>
          </a:p>
          <a:p>
            <a:r>
              <a:rPr lang="en-US" baseline="0" dirty="0" smtClean="0"/>
              <a:t>Every field is </a:t>
            </a:r>
            <a:r>
              <a:rPr lang="en-US" baseline="0" dirty="0" err="1" smtClean="0"/>
              <a:t>queryable</a:t>
            </a:r>
            <a:r>
              <a:rPr lang="en-US" baseline="0" dirty="0" smtClean="0"/>
              <a:t> and if so desired, </a:t>
            </a:r>
            <a:r>
              <a:rPr lang="en-US" baseline="0" dirty="0" err="1" smtClean="0"/>
              <a:t>indexable</a:t>
            </a:r>
            <a:r>
              <a:rPr lang="en-US" baseline="0" dirty="0" smtClean="0"/>
              <a:t>!    Documents that do not contain fields in a query predicate are simply treated as unset.</a:t>
            </a:r>
            <a:endParaRPr lang="en-US"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49</a:t>
            </a:fld>
            <a:endParaRPr lang="en-US"/>
          </a:p>
        </p:txBody>
      </p:sp>
    </p:spTree>
    <p:extLst>
      <p:ext uri="{BB962C8B-B14F-4D97-AF65-F5344CB8AC3E}">
        <p14:creationId xmlns:p14="http://schemas.microsoft.com/office/powerpoint/2010/main" val="16453874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Polymorphism is such an important aspect</a:t>
            </a:r>
            <a:r>
              <a:rPr lang="en-US" baseline="0" dirty="0" smtClean="0"/>
              <a:t> of Thinking In Documents that </a:t>
            </a:r>
            <a:r>
              <a:rPr lang="en-US" dirty="0" smtClean="0"/>
              <a:t>it deserves another slide.</a:t>
            </a:r>
            <a:r>
              <a:rPr lang="en-US" baseline="0" dirty="0" smtClean="0"/>
              <a:t>.</a:t>
            </a:r>
          </a:p>
          <a:p>
            <a:r>
              <a:rPr lang="en-US" baseline="0" dirty="0" smtClean="0"/>
              <a:t>Here’s an events collection.   We’ve taken out _id for some extra space.</a:t>
            </a:r>
          </a:p>
          <a:p>
            <a:r>
              <a:rPr lang="en-US" baseline="0" dirty="0" smtClean="0"/>
              <a:t>Type and </a:t>
            </a:r>
            <a:r>
              <a:rPr lang="en-US" baseline="0" dirty="0" err="1" smtClean="0"/>
              <a:t>ts</a:t>
            </a:r>
            <a:r>
              <a:rPr lang="en-US" baseline="0" dirty="0" smtClean="0"/>
              <a:t> and data are the well-known fields, and there is probably an index on type and </a:t>
            </a:r>
            <a:r>
              <a:rPr lang="en-US" baseline="0" dirty="0" err="1" smtClean="0"/>
              <a:t>ts</a:t>
            </a:r>
            <a:r>
              <a:rPr lang="en-US" baseline="0" dirty="0" smtClean="0"/>
              <a:t>.  </a:t>
            </a:r>
          </a:p>
          <a:p>
            <a:r>
              <a:rPr lang="en-US" baseline="0" dirty="0" smtClean="0"/>
              <a:t>But the data field contents are specialized for each type.</a:t>
            </a:r>
          </a:p>
          <a:p>
            <a:r>
              <a:rPr lang="en-US" baseline="0" dirty="0" smtClean="0"/>
              <a:t>No need for complex tables or blobs or XML.</a:t>
            </a:r>
          </a:p>
          <a:p>
            <a:r>
              <a:rPr lang="en-US" baseline="0" dirty="0" smtClean="0"/>
              <a:t>And very easily extensible to new types we may need to add on day 2.</a:t>
            </a:r>
          </a:p>
          <a:p>
            <a:endParaRPr lang="en-US" baseline="0" dirty="0" smtClean="0"/>
          </a:p>
          <a:p>
            <a:r>
              <a:rPr lang="en-US" baseline="0" dirty="0" smtClean="0"/>
              <a:t>This model extends to products, transactions, actors in a data design..</a:t>
            </a:r>
          </a:p>
          <a:p>
            <a:r>
              <a:rPr lang="en-US" baseline="0" dirty="0" smtClean="0"/>
              <a:t>If you think about your data in terms of entities, you’ll discover that you probably only need a handful.    That plus polymorphism within the entity gets you a long way.</a:t>
            </a:r>
          </a:p>
          <a:p>
            <a:r>
              <a:rPr lang="en-US" baseline="0" dirty="0" smtClean="0"/>
              <a:t>Because of this design approach, rarely will a </a:t>
            </a:r>
            <a:r>
              <a:rPr lang="en-US" baseline="0" dirty="0" err="1" smtClean="0"/>
              <a:t>MongoDB</a:t>
            </a:r>
            <a:r>
              <a:rPr lang="en-US" baseline="0" dirty="0" smtClean="0"/>
              <a:t> database have 100s of collections</a:t>
            </a:r>
          </a:p>
        </p:txBody>
      </p:sp>
      <p:sp>
        <p:nvSpPr>
          <p:cNvPr id="4" name="Slide Number Placeholder 3"/>
          <p:cNvSpPr>
            <a:spLocks noGrp="1"/>
          </p:cNvSpPr>
          <p:nvPr>
            <p:ph type="sldNum" sz="quarter" idx="10"/>
          </p:nvPr>
        </p:nvSpPr>
        <p:spPr/>
        <p:txBody>
          <a:bodyPr/>
          <a:lstStyle/>
          <a:p>
            <a:fld id="{4127CFAD-63D9-427B-9EB5-780FF78F24D4}" type="slidenum">
              <a:rPr lang="en-US" smtClean="0"/>
              <a:t>50</a:t>
            </a:fld>
            <a:endParaRPr lang="en-US"/>
          </a:p>
        </p:txBody>
      </p:sp>
    </p:spTree>
    <p:extLst>
      <p:ext uri="{BB962C8B-B14F-4D97-AF65-F5344CB8AC3E}">
        <p14:creationId xmlns:p14="http://schemas.microsoft.com/office/powerpoint/2010/main" val="16453874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an example of faceted search or tagging in general.</a:t>
            </a:r>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51</a:t>
            </a:fld>
            <a:endParaRPr lang="en-US"/>
          </a:p>
        </p:txBody>
      </p:sp>
    </p:spTree>
    <p:extLst>
      <p:ext uri="{BB962C8B-B14F-4D97-AF65-F5344CB8AC3E}">
        <p14:creationId xmlns:p14="http://schemas.microsoft.com/office/powerpoint/2010/main" val="16941970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can begin</a:t>
            </a:r>
            <a:r>
              <a:rPr lang="en-US" baseline="0" dirty="0" smtClean="0"/>
              <a:t> simply by implementing </a:t>
            </a:r>
            <a:r>
              <a:rPr lang="en-US" dirty="0" smtClean="0"/>
              <a:t>Categories as an</a:t>
            </a:r>
            <a:r>
              <a:rPr lang="en-US" baseline="0" dirty="0" smtClean="0"/>
              <a:t> array</a:t>
            </a:r>
          </a:p>
          <a:p>
            <a:r>
              <a:rPr lang="en-US" baseline="0" dirty="0" smtClean="0"/>
              <a:t>We probably will only have a few and they don’t change very often and have a natural upward bound.</a:t>
            </a:r>
            <a:endParaRPr lang="en-US" dirty="0" smtClean="0"/>
          </a:p>
          <a:p>
            <a:r>
              <a:rPr lang="en-US" dirty="0" smtClean="0"/>
              <a:t>An index</a:t>
            </a:r>
            <a:r>
              <a:rPr lang="en-US" baseline="0" dirty="0" smtClean="0"/>
              <a:t> on categories will allow rapid retrieval.</a:t>
            </a:r>
          </a:p>
          <a:p>
            <a:r>
              <a:rPr lang="en-US" baseline="0" dirty="0" smtClean="0"/>
              <a:t>Again, a very appropriate use of belongs-to 1:1</a:t>
            </a:r>
          </a:p>
        </p:txBody>
      </p:sp>
      <p:sp>
        <p:nvSpPr>
          <p:cNvPr id="4" name="Slide Number Placeholder 3"/>
          <p:cNvSpPr>
            <a:spLocks noGrp="1"/>
          </p:cNvSpPr>
          <p:nvPr>
            <p:ph type="sldNum" sz="quarter" idx="10"/>
          </p:nvPr>
        </p:nvSpPr>
        <p:spPr/>
        <p:txBody>
          <a:bodyPr/>
          <a:lstStyle/>
          <a:p>
            <a:fld id="{4127CFAD-63D9-427B-9EB5-780FF78F24D4}" type="slidenum">
              <a:rPr lang="en-US" smtClean="0"/>
              <a:t>52</a:t>
            </a:fld>
            <a:endParaRPr lang="en-US"/>
          </a:p>
        </p:txBody>
      </p:sp>
    </p:spTree>
    <p:extLst>
      <p:ext uri="{BB962C8B-B14F-4D97-AF65-F5344CB8AC3E}">
        <p14:creationId xmlns:p14="http://schemas.microsoft.com/office/powerpoint/2010/main" val="26144213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we want a little</a:t>
            </a:r>
            <a:r>
              <a:rPr lang="en-US" baseline="0" dirty="0" smtClean="0"/>
              <a:t> more hierarchy, we can use regex operations.</a:t>
            </a:r>
          </a:p>
          <a:p>
            <a:r>
              <a:rPr lang="en-US" dirty="0" smtClean="0"/>
              <a:t>The category field is indexed as before, but now as a string</a:t>
            </a:r>
          </a:p>
          <a:p>
            <a:r>
              <a:rPr lang="en-US" baseline="0" dirty="0" smtClean="0"/>
              <a:t>Uses an index because of the anchored regular expression.</a:t>
            </a:r>
          </a:p>
          <a:p>
            <a:r>
              <a:rPr lang="en-US" baseline="0" dirty="0" smtClean="0"/>
              <a:t>There is a downside:  w</a:t>
            </a:r>
            <a:r>
              <a:rPr lang="en-US" dirty="0" smtClean="0"/>
              <a:t>hen a category</a:t>
            </a:r>
            <a:r>
              <a:rPr lang="en-US" baseline="0" dirty="0" smtClean="0"/>
              <a:t> hierarchy gets changed, all documents will need to be re-categorized.</a:t>
            </a:r>
          </a:p>
          <a:p>
            <a:endParaRPr lang="en-US" dirty="0"/>
          </a:p>
        </p:txBody>
      </p:sp>
      <p:sp>
        <p:nvSpPr>
          <p:cNvPr id="4" name="Slide Number Placeholder 3"/>
          <p:cNvSpPr>
            <a:spLocks noGrp="1"/>
          </p:cNvSpPr>
          <p:nvPr>
            <p:ph type="sldNum" sz="quarter" idx="10"/>
          </p:nvPr>
        </p:nvSpPr>
        <p:spPr/>
        <p:txBody>
          <a:bodyPr/>
          <a:lstStyle/>
          <a:p>
            <a:fld id="{4127CFAD-63D9-427B-9EB5-780FF78F24D4}" type="slidenum">
              <a:rPr lang="en-US" smtClean="0"/>
              <a:t>53</a:t>
            </a:fld>
            <a:endParaRPr lang="en-US"/>
          </a:p>
        </p:txBody>
      </p:sp>
    </p:spTree>
    <p:extLst>
      <p:ext uri="{BB962C8B-B14F-4D97-AF65-F5344CB8AC3E}">
        <p14:creationId xmlns:p14="http://schemas.microsoft.com/office/powerpoint/2010/main" val="1511993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a:t>
            </a:r>
            <a:r>
              <a:rPr lang="en-US" baseline="0" dirty="0" smtClean="0"/>
              <a:t> little techno-trailer for you:  Document Validation.</a:t>
            </a:r>
          </a:p>
          <a:p>
            <a:r>
              <a:rPr lang="en-US" baseline="0" dirty="0" smtClean="0"/>
              <a:t>Coming in v3.2, Document Validation “inverts” the use of existing </a:t>
            </a:r>
            <a:r>
              <a:rPr lang="en-US" baseline="0" dirty="0" err="1" smtClean="0"/>
              <a:t>MongoDB</a:t>
            </a:r>
            <a:r>
              <a:rPr lang="en-US" baseline="0" dirty="0" smtClean="0"/>
              <a:t> query language.</a:t>
            </a:r>
          </a:p>
          <a:p>
            <a:r>
              <a:rPr lang="en-US" baseline="0" dirty="0" smtClean="0"/>
              <a:t>Documents being inserted or updated will be assessed against a validator if it exists.   There are a number of special features including “strictness on update” that are beyond the scope of today’s presentation but the good news is that it is coming!</a:t>
            </a:r>
          </a:p>
        </p:txBody>
      </p:sp>
      <p:sp>
        <p:nvSpPr>
          <p:cNvPr id="4" name="Slide Number Placeholder 3"/>
          <p:cNvSpPr>
            <a:spLocks noGrp="1"/>
          </p:cNvSpPr>
          <p:nvPr>
            <p:ph type="sldNum" sz="quarter" idx="10"/>
          </p:nvPr>
        </p:nvSpPr>
        <p:spPr/>
        <p:txBody>
          <a:bodyPr/>
          <a:lstStyle/>
          <a:p>
            <a:fld id="{4127CFAD-63D9-427B-9EB5-780FF78F24D4}" type="slidenum">
              <a:rPr lang="en-US" smtClean="0"/>
              <a:t>54</a:t>
            </a:fld>
            <a:endParaRPr lang="en-US"/>
          </a:p>
        </p:txBody>
      </p:sp>
    </p:spTree>
    <p:extLst>
      <p:ext uri="{BB962C8B-B14F-4D97-AF65-F5344CB8AC3E}">
        <p14:creationId xmlns:p14="http://schemas.microsoft.com/office/powerpoint/2010/main" val="1511993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We’ll close with something really cool – document validation that adapts to change over time.</a:t>
            </a:r>
          </a:p>
          <a:p>
            <a:r>
              <a:rPr lang="en-US" baseline="0" dirty="0" smtClean="0"/>
              <a:t>Assuming you “soft version” your documents by including a logical version ID ( in this case, a simple integer in field v) , you can maintain multiple different shapes of documents in one collection, each of them validation enforced to the version rules appropriate at the time.     And again, because it is at the DB engine level, enforcement is guaranteed through all drivers.</a:t>
            </a:r>
          </a:p>
          <a:p>
            <a:r>
              <a:rPr lang="en-US" baseline="0" dirty="0" smtClean="0"/>
              <a:t>SUPER POWERFUL!</a:t>
            </a:r>
          </a:p>
          <a:p>
            <a:endParaRPr lang="en-US" baseline="0" dirty="0" smtClean="0"/>
          </a:p>
        </p:txBody>
      </p:sp>
      <p:sp>
        <p:nvSpPr>
          <p:cNvPr id="4" name="Slide Number Placeholder 3"/>
          <p:cNvSpPr>
            <a:spLocks noGrp="1"/>
          </p:cNvSpPr>
          <p:nvPr>
            <p:ph type="sldNum" sz="quarter" idx="10"/>
          </p:nvPr>
        </p:nvSpPr>
        <p:spPr/>
        <p:txBody>
          <a:bodyPr/>
          <a:lstStyle/>
          <a:p>
            <a:fld id="{4127CFAD-63D9-427B-9EB5-780FF78F24D4}" type="slidenum">
              <a:rPr lang="en-US" smtClean="0"/>
              <a:t>55</a:t>
            </a:fld>
            <a:endParaRPr lang="en-US"/>
          </a:p>
        </p:txBody>
      </p:sp>
    </p:spTree>
    <p:extLst>
      <p:ext uri="{BB962C8B-B14F-4D97-AF65-F5344CB8AC3E}">
        <p14:creationId xmlns:p14="http://schemas.microsoft.com/office/powerpoint/2010/main" val="15119938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B3746F-040E-704E-867C-988A0A69C4B8}" type="slidenum">
              <a:rPr lang="en-US" smtClean="0"/>
              <a:t>56</a:t>
            </a:fld>
            <a:endParaRPr lang="en-US"/>
          </a:p>
        </p:txBody>
      </p:sp>
    </p:spTree>
    <p:extLst>
      <p:ext uri="{BB962C8B-B14F-4D97-AF65-F5344CB8AC3E}">
        <p14:creationId xmlns:p14="http://schemas.microsoft.com/office/powerpoint/2010/main" val="133916752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B3746F-040E-704E-867C-988A0A69C4B8}" type="slidenum">
              <a:rPr lang="en-US" smtClean="0"/>
              <a:t>57</a:t>
            </a:fld>
            <a:endParaRPr lang="en-US"/>
          </a:p>
        </p:txBody>
      </p:sp>
    </p:spTree>
    <p:extLst>
      <p:ext uri="{BB962C8B-B14F-4D97-AF65-F5344CB8AC3E}">
        <p14:creationId xmlns:p14="http://schemas.microsoft.com/office/powerpoint/2010/main" val="345668241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a:t>
            </a:r>
            <a:r>
              <a:rPr lang="en-US" baseline="0" dirty="0" smtClean="0"/>
              <a:t> behalf of all of us at </a:t>
            </a:r>
            <a:r>
              <a:rPr lang="en-US" baseline="0" dirty="0" err="1" smtClean="0"/>
              <a:t>MongoDB</a:t>
            </a:r>
            <a:r>
              <a:rPr lang="en-US" baseline="0" dirty="0" smtClean="0"/>
              <a:t> , thank you for attending this webinar!</a:t>
            </a:r>
          </a:p>
          <a:p>
            <a:r>
              <a:rPr lang="en-US" baseline="0" dirty="0" smtClean="0"/>
              <a:t>I hope what you saw and heard today gave you some insight and clues into what you might face in your own data design efforts.</a:t>
            </a:r>
          </a:p>
          <a:p>
            <a:r>
              <a:rPr lang="en-US" baseline="0" dirty="0" smtClean="0"/>
              <a:t>Remember you can always reach out to us at </a:t>
            </a:r>
            <a:r>
              <a:rPr lang="en-US" baseline="0" dirty="0" err="1" smtClean="0"/>
              <a:t>MongoDB</a:t>
            </a:r>
            <a:r>
              <a:rPr lang="en-US" baseline="0" dirty="0" smtClean="0"/>
              <a:t> for guidance.</a:t>
            </a:r>
          </a:p>
          <a:p>
            <a:r>
              <a:rPr lang="en-US" baseline="0" dirty="0" smtClean="0"/>
              <a:t/>
            </a:r>
            <a:br>
              <a:rPr lang="en-US" baseline="0" dirty="0" smtClean="0"/>
            </a:br>
            <a:r>
              <a:rPr lang="en-US" baseline="0" dirty="0" smtClean="0"/>
              <a:t>With that, code well and be well.</a:t>
            </a:r>
          </a:p>
          <a:p>
            <a:endParaRPr lang="en-US" dirty="0"/>
          </a:p>
        </p:txBody>
      </p:sp>
      <p:sp>
        <p:nvSpPr>
          <p:cNvPr id="4" name="Slide Number Placeholder 3"/>
          <p:cNvSpPr>
            <a:spLocks noGrp="1"/>
          </p:cNvSpPr>
          <p:nvPr>
            <p:ph type="sldNum" sz="quarter" idx="10"/>
          </p:nvPr>
        </p:nvSpPr>
        <p:spPr/>
        <p:txBody>
          <a:bodyPr/>
          <a:lstStyle/>
          <a:p>
            <a:fld id="{8BB3746F-040E-704E-867C-988A0A69C4B8}" type="slidenum">
              <a:rPr lang="en-US" smtClean="0"/>
              <a:t>58</a:t>
            </a:fld>
            <a:endParaRPr lang="en-US"/>
          </a:p>
        </p:txBody>
      </p:sp>
    </p:spTree>
    <p:extLst>
      <p:ext uri="{BB962C8B-B14F-4D97-AF65-F5344CB8AC3E}">
        <p14:creationId xmlns:p14="http://schemas.microsoft.com/office/powerpoint/2010/main" val="3456682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emf"/><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rgbClr val="242423"/>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24242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4256624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rgbClr val="24242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215063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ustom Layout">
    <p:bg>
      <p:bgPr>
        <a:solidFill>
          <a:srgbClr val="24242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4638"/>
            <a:ext cx="8229600" cy="6178302"/>
          </a:xfrm>
        </p:spPr>
        <p:txBody>
          <a:bodyPr>
            <a:normAutofit/>
          </a:bodyPr>
          <a:lstStyle>
            <a:lvl1pPr algn="l">
              <a:defRPr sz="4800">
                <a:solidFill>
                  <a:schemeClr val="bg1"/>
                </a:solidFill>
              </a:defRPr>
            </a:lvl1pPr>
          </a:lstStyle>
          <a:p>
            <a:r>
              <a:rPr lang="en-US" dirty="0" smtClean="0"/>
              <a:t>BREAKER SLIDE</a:t>
            </a:r>
            <a:endParaRPr lang="en-US" dirty="0"/>
          </a:p>
        </p:txBody>
      </p:sp>
    </p:spTree>
    <p:extLst>
      <p:ext uri="{BB962C8B-B14F-4D97-AF65-F5344CB8AC3E}">
        <p14:creationId xmlns:p14="http://schemas.microsoft.com/office/powerpoint/2010/main" val="404073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42423"/>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a:solidFill>
                  <a:srgbClr val="242423"/>
                </a:solidFill>
              </a:defRPr>
            </a:lvl1pPr>
            <a:lvl2pPr>
              <a:defRPr>
                <a:solidFill>
                  <a:srgbClr val="242423"/>
                </a:solidFill>
              </a:defRPr>
            </a:lvl2pPr>
            <a:lvl3pPr>
              <a:defRPr>
                <a:solidFill>
                  <a:srgbClr val="242423"/>
                </a:solidFill>
              </a:defRPr>
            </a:lvl3pPr>
            <a:lvl4pPr>
              <a:defRPr>
                <a:solidFill>
                  <a:srgbClr val="242423"/>
                </a:solidFill>
              </a:defRPr>
            </a:lvl4pPr>
            <a:lvl5pPr>
              <a:defRPr>
                <a:solidFill>
                  <a:srgbClr val="242423"/>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p:cNvPicPr>
            <a:picLocks noChangeAspect="1"/>
          </p:cNvPicPr>
          <p:nvPr userDrawn="1"/>
        </p:nvPicPr>
        <p:blipFill>
          <a:blip r:embed="rId2"/>
          <a:stretch>
            <a:fillRect/>
          </a:stretch>
        </p:blipFill>
        <p:spPr>
          <a:xfrm>
            <a:off x="7772400" y="6350715"/>
            <a:ext cx="914400" cy="260383"/>
          </a:xfrm>
          <a:prstGeom prst="rect">
            <a:avLst/>
          </a:prstGeom>
        </p:spPr>
      </p:pic>
      <p:sp>
        <p:nvSpPr>
          <p:cNvPr id="4" name="TextBox 3"/>
          <p:cNvSpPr txBox="1"/>
          <p:nvPr userDrawn="1"/>
        </p:nvSpPr>
        <p:spPr>
          <a:xfrm>
            <a:off x="373508" y="6396907"/>
            <a:ext cx="312906" cy="215444"/>
          </a:xfrm>
          <a:prstGeom prst="rect">
            <a:avLst/>
          </a:prstGeom>
          <a:noFill/>
        </p:spPr>
        <p:txBody>
          <a:bodyPr wrap="none" rtlCol="0">
            <a:spAutoFit/>
          </a:bodyPr>
          <a:lstStyle/>
          <a:p>
            <a:fld id="{298C846C-6FDD-4A4D-9385-73C79C1AF32F}" type="slidenum">
              <a:rPr lang="en-US" sz="800" smtClean="0"/>
              <a:t>‹#›</a:t>
            </a:fld>
            <a:endParaRPr lang="en-US" sz="800" dirty="0"/>
          </a:p>
        </p:txBody>
      </p:sp>
    </p:spTree>
    <p:extLst>
      <p:ext uri="{BB962C8B-B14F-4D97-AF65-F5344CB8AC3E}">
        <p14:creationId xmlns:p14="http://schemas.microsoft.com/office/powerpoint/2010/main" val="3211328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681201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8308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2_Title Slide">
    <p:bg>
      <p:bgPr>
        <a:solidFill>
          <a:schemeClr val="accent5"/>
        </a:solidFill>
        <a:effectLst/>
      </p:bgPr>
    </p:bg>
    <p:spTree>
      <p:nvGrpSpPr>
        <p:cNvPr id="1" name=""/>
        <p:cNvGrpSpPr/>
        <p:nvPr/>
      </p:nvGrpSpPr>
      <p:grpSpPr>
        <a:xfrm>
          <a:off x="0" y="0"/>
          <a:ext cx="0" cy="0"/>
          <a:chOff x="0" y="0"/>
          <a:chExt cx="0" cy="0"/>
        </a:xfrm>
      </p:grpSpPr>
      <p:sp>
        <p:nvSpPr>
          <p:cNvPr id="2" name="Rectangle 1"/>
          <p:cNvSpPr/>
          <p:nvPr/>
        </p:nvSpPr>
        <p:spPr>
          <a:xfrm>
            <a:off x="0" y="6165281"/>
            <a:ext cx="9144000" cy="692727"/>
          </a:xfrm>
          <a:prstGeom prst="rect">
            <a:avLst/>
          </a:prstGeom>
          <a:solidFill>
            <a:srgbClr val="3B2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9" name="Picture 18"/>
          <p:cNvPicPr>
            <a:picLocks noChangeAspect="1"/>
          </p:cNvPicPr>
          <p:nvPr/>
        </p:nvPicPr>
        <p:blipFill>
          <a:blip r:embed="rId2"/>
          <a:stretch>
            <a:fillRect/>
          </a:stretch>
        </p:blipFill>
        <p:spPr>
          <a:xfrm>
            <a:off x="628407" y="500312"/>
            <a:ext cx="369793" cy="369793"/>
          </a:xfrm>
          <a:prstGeom prst="rect">
            <a:avLst/>
          </a:prstGeom>
        </p:spPr>
      </p:pic>
      <p:pic>
        <p:nvPicPr>
          <p:cNvPr id="10" name="Picture 9" descr="Tree.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08025" y="0"/>
            <a:ext cx="4735979" cy="6858000"/>
          </a:xfrm>
          <a:prstGeom prst="rect">
            <a:avLst/>
          </a:prstGeom>
        </p:spPr>
      </p:pic>
      <p:pic>
        <p:nvPicPr>
          <p:cNvPr id="16" name="Picture 15" descr="MongoDB_Logo_Knockout_RGB.eps"/>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99248" y="6307877"/>
            <a:ext cx="1328113" cy="388063"/>
          </a:xfrm>
          <a:prstGeom prst="rect">
            <a:avLst/>
          </a:prstGeom>
        </p:spPr>
      </p:pic>
      <p:sp>
        <p:nvSpPr>
          <p:cNvPr id="4" name="Title 3"/>
          <p:cNvSpPr>
            <a:spLocks noGrp="1"/>
          </p:cNvSpPr>
          <p:nvPr>
            <p:ph type="title" hasCustomPrompt="1"/>
          </p:nvPr>
        </p:nvSpPr>
        <p:spPr>
          <a:xfrm>
            <a:off x="616075" y="1835597"/>
            <a:ext cx="7898954" cy="1812775"/>
          </a:xfrm>
        </p:spPr>
        <p:txBody>
          <a:bodyPr anchor="ctr">
            <a:normAutofit/>
          </a:bodyPr>
          <a:lstStyle>
            <a:lvl1pPr>
              <a:lnSpc>
                <a:spcPct val="90000"/>
              </a:lnSpc>
              <a:defRPr sz="4400" spc="-100">
                <a:solidFill>
                  <a:schemeClr val="bg2"/>
                </a:solidFill>
                <a:effectLst/>
              </a:defRPr>
            </a:lvl1pPr>
          </a:lstStyle>
          <a:p>
            <a:pPr lvl="0"/>
            <a:r>
              <a:rPr lang="en-US" dirty="0" smtClean="0"/>
              <a:t>Insert Title Here</a:t>
            </a:r>
            <a:endParaRPr lang="en-US" dirty="0"/>
          </a:p>
        </p:txBody>
      </p:sp>
      <p:sp>
        <p:nvSpPr>
          <p:cNvPr id="3" name="Subtitle 2"/>
          <p:cNvSpPr>
            <a:spLocks noGrp="1"/>
          </p:cNvSpPr>
          <p:nvPr>
            <p:ph type="subTitle" idx="1" hasCustomPrompt="1"/>
          </p:nvPr>
        </p:nvSpPr>
        <p:spPr>
          <a:xfrm>
            <a:off x="628405" y="4269919"/>
            <a:ext cx="7898954" cy="468106"/>
          </a:xfrm>
          <a:prstGeom prst="rect">
            <a:avLst/>
          </a:prstGeom>
        </p:spPr>
        <p:txBody>
          <a:bodyPr anchor="ctr" anchorCtr="0">
            <a:normAutofit/>
          </a:bodyPr>
          <a:lstStyle>
            <a:lvl1pPr marL="0" indent="0" algn="l">
              <a:lnSpc>
                <a:spcPct val="100000"/>
              </a:lnSpc>
              <a:buNone/>
              <a:defRPr sz="2200" i="1" spc="-20" baseline="0">
                <a:solidFill>
                  <a:schemeClr val="bg1"/>
                </a:solidFill>
                <a:effectLst/>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dirty="0" smtClean="0"/>
              <a:t>Job Title, 10gen</a:t>
            </a:r>
          </a:p>
        </p:txBody>
      </p:sp>
      <p:sp>
        <p:nvSpPr>
          <p:cNvPr id="9" name="Text Placeholder 8"/>
          <p:cNvSpPr>
            <a:spLocks noGrp="1"/>
          </p:cNvSpPr>
          <p:nvPr>
            <p:ph type="body" sz="quarter" idx="10" hasCustomPrompt="1"/>
          </p:nvPr>
        </p:nvSpPr>
        <p:spPr>
          <a:xfrm>
            <a:off x="628405" y="3857283"/>
            <a:ext cx="7898954" cy="383348"/>
          </a:xfrm>
          <a:prstGeom prst="rect">
            <a:avLst/>
          </a:prstGeom>
        </p:spPr>
        <p:txBody>
          <a:bodyPr tIns="0" bIns="0" anchor="b" anchorCtr="0"/>
          <a:lstStyle>
            <a:lvl1pPr marL="0" indent="0" algn="l">
              <a:lnSpc>
                <a:spcPts val="1840"/>
              </a:lnSpc>
              <a:spcBef>
                <a:spcPts val="0"/>
              </a:spcBef>
              <a:buNone/>
              <a:defRPr sz="3000" b="0" i="0" spc="-51" baseline="0">
                <a:solidFill>
                  <a:schemeClr val="bg1"/>
                </a:solidFill>
                <a:effectLst/>
              </a:defRPr>
            </a:lvl1pPr>
          </a:lstStyle>
          <a:p>
            <a:pPr>
              <a:lnSpc>
                <a:spcPts val="1840"/>
              </a:lnSpc>
            </a:pPr>
            <a:r>
              <a:rPr lang="en-US" dirty="0" smtClean="0"/>
              <a:t>Speaker Name</a:t>
            </a:r>
          </a:p>
        </p:txBody>
      </p:sp>
      <p:sp>
        <p:nvSpPr>
          <p:cNvPr id="18" name="Text Placeholder 17"/>
          <p:cNvSpPr>
            <a:spLocks noGrp="1"/>
          </p:cNvSpPr>
          <p:nvPr>
            <p:ph type="body" sz="quarter" idx="12" hasCustomPrompt="1"/>
          </p:nvPr>
        </p:nvSpPr>
        <p:spPr>
          <a:xfrm>
            <a:off x="1178859" y="536115"/>
            <a:ext cx="7348498" cy="298170"/>
          </a:xfrm>
        </p:spPr>
        <p:txBody>
          <a:bodyPr anchor="b" anchorCtr="0"/>
          <a:lstStyle>
            <a:lvl1pPr marL="0" indent="0">
              <a:buNone/>
              <a:defRPr sz="2200" spc="0">
                <a:solidFill>
                  <a:schemeClr val="bg1"/>
                </a:solidFill>
              </a:defRPr>
            </a:lvl1pPr>
          </a:lstStyle>
          <a:p>
            <a:pPr lvl="0"/>
            <a:r>
              <a:rPr lang="en-US" dirty="0" smtClean="0"/>
              <a:t>#</a:t>
            </a:r>
            <a:r>
              <a:rPr lang="en-US" dirty="0" err="1" smtClean="0"/>
              <a:t>ConferenceHashTag</a:t>
            </a:r>
            <a:endParaRPr lang="en-US" dirty="0"/>
          </a:p>
        </p:txBody>
      </p:sp>
    </p:spTree>
    <p:extLst>
      <p:ext uri="{BB962C8B-B14F-4D97-AF65-F5344CB8AC3E}">
        <p14:creationId xmlns:p14="http://schemas.microsoft.com/office/powerpoint/2010/main" val="3818278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tatement w/ Lead-in">
    <p:spTree>
      <p:nvGrpSpPr>
        <p:cNvPr id="1" name=""/>
        <p:cNvGrpSpPr/>
        <p:nvPr/>
      </p:nvGrpSpPr>
      <p:grpSpPr>
        <a:xfrm>
          <a:off x="0" y="0"/>
          <a:ext cx="0" cy="0"/>
          <a:chOff x="0" y="0"/>
          <a:chExt cx="0" cy="0"/>
        </a:xfrm>
      </p:grpSpPr>
      <p:sp>
        <p:nvSpPr>
          <p:cNvPr id="3" name="Text Placeholder 2"/>
          <p:cNvSpPr>
            <a:spLocks noGrp="1"/>
          </p:cNvSpPr>
          <p:nvPr>
            <p:ph type="body" sz="quarter" idx="13" hasCustomPrompt="1"/>
          </p:nvPr>
        </p:nvSpPr>
        <p:spPr>
          <a:xfrm>
            <a:off x="628650" y="1867632"/>
            <a:ext cx="7899400" cy="537881"/>
          </a:xfrm>
        </p:spPr>
        <p:txBody>
          <a:bodyPr anchor="ctr" anchorCtr="0"/>
          <a:lstStyle>
            <a:lvl1pPr marL="0" indent="0">
              <a:lnSpc>
                <a:spcPct val="100000"/>
              </a:lnSpc>
              <a:spcBef>
                <a:spcPts val="0"/>
              </a:spcBef>
              <a:buNone/>
              <a:defRPr sz="4800" i="0" spc="-100"/>
            </a:lvl1pPr>
          </a:lstStyle>
          <a:p>
            <a:pPr lvl="0"/>
            <a:r>
              <a:rPr lang="en-US" dirty="0" smtClean="0"/>
              <a:t>XYZ is</a:t>
            </a:r>
            <a:endParaRPr lang="en-US" dirty="0"/>
          </a:p>
        </p:txBody>
      </p:sp>
      <p:sp>
        <p:nvSpPr>
          <p:cNvPr id="6" name="Text Placeholder 5"/>
          <p:cNvSpPr>
            <a:spLocks noGrp="1"/>
          </p:cNvSpPr>
          <p:nvPr>
            <p:ph type="body" sz="quarter" idx="14" hasCustomPrompt="1"/>
          </p:nvPr>
        </p:nvSpPr>
        <p:spPr>
          <a:xfrm>
            <a:off x="628650" y="2572914"/>
            <a:ext cx="7899400" cy="971206"/>
          </a:xfrm>
        </p:spPr>
        <p:txBody>
          <a:bodyPr anchor="t" anchorCtr="0"/>
          <a:lstStyle>
            <a:lvl1pPr marL="0" indent="0">
              <a:lnSpc>
                <a:spcPct val="100000"/>
              </a:lnSpc>
              <a:spcBef>
                <a:spcPts val="0"/>
              </a:spcBef>
              <a:buNone/>
              <a:defRPr sz="5400" b="1" i="0" baseline="0">
                <a:solidFill>
                  <a:srgbClr val="6BA342"/>
                </a:solidFill>
                <a:effectLst/>
              </a:defRPr>
            </a:lvl1pPr>
          </a:lstStyle>
          <a:p>
            <a:pPr lvl="0"/>
            <a:r>
              <a:rPr lang="en-US" dirty="0" smtClean="0"/>
              <a:t>Insert text here</a:t>
            </a:r>
            <a:endParaRPr lang="en-US" dirty="0"/>
          </a:p>
        </p:txBody>
      </p:sp>
      <p:sp>
        <p:nvSpPr>
          <p:cNvPr id="7" name="Rectangle 6"/>
          <p:cNvSpPr/>
          <p:nvPr/>
        </p:nvSpPr>
        <p:spPr>
          <a:xfrm>
            <a:off x="0" y="6165281"/>
            <a:ext cx="9144000" cy="692727"/>
          </a:xfrm>
          <a:prstGeom prst="rect">
            <a:avLst/>
          </a:prstGeom>
          <a:solidFill>
            <a:srgbClr val="3B2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1" name="Footer Placeholder 4"/>
          <p:cNvSpPr>
            <a:spLocks noGrp="1"/>
          </p:cNvSpPr>
          <p:nvPr>
            <p:ph type="ftr" sz="quarter" idx="3"/>
          </p:nvPr>
        </p:nvSpPr>
        <p:spPr>
          <a:xfrm>
            <a:off x="628652" y="6356358"/>
            <a:ext cx="4337241" cy="365125"/>
          </a:xfrm>
          <a:prstGeom prst="rect">
            <a:avLst/>
          </a:prstGeom>
        </p:spPr>
        <p:txBody>
          <a:bodyPr vert="horz" lIns="91440" tIns="45720" rIns="91440" bIns="45720" rtlCol="0" anchor="ctr"/>
          <a:lstStyle>
            <a:lvl1pPr algn="ctr">
              <a:defRPr sz="1200" b="0" i="1">
                <a:solidFill>
                  <a:schemeClr val="tx1">
                    <a:tint val="75000"/>
                  </a:schemeClr>
                </a:solidFill>
                <a:latin typeface="PT Sans"/>
                <a:cs typeface="PT Sans"/>
              </a:defRPr>
            </a:lvl1pPr>
          </a:lstStyle>
          <a:p>
            <a:endParaRPr lang="en-US"/>
          </a:p>
        </p:txBody>
      </p:sp>
      <p:pic>
        <p:nvPicPr>
          <p:cNvPr id="13" name="Picture 12" descr="MongoDB_Logo_Knockout_RGB.ep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99248" y="6307877"/>
            <a:ext cx="1328113" cy="388063"/>
          </a:xfrm>
          <a:prstGeom prst="rect">
            <a:avLst/>
          </a:prstGeom>
        </p:spPr>
      </p:pic>
    </p:spTree>
    <p:extLst>
      <p:ext uri="{BB962C8B-B14F-4D97-AF65-F5344CB8AC3E}">
        <p14:creationId xmlns:p14="http://schemas.microsoft.com/office/powerpoint/2010/main" val="473274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Header + Bullet Points">
    <p:spTree>
      <p:nvGrpSpPr>
        <p:cNvPr id="1" name=""/>
        <p:cNvGrpSpPr/>
        <p:nvPr/>
      </p:nvGrpSpPr>
      <p:grpSpPr>
        <a:xfrm>
          <a:off x="0" y="0"/>
          <a:ext cx="0" cy="0"/>
          <a:chOff x="0" y="0"/>
          <a:chExt cx="0" cy="0"/>
        </a:xfrm>
      </p:grpSpPr>
      <p:sp>
        <p:nvSpPr>
          <p:cNvPr id="11" name="Rectangle 10"/>
          <p:cNvSpPr/>
          <p:nvPr/>
        </p:nvSpPr>
        <p:spPr>
          <a:xfrm>
            <a:off x="0" y="6165281"/>
            <a:ext cx="9144000" cy="692727"/>
          </a:xfrm>
          <a:prstGeom prst="rect">
            <a:avLst/>
          </a:prstGeom>
          <a:solidFill>
            <a:srgbClr val="3B2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Title Placeholder 1"/>
          <p:cNvSpPr>
            <a:spLocks noGrp="1"/>
          </p:cNvSpPr>
          <p:nvPr>
            <p:ph type="title"/>
          </p:nvPr>
        </p:nvSpPr>
        <p:spPr>
          <a:xfrm>
            <a:off x="628405" y="336149"/>
            <a:ext cx="7898954" cy="851683"/>
          </a:xfrm>
          <a:prstGeom prst="rect">
            <a:avLst/>
          </a:prstGeom>
        </p:spPr>
        <p:txBody>
          <a:bodyPr vert="horz" lIns="0" tIns="0" rIns="0" bIns="0" rtlCol="0" anchor="ctr">
            <a:normAutofit/>
          </a:bodyPr>
          <a:lstStyle>
            <a:lvl1pPr>
              <a:defRPr sz="3600">
                <a:solidFill>
                  <a:srgbClr val="6BA342"/>
                </a:soli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628650" y="1503680"/>
            <a:ext cx="7899400" cy="4371094"/>
          </a:xfrm>
        </p:spPr>
        <p:txBody>
          <a:bodyPr/>
          <a:lstStyle>
            <a:lvl1pPr>
              <a:defRPr sz="2800"/>
            </a:lvl1pPr>
            <a:lvl2pPr>
              <a:defRPr sz="2400"/>
            </a:lvl2pPr>
          </a:lstStyle>
          <a:p>
            <a:pPr lvl="0"/>
            <a:r>
              <a:rPr lang="en-US" smtClean="0"/>
              <a:t>Click to edit Master text styles</a:t>
            </a:r>
          </a:p>
          <a:p>
            <a:pPr lvl="1"/>
            <a:r>
              <a:rPr lang="en-US" smtClean="0"/>
              <a:t>Second level</a:t>
            </a:r>
          </a:p>
        </p:txBody>
      </p:sp>
      <p:sp>
        <p:nvSpPr>
          <p:cNvPr id="13" name="Footer Placeholder 4"/>
          <p:cNvSpPr>
            <a:spLocks noGrp="1"/>
          </p:cNvSpPr>
          <p:nvPr>
            <p:ph type="ftr" sz="quarter" idx="3"/>
          </p:nvPr>
        </p:nvSpPr>
        <p:spPr>
          <a:xfrm>
            <a:off x="628652" y="6356358"/>
            <a:ext cx="4337241" cy="365125"/>
          </a:xfrm>
          <a:prstGeom prst="rect">
            <a:avLst/>
          </a:prstGeom>
        </p:spPr>
        <p:txBody>
          <a:bodyPr vert="horz" lIns="91440" tIns="45720" rIns="91440" bIns="45720" rtlCol="0" anchor="ctr"/>
          <a:lstStyle>
            <a:lvl1pPr algn="l">
              <a:defRPr sz="1200" b="0" i="1">
                <a:solidFill>
                  <a:schemeClr val="tx1">
                    <a:tint val="75000"/>
                  </a:schemeClr>
                </a:solidFill>
                <a:latin typeface="PT Sans"/>
                <a:cs typeface="PT Sans"/>
              </a:defRPr>
            </a:lvl1pPr>
          </a:lstStyle>
          <a:p>
            <a:endParaRPr lang="en-US"/>
          </a:p>
        </p:txBody>
      </p:sp>
      <p:pic>
        <p:nvPicPr>
          <p:cNvPr id="7" name="Picture 6" descr="MongoDB_Logo_Knockout_RGB.ep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99248" y="6307877"/>
            <a:ext cx="1328113" cy="388063"/>
          </a:xfrm>
          <a:prstGeom prst="rect">
            <a:avLst/>
          </a:prstGeom>
        </p:spPr>
      </p:pic>
    </p:spTree>
    <p:extLst>
      <p:ext uri="{BB962C8B-B14F-4D97-AF65-F5344CB8AC3E}">
        <p14:creationId xmlns:p14="http://schemas.microsoft.com/office/powerpoint/2010/main" val="706195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ection Title 1">
    <p:bg>
      <p:bgPr>
        <a:solidFill>
          <a:schemeClr val="accent5"/>
        </a:solidFill>
        <a:effectLst/>
      </p:bgPr>
    </p:bg>
    <p:spTree>
      <p:nvGrpSpPr>
        <p:cNvPr id="1" name=""/>
        <p:cNvGrpSpPr/>
        <p:nvPr/>
      </p:nvGrpSpPr>
      <p:grpSpPr>
        <a:xfrm>
          <a:off x="0" y="0"/>
          <a:ext cx="0" cy="0"/>
          <a:chOff x="0" y="0"/>
          <a:chExt cx="0" cy="0"/>
        </a:xfrm>
      </p:grpSpPr>
      <p:sp>
        <p:nvSpPr>
          <p:cNvPr id="7" name="Rectangle 6"/>
          <p:cNvSpPr/>
          <p:nvPr/>
        </p:nvSpPr>
        <p:spPr>
          <a:xfrm>
            <a:off x="0" y="6165281"/>
            <a:ext cx="9144000" cy="692727"/>
          </a:xfrm>
          <a:prstGeom prst="rect">
            <a:avLst/>
          </a:prstGeom>
          <a:solidFill>
            <a:srgbClr val="3B2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6" name="Picture 5" descr="Tree.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08025" y="0"/>
            <a:ext cx="4735979" cy="6858000"/>
          </a:xfrm>
          <a:prstGeom prst="rect">
            <a:avLst/>
          </a:prstGeom>
        </p:spPr>
      </p:pic>
      <p:pic>
        <p:nvPicPr>
          <p:cNvPr id="8" name="Picture 7" descr="MongoDB_Logo_Knockout_RGB.ep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9248" y="6307877"/>
            <a:ext cx="1328113" cy="388063"/>
          </a:xfrm>
          <a:prstGeom prst="rect">
            <a:avLst/>
          </a:prstGeom>
        </p:spPr>
      </p:pic>
      <p:sp>
        <p:nvSpPr>
          <p:cNvPr id="2" name="Title 1"/>
          <p:cNvSpPr>
            <a:spLocks noGrp="1"/>
          </p:cNvSpPr>
          <p:nvPr>
            <p:ph type="title" hasCustomPrompt="1"/>
          </p:nvPr>
        </p:nvSpPr>
        <p:spPr>
          <a:xfrm>
            <a:off x="616858" y="1835588"/>
            <a:ext cx="7898954" cy="1812776"/>
          </a:xfrm>
        </p:spPr>
        <p:txBody>
          <a:bodyPr anchor="ctr">
            <a:normAutofit/>
          </a:bodyPr>
          <a:lstStyle>
            <a:lvl1pPr>
              <a:lnSpc>
                <a:spcPct val="90000"/>
              </a:lnSpc>
              <a:defRPr sz="4400" spc="-100">
                <a:solidFill>
                  <a:srgbClr val="FFFFFF"/>
                </a:solidFill>
                <a:effectLst/>
              </a:defRPr>
            </a:lvl1pPr>
          </a:lstStyle>
          <a:p>
            <a:pPr lvl="0"/>
            <a:r>
              <a:rPr lang="en-US" dirty="0" smtClean="0"/>
              <a:t>Insert Section Title Here</a:t>
            </a:r>
            <a:endParaRPr lang="en-US" dirty="0"/>
          </a:p>
        </p:txBody>
      </p:sp>
    </p:spTree>
    <p:extLst>
      <p:ext uri="{BB962C8B-B14F-4D97-AF65-F5344CB8AC3E}">
        <p14:creationId xmlns:p14="http://schemas.microsoft.com/office/powerpoint/2010/main" val="1719645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Header + Paragraph">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628405" y="336149"/>
            <a:ext cx="7898954" cy="851683"/>
          </a:xfrm>
          <a:prstGeom prst="rect">
            <a:avLst/>
          </a:prstGeom>
        </p:spPr>
        <p:txBody>
          <a:bodyPr vert="horz" lIns="0" tIns="0" rIns="0" bIns="0" rtlCol="0" anchor="ctr">
            <a:normAutofit/>
          </a:bodyPr>
          <a:lstStyle>
            <a:lvl1pPr>
              <a:defRPr>
                <a:solidFill>
                  <a:srgbClr val="6BA342"/>
                </a:solidFill>
              </a:defRPr>
            </a:lvl1pPr>
          </a:lstStyle>
          <a:p>
            <a:r>
              <a:rPr lang="en-US" smtClean="0"/>
              <a:t>Click to edit Master title style</a:t>
            </a:r>
            <a:endParaRPr lang="en-US" dirty="0"/>
          </a:p>
        </p:txBody>
      </p:sp>
      <p:sp>
        <p:nvSpPr>
          <p:cNvPr id="3" name="Text Placeholder 2"/>
          <p:cNvSpPr>
            <a:spLocks noGrp="1"/>
          </p:cNvSpPr>
          <p:nvPr>
            <p:ph type="body" sz="quarter" idx="12" hasCustomPrompt="1"/>
          </p:nvPr>
        </p:nvSpPr>
        <p:spPr>
          <a:xfrm>
            <a:off x="628650" y="1503680"/>
            <a:ext cx="7899400" cy="4371094"/>
          </a:xfrm>
        </p:spPr>
        <p:txBody>
          <a:bodyPr/>
          <a:lstStyle>
            <a:lvl1pPr marL="0" indent="0">
              <a:lnSpc>
                <a:spcPts val="3440"/>
              </a:lnSpc>
              <a:spcBef>
                <a:spcPts val="0"/>
              </a:spcBef>
              <a:spcAft>
                <a:spcPts val="1400"/>
              </a:spcAft>
              <a:buNone/>
              <a:defRPr sz="2800" spc="-91" baseline="0"/>
            </a:lvl1pPr>
          </a:lstStyle>
          <a:p>
            <a:pPr lvl="0"/>
            <a:r>
              <a:rPr lang="en-US" dirty="0" smtClean="0"/>
              <a:t>Insert text here. </a:t>
            </a:r>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consectetur</a:t>
            </a:r>
            <a:r>
              <a:rPr lang="en-US" dirty="0" smtClean="0"/>
              <a:t> </a:t>
            </a:r>
            <a:r>
              <a:rPr lang="en-US" dirty="0" err="1" smtClean="0"/>
              <a:t>adipscing</a:t>
            </a:r>
            <a:r>
              <a:rPr lang="en-US" dirty="0" smtClean="0"/>
              <a:t> </a:t>
            </a:r>
            <a:r>
              <a:rPr lang="en-US" dirty="0" err="1" smtClean="0"/>
              <a:t>elit</a:t>
            </a:r>
            <a:r>
              <a:rPr lang="en-US" dirty="0" smtClean="0"/>
              <a:t>.</a:t>
            </a:r>
          </a:p>
          <a:p>
            <a:pPr lvl="0"/>
            <a:r>
              <a:rPr lang="en-US" dirty="0" err="1" smtClean="0"/>
              <a:t>Sed</a:t>
            </a:r>
            <a:r>
              <a:rPr lang="en-US" dirty="0" smtClean="0"/>
              <a:t> dolor ante, </a:t>
            </a:r>
            <a:r>
              <a:rPr lang="en-US" dirty="0" err="1" smtClean="0"/>
              <a:t>tincidunt</a:t>
            </a:r>
            <a:r>
              <a:rPr lang="en-US" dirty="0" smtClean="0"/>
              <a:t> </a:t>
            </a:r>
            <a:r>
              <a:rPr lang="en-US" dirty="0" err="1" smtClean="0"/>
              <a:t>consequat</a:t>
            </a:r>
            <a:r>
              <a:rPr lang="en-US" dirty="0" smtClean="0"/>
              <a:t> </a:t>
            </a:r>
            <a:r>
              <a:rPr lang="en-US" dirty="0" err="1" smtClean="0"/>
              <a:t>fringilla</a:t>
            </a:r>
            <a:r>
              <a:rPr lang="en-US" dirty="0" smtClean="0"/>
              <a:t>, </a:t>
            </a:r>
            <a:r>
              <a:rPr lang="en-US" dirty="0" err="1" smtClean="0"/>
              <a:t>portitor</a:t>
            </a:r>
            <a:r>
              <a:rPr lang="en-US" dirty="0" smtClean="0"/>
              <a:t> id </a:t>
            </a:r>
            <a:r>
              <a:rPr lang="en-US" dirty="0" err="1" smtClean="0"/>
              <a:t>libero</a:t>
            </a:r>
            <a:r>
              <a:rPr lang="en-US" dirty="0" smtClean="0"/>
              <a:t>. </a:t>
            </a:r>
            <a:r>
              <a:rPr lang="en-US" dirty="0" err="1" smtClean="0"/>
              <a:t>Fusce</a:t>
            </a:r>
            <a:r>
              <a:rPr lang="en-US" dirty="0" smtClean="0"/>
              <a:t> non </a:t>
            </a:r>
            <a:r>
              <a:rPr lang="en-US" dirty="0" err="1" smtClean="0"/>
              <a:t>lectus</a:t>
            </a:r>
            <a:r>
              <a:rPr lang="en-US" dirty="0" smtClean="0"/>
              <a:t> </a:t>
            </a:r>
            <a:r>
              <a:rPr lang="en-US" dirty="0" err="1" smtClean="0"/>
              <a:t>nisl</a:t>
            </a:r>
            <a:r>
              <a:rPr lang="en-US" dirty="0" smtClean="0"/>
              <a:t>, </a:t>
            </a:r>
            <a:r>
              <a:rPr lang="en-US" dirty="0" err="1" smtClean="0"/>
              <a:t>sed</a:t>
            </a:r>
            <a:r>
              <a:rPr lang="en-US" dirty="0" smtClean="0"/>
              <a:t> </a:t>
            </a:r>
            <a:r>
              <a:rPr lang="en-US" dirty="0" err="1" smtClean="0"/>
              <a:t>facilisis</a:t>
            </a:r>
            <a:r>
              <a:rPr lang="en-US" dirty="0" smtClean="0"/>
              <a:t> </a:t>
            </a:r>
            <a:r>
              <a:rPr lang="en-US" dirty="0" err="1" smtClean="0"/>
              <a:t>auge</a:t>
            </a:r>
            <a:r>
              <a:rPr lang="en-US" dirty="0" smtClean="0"/>
              <a:t>.</a:t>
            </a:r>
            <a:endParaRPr lang="en-US" dirty="0"/>
          </a:p>
        </p:txBody>
      </p:sp>
      <p:sp>
        <p:nvSpPr>
          <p:cNvPr id="7" name="Rectangle 6"/>
          <p:cNvSpPr/>
          <p:nvPr/>
        </p:nvSpPr>
        <p:spPr>
          <a:xfrm>
            <a:off x="0" y="6165281"/>
            <a:ext cx="9144000" cy="692727"/>
          </a:xfrm>
          <a:prstGeom prst="rect">
            <a:avLst/>
          </a:prstGeom>
          <a:solidFill>
            <a:srgbClr val="3B2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3" name="Footer Placeholder 4"/>
          <p:cNvSpPr>
            <a:spLocks noGrp="1"/>
          </p:cNvSpPr>
          <p:nvPr>
            <p:ph type="ftr" sz="quarter" idx="3"/>
          </p:nvPr>
        </p:nvSpPr>
        <p:spPr>
          <a:xfrm>
            <a:off x="628652" y="6356358"/>
            <a:ext cx="4337241" cy="365125"/>
          </a:xfrm>
          <a:prstGeom prst="rect">
            <a:avLst/>
          </a:prstGeom>
        </p:spPr>
        <p:txBody>
          <a:bodyPr vert="horz" lIns="91440" tIns="45720" rIns="91440" bIns="45720" rtlCol="0" anchor="ctr"/>
          <a:lstStyle>
            <a:lvl1pPr algn="ctr">
              <a:defRPr sz="1200" b="0" i="1">
                <a:solidFill>
                  <a:schemeClr val="tx1">
                    <a:tint val="75000"/>
                  </a:schemeClr>
                </a:solidFill>
                <a:latin typeface="PT Sans"/>
                <a:cs typeface="PT Sans"/>
              </a:defRPr>
            </a:lvl1pPr>
          </a:lstStyle>
          <a:p>
            <a:endParaRPr lang="en-US"/>
          </a:p>
        </p:txBody>
      </p:sp>
      <p:pic>
        <p:nvPicPr>
          <p:cNvPr id="10" name="Picture 9" descr="MongoDB_Logo_Knockout_RGB.ep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99248" y="6307877"/>
            <a:ext cx="1328113" cy="388063"/>
          </a:xfrm>
          <a:prstGeom prst="rect">
            <a:avLst/>
          </a:prstGeom>
        </p:spPr>
      </p:pic>
    </p:spTree>
    <p:extLst>
      <p:ext uri="{BB962C8B-B14F-4D97-AF65-F5344CB8AC3E}">
        <p14:creationId xmlns:p14="http://schemas.microsoft.com/office/powerpoint/2010/main" val="3447136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Header + Code Demo">
    <p:bg>
      <p:bgPr>
        <a:solidFill>
          <a:schemeClr val="bg1">
            <a:lumMod val="10000"/>
          </a:schemeClr>
        </a:solidFill>
        <a:effectLst/>
      </p:bgPr>
    </p:bg>
    <p:spTree>
      <p:nvGrpSpPr>
        <p:cNvPr id="1" name=""/>
        <p:cNvGrpSpPr/>
        <p:nvPr/>
      </p:nvGrpSpPr>
      <p:grpSpPr>
        <a:xfrm>
          <a:off x="0" y="0"/>
          <a:ext cx="0" cy="0"/>
          <a:chOff x="0" y="0"/>
          <a:chExt cx="0" cy="0"/>
        </a:xfrm>
      </p:grpSpPr>
      <p:sp>
        <p:nvSpPr>
          <p:cNvPr id="3" name="Rectangle 2"/>
          <p:cNvSpPr/>
          <p:nvPr/>
        </p:nvSpPr>
        <p:spPr>
          <a:xfrm>
            <a:off x="0" y="8"/>
            <a:ext cx="9144000" cy="1405505"/>
          </a:xfrm>
          <a:prstGeom prst="rect">
            <a:avLst/>
          </a:prstGeom>
          <a:solidFill>
            <a:schemeClr val="bg2">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Content Placeholder 2"/>
          <p:cNvSpPr>
            <a:spLocks noGrp="1"/>
          </p:cNvSpPr>
          <p:nvPr>
            <p:ph idx="1" hasCustomPrompt="1"/>
          </p:nvPr>
        </p:nvSpPr>
        <p:spPr>
          <a:xfrm>
            <a:off x="628403" y="1652091"/>
            <a:ext cx="7887195" cy="4452399"/>
          </a:xfrm>
          <a:prstGeom prst="rect">
            <a:avLst/>
          </a:prstGeom>
        </p:spPr>
        <p:txBody>
          <a:bodyPr lIns="0" tIns="45720" rIns="0" bIns="0" anchor="t" anchorCtr="0"/>
          <a:lstStyle>
            <a:lvl1pPr marL="0" marR="0" indent="0" algn="l" defTabSz="457178" rtl="0" eaLnBrk="1" fontAlgn="auto" latinLnBrk="0" hangingPunct="1">
              <a:lnSpc>
                <a:spcPct val="90000"/>
              </a:lnSpc>
              <a:spcBef>
                <a:spcPts val="1272"/>
              </a:spcBef>
              <a:spcAft>
                <a:spcPts val="0"/>
              </a:spcAft>
              <a:buClr>
                <a:srgbClr val="0075BF"/>
              </a:buClr>
              <a:buSzPct val="85000"/>
              <a:buFont typeface="Arial"/>
              <a:buNone/>
              <a:tabLst/>
              <a:defRPr sz="1800" b="1" i="0" spc="51" baseline="0">
                <a:solidFill>
                  <a:schemeClr val="bg1"/>
                </a:solidFill>
                <a:latin typeface="Source Code Pro Semibold"/>
                <a:cs typeface="Lucida Console"/>
              </a:defRPr>
            </a:lvl1pPr>
            <a:lvl2pPr marL="457178" marR="0" indent="0" algn="l" defTabSz="457178" rtl="0" eaLnBrk="1" fontAlgn="auto" latinLnBrk="0" hangingPunct="1">
              <a:lnSpc>
                <a:spcPct val="100000"/>
              </a:lnSpc>
              <a:spcBef>
                <a:spcPts val="200"/>
              </a:spcBef>
              <a:spcAft>
                <a:spcPts val="0"/>
              </a:spcAft>
              <a:buClrTx/>
              <a:buSzTx/>
              <a:buFont typeface="Arial"/>
              <a:buNone/>
              <a:tabLst/>
              <a:defRPr/>
            </a:lvl2pPr>
          </a:lstStyle>
          <a:p>
            <a:pPr lvl="0"/>
            <a:r>
              <a:rPr lang="en-US" dirty="0" smtClean="0"/>
              <a:t>Insert code here</a:t>
            </a:r>
          </a:p>
        </p:txBody>
      </p:sp>
      <p:sp>
        <p:nvSpPr>
          <p:cNvPr id="8" name="Title Placeholder 1"/>
          <p:cNvSpPr>
            <a:spLocks noGrp="1"/>
          </p:cNvSpPr>
          <p:nvPr>
            <p:ph type="title" hasCustomPrompt="1"/>
          </p:nvPr>
        </p:nvSpPr>
        <p:spPr>
          <a:xfrm>
            <a:off x="628405" y="336149"/>
            <a:ext cx="7898954" cy="851683"/>
          </a:xfrm>
          <a:prstGeom prst="rect">
            <a:avLst/>
          </a:prstGeom>
        </p:spPr>
        <p:txBody>
          <a:bodyPr vert="horz" lIns="0" tIns="0" rIns="0" bIns="0" rtlCol="0" anchor="ctr">
            <a:noAutofit/>
          </a:bodyPr>
          <a:lstStyle>
            <a:lvl1pPr>
              <a:defRPr sz="3600" baseline="0">
                <a:solidFill>
                  <a:srgbClr val="6BA342"/>
                </a:solidFill>
              </a:defRPr>
            </a:lvl1pPr>
          </a:lstStyle>
          <a:p>
            <a:r>
              <a:rPr lang="en-US" dirty="0" smtClean="0"/>
              <a:t>Insert header here (2 lines max)</a:t>
            </a:r>
            <a:endParaRPr lang="en-US" dirty="0"/>
          </a:p>
        </p:txBody>
      </p:sp>
      <p:sp>
        <p:nvSpPr>
          <p:cNvPr id="7" name="Footer Placeholder 4"/>
          <p:cNvSpPr>
            <a:spLocks noGrp="1"/>
          </p:cNvSpPr>
          <p:nvPr>
            <p:ph type="ftr" sz="quarter" idx="3"/>
          </p:nvPr>
        </p:nvSpPr>
        <p:spPr>
          <a:xfrm>
            <a:off x="628403" y="6356358"/>
            <a:ext cx="4337241" cy="365125"/>
          </a:xfrm>
          <a:prstGeom prst="rect">
            <a:avLst/>
          </a:prstGeom>
        </p:spPr>
        <p:txBody>
          <a:bodyPr vert="horz" lIns="91440" tIns="45720" rIns="91440" bIns="45720" rtlCol="0" anchor="ctr"/>
          <a:lstStyle>
            <a:lvl1pPr algn="l">
              <a:defRPr sz="1200" b="0" i="1">
                <a:solidFill>
                  <a:schemeClr val="tx1">
                    <a:tint val="75000"/>
                  </a:schemeClr>
                </a:solidFill>
                <a:latin typeface="PT Sans"/>
                <a:cs typeface="PT Sans"/>
              </a:defRPr>
            </a:lvl1pPr>
          </a:lstStyle>
          <a:p>
            <a:endParaRPr lang="en-US"/>
          </a:p>
        </p:txBody>
      </p:sp>
    </p:spTree>
    <p:extLst>
      <p:ext uri="{BB962C8B-B14F-4D97-AF65-F5344CB8AC3E}">
        <p14:creationId xmlns:p14="http://schemas.microsoft.com/office/powerpoint/2010/main" val="2041530600"/>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0055"/>
            <a:ext cx="82296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471084"/>
            <a:ext cx="8229600" cy="497416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34753550"/>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0" r:id="rId4"/>
    <p:sldLayoutId id="2147483654" r:id="rId5"/>
    <p:sldLayoutId id="2147483653" r:id="rId6"/>
    <p:sldLayoutId id="2147483655" r:id="rId7"/>
    <p:sldLayoutId id="2147483656" r:id="rId8"/>
    <p:sldLayoutId id="2147483657" r:id="rId9"/>
    <p:sldLayoutId id="2147483658" r:id="rId10"/>
    <p:sldLayoutId id="2147483660" r:id="rId11"/>
    <p:sldLayoutId id="2147483661" r:id="rId12"/>
  </p:sldLayoutIdLst>
  <p:timing>
    <p:tnLst>
      <p:par>
        <p:cTn xmlns:p14="http://schemas.microsoft.com/office/powerpoint/2010/main" id="1" dur="indefinite" restart="never" nodeType="tmRoot"/>
      </p:par>
    </p:tnLst>
  </p:timing>
  <p:txStyles>
    <p:titleStyle>
      <a:lvl1pPr algn="ctr" defTabSz="457200" rtl="0" eaLnBrk="1" latinLnBrk="0" hangingPunct="1">
        <a:spcBef>
          <a:spcPct val="0"/>
        </a:spcBef>
        <a:buNone/>
        <a:defRPr sz="3600" b="1" kern="1200" spc="-150">
          <a:solidFill>
            <a:srgbClr val="242423"/>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e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800" y="2454981"/>
            <a:ext cx="7772400" cy="1470025"/>
          </a:xfrm>
        </p:spPr>
        <p:txBody>
          <a:bodyPr>
            <a:normAutofit/>
          </a:bodyPr>
          <a:lstStyle/>
          <a:p>
            <a:r>
              <a:rPr lang="en-US" sz="5400" dirty="0" smtClean="0"/>
              <a:t>Thinking In Documents</a:t>
            </a:r>
            <a:endParaRPr lang="en-US" sz="5400" dirty="0"/>
          </a:p>
        </p:txBody>
      </p:sp>
      <p:sp>
        <p:nvSpPr>
          <p:cNvPr id="2" name="Subtitle 1"/>
          <p:cNvSpPr>
            <a:spLocks noGrp="1"/>
          </p:cNvSpPr>
          <p:nvPr>
            <p:ph type="subTitle" idx="1"/>
          </p:nvPr>
        </p:nvSpPr>
        <p:spPr>
          <a:xfrm>
            <a:off x="1371600" y="4342915"/>
            <a:ext cx="6400800" cy="1776410"/>
          </a:xfrm>
        </p:spPr>
        <p:txBody>
          <a:bodyPr>
            <a:normAutofit/>
          </a:bodyPr>
          <a:lstStyle/>
          <a:p>
            <a:r>
              <a:rPr lang="en-US" sz="3200" dirty="0" smtClean="0"/>
              <a:t>Buzz Moschetti</a:t>
            </a:r>
          </a:p>
          <a:p>
            <a:r>
              <a:rPr lang="en-US" sz="1800" i="1" dirty="0" smtClean="0"/>
              <a:t>Enterprise Architect, MongoDB</a:t>
            </a:r>
          </a:p>
          <a:p>
            <a:r>
              <a:rPr lang="en-US" sz="1800" dirty="0" err="1"/>
              <a:t>b</a:t>
            </a:r>
            <a:r>
              <a:rPr lang="en-US" sz="1800" dirty="0" err="1" smtClean="0"/>
              <a:t>uzz.moschetti@mongodb.com</a:t>
            </a:r>
            <a:endParaRPr lang="en-US" sz="1800" dirty="0" smtClean="0"/>
          </a:p>
          <a:p>
            <a:r>
              <a:rPr lang="en-US" sz="1800" dirty="0" smtClean="0"/>
              <a:t>@</a:t>
            </a:r>
            <a:r>
              <a:rPr lang="en-US" sz="1800" dirty="0" err="1" smtClean="0"/>
              <a:t>buzzmoschetti</a:t>
            </a:r>
            <a:endParaRPr lang="en-US" sz="1800" dirty="0"/>
          </a:p>
        </p:txBody>
      </p:sp>
      <p:pic>
        <p:nvPicPr>
          <p:cNvPr id="4" name="Picture 3" descr="MongoDB-Logo-White-RGB.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8156" y="834779"/>
            <a:ext cx="3427652" cy="977816"/>
          </a:xfrm>
          <a:prstGeom prst="rect">
            <a:avLst/>
          </a:prstGeom>
        </p:spPr>
      </p:pic>
    </p:spTree>
    <p:extLst>
      <p:ext uri="{BB962C8B-B14F-4D97-AF65-F5344CB8AC3E}">
        <p14:creationId xmlns:p14="http://schemas.microsoft.com/office/powerpoint/2010/main" val="3761135477"/>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654591" y="336550"/>
            <a:ext cx="7899400" cy="850900"/>
          </a:xfrm>
        </p:spPr>
        <p:txBody>
          <a:bodyPr/>
          <a:lstStyle/>
          <a:p>
            <a:r>
              <a:rPr lang="en-US" dirty="0" smtClean="0"/>
              <a:t>Before We Begin </a:t>
            </a:r>
            <a:endParaRPr lang="en-US" dirty="0"/>
          </a:p>
        </p:txBody>
      </p:sp>
      <p:sp>
        <p:nvSpPr>
          <p:cNvPr id="17" name="Text Placeholder 2"/>
          <p:cNvSpPr txBox="1">
            <a:spLocks/>
          </p:cNvSpPr>
          <p:nvPr/>
        </p:nvSpPr>
        <p:spPr>
          <a:xfrm>
            <a:off x="628649" y="1219200"/>
            <a:ext cx="7363113" cy="4371094"/>
          </a:xfrm>
          <a:prstGeom prst="rect">
            <a:avLst/>
          </a:prstGeom>
        </p:spPr>
        <p:txBody>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r>
              <a:rPr lang="en-US" sz="2800" dirty="0" smtClean="0"/>
              <a:t>This webinar is being recorded</a:t>
            </a:r>
          </a:p>
          <a:p>
            <a:pPr marL="457200" indent="-457200"/>
            <a:r>
              <a:rPr lang="en-US" sz="2800" dirty="0" smtClean="0"/>
              <a:t>Use The Chat Window for</a:t>
            </a:r>
          </a:p>
          <a:p>
            <a:pPr marL="1197864" lvl="1" indent="-457200">
              <a:buFont typeface="Arial"/>
              <a:buChar char="•"/>
            </a:pPr>
            <a:r>
              <a:rPr lang="en-US" sz="2800" dirty="0" smtClean="0"/>
              <a:t>Technical assistance</a:t>
            </a:r>
          </a:p>
          <a:p>
            <a:pPr marL="1197864" lvl="1" indent="-457200">
              <a:buFont typeface="Arial"/>
              <a:buChar char="•"/>
            </a:pPr>
            <a:r>
              <a:rPr lang="en-US" sz="2800" dirty="0" smtClean="0"/>
              <a:t>Q&amp;A</a:t>
            </a:r>
          </a:p>
          <a:p>
            <a:pPr marL="1600200" lvl="2" indent="-457200"/>
            <a:r>
              <a:rPr lang="en-US" sz="2800" dirty="0" err="1" smtClean="0"/>
              <a:t>MongoDB</a:t>
            </a:r>
            <a:r>
              <a:rPr lang="en-US" sz="2800" dirty="0" smtClean="0"/>
              <a:t> Team will answer quick questions in </a:t>
            </a:r>
            <a:r>
              <a:rPr lang="en-US" sz="2800" dirty="0" err="1" smtClean="0"/>
              <a:t>realtime</a:t>
            </a:r>
            <a:endParaRPr lang="en-US" sz="2800" dirty="0" smtClean="0"/>
          </a:p>
          <a:p>
            <a:pPr marL="1600200" lvl="2" indent="-457200"/>
            <a:r>
              <a:rPr lang="en-US" sz="2800" dirty="0" smtClean="0"/>
              <a:t>“Common” questions will be reviewed at the end of the webinar</a:t>
            </a:r>
          </a:p>
        </p:txBody>
      </p:sp>
    </p:spTree>
    <p:extLst>
      <p:ext uri="{BB962C8B-B14F-4D97-AF65-F5344CB8AC3E}">
        <p14:creationId xmlns:p14="http://schemas.microsoft.com/office/powerpoint/2010/main" val="592552326"/>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46126" y="728083"/>
            <a:ext cx="7490926" cy="2634563"/>
          </a:xfrm>
        </p:spPr>
        <p:txBody>
          <a:bodyPr>
            <a:normAutofit/>
          </a:bodyPr>
          <a:lstStyle/>
          <a:p>
            <a:pPr>
              <a:lnSpc>
                <a:spcPct val="110000"/>
              </a:lnSpc>
            </a:pPr>
            <a:r>
              <a:rPr lang="en-US" sz="4000" dirty="0" smtClean="0"/>
              <a:t>Theme #1: </a:t>
            </a:r>
            <a:br>
              <a:rPr lang="en-US" sz="4000" dirty="0" smtClean="0"/>
            </a:br>
            <a:r>
              <a:rPr lang="en-US" sz="4000" dirty="0" smtClean="0"/>
              <a:t>Great Data Design</a:t>
            </a:r>
            <a:r>
              <a:rPr lang="en-US" sz="4000" dirty="0" smtClean="0">
                <a:solidFill>
                  <a:srgbClr val="5B972B"/>
                </a:solidFill>
              </a:rPr>
              <a:t> </a:t>
            </a:r>
            <a:r>
              <a:rPr lang="en-US" sz="4000" dirty="0" smtClean="0"/>
              <a:t>involves </a:t>
            </a:r>
            <a:r>
              <a:rPr lang="en-US" sz="4000" dirty="0" smtClean="0">
                <a:solidFill>
                  <a:srgbClr val="5B972B"/>
                </a:solidFill>
              </a:rPr>
              <a:t>much more</a:t>
            </a:r>
            <a:r>
              <a:rPr lang="en-US" sz="4000" dirty="0" smtClean="0"/>
              <a:t> than the database</a:t>
            </a:r>
            <a:endParaRPr lang="en-US" sz="4000" dirty="0"/>
          </a:p>
        </p:txBody>
      </p:sp>
      <p:sp>
        <p:nvSpPr>
          <p:cNvPr id="4" name="TextBox 3"/>
          <p:cNvSpPr txBox="1"/>
          <p:nvPr/>
        </p:nvSpPr>
        <p:spPr>
          <a:xfrm>
            <a:off x="1107165" y="3261481"/>
            <a:ext cx="7664959" cy="1569660"/>
          </a:xfrm>
          <a:prstGeom prst="rect">
            <a:avLst/>
          </a:prstGeom>
          <a:noFill/>
        </p:spPr>
        <p:txBody>
          <a:bodyPr wrap="square" rtlCol="0">
            <a:spAutoFit/>
          </a:bodyPr>
          <a:lstStyle/>
          <a:p>
            <a:pPr marL="285750" indent="-285750">
              <a:buFont typeface="Arial"/>
              <a:buChar char="•"/>
            </a:pPr>
            <a:r>
              <a:rPr lang="en-US" sz="3200" dirty="0" smtClean="0">
                <a:solidFill>
                  <a:srgbClr val="FFFFFF"/>
                </a:solidFill>
              </a:rPr>
              <a:t>Easily understood structures</a:t>
            </a:r>
          </a:p>
          <a:p>
            <a:pPr marL="285750" indent="-285750">
              <a:buFont typeface="Arial"/>
              <a:buChar char="•"/>
            </a:pPr>
            <a:r>
              <a:rPr lang="en-US" sz="3200" dirty="0" smtClean="0">
                <a:solidFill>
                  <a:srgbClr val="FFFFFF"/>
                </a:solidFill>
              </a:rPr>
              <a:t>Harmonized with software</a:t>
            </a:r>
          </a:p>
          <a:p>
            <a:pPr marL="285750" indent="-285750">
              <a:buFont typeface="Arial"/>
              <a:buChar char="•"/>
            </a:pPr>
            <a:r>
              <a:rPr lang="en-US" sz="3200" dirty="0" smtClean="0">
                <a:solidFill>
                  <a:srgbClr val="FFFFFF"/>
                </a:solidFill>
              </a:rPr>
              <a:t>Acknowledging legacy issues</a:t>
            </a:r>
          </a:p>
        </p:txBody>
      </p:sp>
    </p:spTree>
    <p:extLst>
      <p:ext uri="{BB962C8B-B14F-4D97-AF65-F5344CB8AC3E}">
        <p14:creationId xmlns:p14="http://schemas.microsoft.com/office/powerpoint/2010/main" val="3936288218"/>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46126" y="728083"/>
            <a:ext cx="7635932" cy="2634563"/>
          </a:xfrm>
        </p:spPr>
        <p:txBody>
          <a:bodyPr>
            <a:noAutofit/>
          </a:bodyPr>
          <a:lstStyle/>
          <a:p>
            <a:pPr>
              <a:lnSpc>
                <a:spcPct val="110000"/>
              </a:lnSpc>
            </a:pPr>
            <a:r>
              <a:rPr lang="en-US" sz="4000" dirty="0" smtClean="0"/>
              <a:t>Theme #2: </a:t>
            </a:r>
            <a:br>
              <a:rPr lang="en-US" sz="4000" dirty="0" smtClean="0"/>
            </a:br>
            <a:r>
              <a:rPr lang="en-US" sz="4000" dirty="0" smtClean="0"/>
              <a:t>Today’s solutions need to accommodate </a:t>
            </a:r>
            <a:r>
              <a:rPr lang="en-US" sz="4000" dirty="0" smtClean="0">
                <a:solidFill>
                  <a:srgbClr val="5B972B"/>
                </a:solidFill>
              </a:rPr>
              <a:t>tomorrow’s needs</a:t>
            </a:r>
            <a:endParaRPr lang="en-US" sz="4000" dirty="0"/>
          </a:p>
        </p:txBody>
      </p:sp>
      <p:sp>
        <p:nvSpPr>
          <p:cNvPr id="4" name="TextBox 3"/>
          <p:cNvSpPr txBox="1"/>
          <p:nvPr/>
        </p:nvSpPr>
        <p:spPr>
          <a:xfrm>
            <a:off x="1107166" y="3261481"/>
            <a:ext cx="7374892" cy="1569660"/>
          </a:xfrm>
          <a:prstGeom prst="rect">
            <a:avLst/>
          </a:prstGeom>
          <a:noFill/>
        </p:spPr>
        <p:txBody>
          <a:bodyPr wrap="square" rtlCol="0">
            <a:spAutoFit/>
          </a:bodyPr>
          <a:lstStyle/>
          <a:p>
            <a:pPr marL="285750" indent="-285750">
              <a:buFont typeface="Arial"/>
              <a:buChar char="•"/>
            </a:pPr>
            <a:r>
              <a:rPr lang="en-US" sz="3200" dirty="0" smtClean="0">
                <a:solidFill>
                  <a:srgbClr val="FFFFFF"/>
                </a:solidFill>
              </a:rPr>
              <a:t>End of “Requirements Complete”</a:t>
            </a:r>
          </a:p>
          <a:p>
            <a:pPr marL="285750" indent="-285750">
              <a:buFont typeface="Arial"/>
              <a:buChar char="•"/>
            </a:pPr>
            <a:r>
              <a:rPr lang="en-US" sz="3200" dirty="0" smtClean="0">
                <a:solidFill>
                  <a:srgbClr val="FFFFFF"/>
                </a:solidFill>
              </a:rPr>
              <a:t>Ability to economically scale</a:t>
            </a:r>
          </a:p>
          <a:p>
            <a:pPr marL="285750" indent="-285750">
              <a:buFont typeface="Arial"/>
              <a:buChar char="•"/>
            </a:pPr>
            <a:r>
              <a:rPr lang="en-US" sz="3200" dirty="0" smtClean="0">
                <a:solidFill>
                  <a:srgbClr val="FFFFFF"/>
                </a:solidFill>
              </a:rPr>
              <a:t>Shorter solutions lifecycles</a:t>
            </a:r>
          </a:p>
        </p:txBody>
      </p:sp>
    </p:spTree>
    <p:extLst>
      <p:ext uri="{BB962C8B-B14F-4D97-AF65-F5344CB8AC3E}">
        <p14:creationId xmlns:p14="http://schemas.microsoft.com/office/powerpoint/2010/main" val="3357400293"/>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46126" y="728083"/>
            <a:ext cx="7490926" cy="2634563"/>
          </a:xfrm>
        </p:spPr>
        <p:txBody>
          <a:bodyPr>
            <a:normAutofit/>
          </a:bodyPr>
          <a:lstStyle/>
          <a:p>
            <a:pPr>
              <a:lnSpc>
                <a:spcPct val="110000"/>
              </a:lnSpc>
            </a:pPr>
            <a:r>
              <a:rPr lang="en-US" sz="4000" dirty="0" smtClean="0"/>
              <a:t>Theme #3: </a:t>
            </a:r>
            <a:br>
              <a:rPr lang="en-US" sz="4000" dirty="0" smtClean="0"/>
            </a:br>
            <a:r>
              <a:rPr lang="en-US" sz="4000" dirty="0" err="1" smtClean="0"/>
              <a:t>MongoDB</a:t>
            </a:r>
            <a:r>
              <a:rPr lang="en-US" sz="4000" dirty="0" smtClean="0">
                <a:solidFill>
                  <a:srgbClr val="5B972B"/>
                </a:solidFill>
              </a:rPr>
              <a:t> </a:t>
            </a:r>
            <a:r>
              <a:rPr lang="en-US" sz="4000" dirty="0" smtClean="0"/>
              <a:t>offers you </a:t>
            </a:r>
            <a:r>
              <a:rPr lang="en-US" sz="4000" dirty="0" smtClean="0">
                <a:solidFill>
                  <a:srgbClr val="5B972B"/>
                </a:solidFill>
              </a:rPr>
              <a:t>choice</a:t>
            </a:r>
            <a:endParaRPr lang="en-US" sz="4000" dirty="0"/>
          </a:p>
        </p:txBody>
      </p:sp>
    </p:spTree>
    <p:extLst>
      <p:ext uri="{BB962C8B-B14F-4D97-AF65-F5344CB8AC3E}">
        <p14:creationId xmlns:p14="http://schemas.microsoft.com/office/powerpoint/2010/main" val="3791210937"/>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ontent Placeholder 4"/>
          <p:cNvGraphicFramePr>
            <a:graphicFrameLocks/>
          </p:cNvGraphicFramePr>
          <p:nvPr>
            <p:extLst>
              <p:ext uri="{D42A27DB-BD31-4B8C-83A1-F6EECF244321}">
                <p14:modId xmlns:p14="http://schemas.microsoft.com/office/powerpoint/2010/main" val="2764830099"/>
              </p:ext>
            </p:extLst>
          </p:nvPr>
        </p:nvGraphicFramePr>
        <p:xfrm>
          <a:off x="1073691" y="1978478"/>
          <a:ext cx="7079709" cy="3745009"/>
        </p:xfrm>
        <a:graphic>
          <a:graphicData uri="http://schemas.openxmlformats.org/drawingml/2006/table">
            <a:tbl>
              <a:tblPr firstRow="1" bandRow="1">
                <a:tableStyleId>{5C22544A-7EE6-4342-B048-85BDC9FD1C3A}</a:tableStyleId>
              </a:tblPr>
              <a:tblGrid>
                <a:gridCol w="3511009"/>
                <a:gridCol w="3568700"/>
              </a:tblGrid>
              <a:tr h="527419">
                <a:tc>
                  <a:txBody>
                    <a:bodyPr/>
                    <a:lstStyle/>
                    <a:p>
                      <a:r>
                        <a:rPr lang="en-US" dirty="0" smtClean="0"/>
                        <a:t>RDBMS</a:t>
                      </a:r>
                      <a:endParaRPr lang="en-US" dirty="0"/>
                    </a:p>
                  </a:txBody>
                  <a:tcPr marL="274320" marT="45721" marB="45721" anchor="ctr">
                    <a:lnL w="12700" cap="flat" cmpd="sng" algn="ctr">
                      <a:noFill/>
                      <a:prstDash val="sysDot"/>
                      <a:round/>
                      <a:headEnd type="none" w="med" len="med"/>
                      <a:tailEnd type="none" w="med" len="med"/>
                    </a:lnL>
                    <a:lnR w="12700" cap="flat" cmpd="sng" algn="ctr">
                      <a:noFill/>
                      <a:prstDash val="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solidFill>
                      <a:srgbClr val="383737"/>
                    </a:solidFill>
                  </a:tcPr>
                </a:tc>
                <a:tc>
                  <a:txBody>
                    <a:bodyPr/>
                    <a:lstStyle/>
                    <a:p>
                      <a:r>
                        <a:rPr lang="en-US" dirty="0" smtClean="0"/>
                        <a:t>MongoDB</a:t>
                      </a:r>
                      <a:endParaRPr lang="en-US" dirty="0"/>
                    </a:p>
                  </a:txBody>
                  <a:tcPr marL="274320" marT="45721" marB="45721" anchor="ctr">
                    <a:lnL w="12700" cap="flat" cmpd="sng" algn="ctr">
                      <a:noFill/>
                      <a:prstDash val="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solidFill>
                      <a:srgbClr val="5B972B"/>
                    </a:solidFill>
                  </a:tcPr>
                </a:tc>
              </a:tr>
              <a:tr h="536265">
                <a:tc>
                  <a:txBody>
                    <a:bodyPr/>
                    <a:lstStyle/>
                    <a:p>
                      <a:r>
                        <a:rPr lang="en-US" dirty="0" smtClean="0"/>
                        <a:t>Database</a:t>
                      </a:r>
                      <a:endParaRPr lang="en-US" dirty="0"/>
                    </a:p>
                  </a:txBody>
                  <a:tcPr marL="274320" marT="45721" marB="45721" anchor="ctr">
                    <a:lnL w="12700" cap="flat" cmpd="sng" algn="ctr">
                      <a:solidFill>
                        <a:srgbClr val="B3B2B2"/>
                      </a:solid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sysDot"/>
                      <a:round/>
                      <a:headEnd type="none" w="med" len="med"/>
                      <a:tailEnd type="none" w="med" len="med"/>
                    </a:lnT>
                    <a:lnB w="12700" cap="flat" cmpd="sng" algn="ctr">
                      <a:solidFill>
                        <a:srgbClr val="B3B2B2"/>
                      </a:solidFill>
                      <a:prstDash val="dot"/>
                      <a:round/>
                      <a:headEnd type="none" w="med" len="med"/>
                      <a:tailEnd type="none" w="med" len="med"/>
                    </a:lnB>
                    <a:noFill/>
                  </a:tcPr>
                </a:tc>
                <a:tc>
                  <a:txBody>
                    <a:bodyPr/>
                    <a:lstStyle/>
                    <a:p>
                      <a:r>
                        <a:rPr lang="en-US" dirty="0" smtClean="0"/>
                        <a:t>Database</a:t>
                      </a:r>
                      <a:endParaRPr lang="en-US" dirty="0"/>
                    </a:p>
                  </a:txBody>
                  <a:tcPr marL="274320" marT="45721" marB="45721" anchor="ctr">
                    <a:lnL w="12700" cap="flat" cmpd="sng" algn="ctr">
                      <a:noFill/>
                      <a:prstDash val="dot"/>
                      <a:round/>
                      <a:headEnd type="none" w="med" len="med"/>
                      <a:tailEnd type="none" w="med" len="med"/>
                    </a:lnL>
                    <a:lnR w="12700" cap="flat" cmpd="sng" algn="ctr">
                      <a:solidFill>
                        <a:srgbClr val="B3B2B2"/>
                      </a:solidFill>
                      <a:prstDash val="dot"/>
                      <a:round/>
                      <a:headEnd type="none" w="med" len="med"/>
                      <a:tailEnd type="none" w="med" len="med"/>
                    </a:lnR>
                    <a:lnT w="12700" cap="flat" cmpd="sng" algn="ctr">
                      <a:noFill/>
                      <a:prstDash val="sysDot"/>
                      <a:round/>
                      <a:headEnd type="none" w="med" len="med"/>
                      <a:tailEnd type="none" w="med" len="med"/>
                    </a:lnT>
                    <a:lnB w="12700" cap="flat" cmpd="sng" algn="ctr">
                      <a:solidFill>
                        <a:srgbClr val="B3B2B2"/>
                      </a:solidFill>
                      <a:prstDash val="dot"/>
                      <a:round/>
                      <a:headEnd type="none" w="med" len="med"/>
                      <a:tailEnd type="none" w="med" len="med"/>
                    </a:lnB>
                    <a:noFill/>
                  </a:tcPr>
                </a:tc>
              </a:tr>
              <a:tr h="536265">
                <a:tc>
                  <a:txBody>
                    <a:bodyPr/>
                    <a:lstStyle/>
                    <a:p>
                      <a:r>
                        <a:rPr lang="en-US" dirty="0" smtClean="0"/>
                        <a:t>Table</a:t>
                      </a:r>
                      <a:endParaRPr lang="en-US" dirty="0"/>
                    </a:p>
                  </a:txBody>
                  <a:tcPr marL="274320" marT="45721" marB="45721" anchor="ctr">
                    <a:lnL w="12700" cap="flat" cmpd="sng" algn="ctr">
                      <a:solidFill>
                        <a:srgbClr val="B3B2B2"/>
                      </a:solidFill>
                      <a:prstDash val="dot"/>
                      <a:round/>
                      <a:headEnd type="none" w="med" len="med"/>
                      <a:tailEnd type="none" w="med" len="med"/>
                    </a:lnL>
                    <a:lnR w="12700" cap="flat" cmpd="sng" algn="ctr">
                      <a:noFill/>
                      <a:prstDash val="dot"/>
                      <a:round/>
                      <a:headEnd type="none" w="med" len="med"/>
                      <a:tailEnd type="none" w="med" len="med"/>
                    </a:lnR>
                    <a:lnT w="12700" cap="flat" cmpd="sng" algn="ctr">
                      <a:solidFill>
                        <a:srgbClr val="B3B2B2"/>
                      </a:solidFill>
                      <a:prstDash val="dot"/>
                      <a:round/>
                      <a:headEnd type="none" w="med" len="med"/>
                      <a:tailEnd type="none" w="med" len="med"/>
                    </a:lnT>
                    <a:lnB w="12700" cap="flat" cmpd="sng" algn="ctr">
                      <a:solidFill>
                        <a:srgbClr val="B3B2B2"/>
                      </a:solidFill>
                      <a:prstDash val="dot"/>
                      <a:round/>
                      <a:headEnd type="none" w="med" len="med"/>
                      <a:tailEnd type="none" w="med" len="med"/>
                    </a:lnB>
                    <a:noFill/>
                  </a:tcPr>
                </a:tc>
                <a:tc>
                  <a:txBody>
                    <a:bodyPr/>
                    <a:lstStyle/>
                    <a:p>
                      <a:r>
                        <a:rPr lang="en-US" dirty="0" smtClean="0"/>
                        <a:t>Collection</a:t>
                      </a:r>
                    </a:p>
                  </a:txBody>
                  <a:tcPr marL="274320" marT="45721" marB="45721" anchor="ctr">
                    <a:lnL w="12700" cap="flat" cmpd="sng" algn="ctr">
                      <a:noFill/>
                      <a:prstDash val="dot"/>
                      <a:round/>
                      <a:headEnd type="none" w="med" len="med"/>
                      <a:tailEnd type="none" w="med" len="med"/>
                    </a:lnL>
                    <a:lnR w="12700" cap="flat" cmpd="sng" algn="ctr">
                      <a:solidFill>
                        <a:srgbClr val="B3B2B2"/>
                      </a:solidFill>
                      <a:prstDash val="dot"/>
                      <a:round/>
                      <a:headEnd type="none" w="med" len="med"/>
                      <a:tailEnd type="none" w="med" len="med"/>
                    </a:lnR>
                    <a:lnT w="12700" cap="flat" cmpd="sng" algn="ctr">
                      <a:solidFill>
                        <a:srgbClr val="B3B2B2"/>
                      </a:solidFill>
                      <a:prstDash val="dot"/>
                      <a:round/>
                      <a:headEnd type="none" w="med" len="med"/>
                      <a:tailEnd type="none" w="med" len="med"/>
                    </a:lnT>
                    <a:lnB w="12700" cap="flat" cmpd="sng" algn="ctr">
                      <a:solidFill>
                        <a:srgbClr val="B3B2B2"/>
                      </a:solidFill>
                      <a:prstDash val="dot"/>
                      <a:round/>
                      <a:headEnd type="none" w="med" len="med"/>
                      <a:tailEnd type="none" w="med" len="med"/>
                    </a:lnB>
                    <a:noFill/>
                  </a:tcPr>
                </a:tc>
              </a:tr>
              <a:tr h="536265">
                <a:tc>
                  <a:txBody>
                    <a:bodyPr/>
                    <a:lstStyle/>
                    <a:p>
                      <a:r>
                        <a:rPr lang="en-US" dirty="0" smtClean="0"/>
                        <a:t>Index</a:t>
                      </a:r>
                      <a:endParaRPr lang="en-US" dirty="0"/>
                    </a:p>
                  </a:txBody>
                  <a:tcPr marL="274320" marT="45721" marB="45721" anchor="ctr">
                    <a:lnL w="12700" cap="flat" cmpd="sng" algn="ctr">
                      <a:solidFill>
                        <a:srgbClr val="B3B2B2"/>
                      </a:solidFill>
                      <a:prstDash val="dot"/>
                      <a:round/>
                      <a:headEnd type="none" w="med" len="med"/>
                      <a:tailEnd type="none" w="med" len="med"/>
                    </a:lnL>
                    <a:lnR w="12700" cap="flat" cmpd="sng" algn="ctr">
                      <a:noFill/>
                      <a:prstDash val="dot"/>
                      <a:round/>
                      <a:headEnd type="none" w="med" len="med"/>
                      <a:tailEnd type="none" w="med" len="med"/>
                    </a:lnR>
                    <a:lnT w="12700" cap="flat" cmpd="sng" algn="ctr">
                      <a:solidFill>
                        <a:srgbClr val="B3B2B2"/>
                      </a:solidFill>
                      <a:prstDash val="dot"/>
                      <a:round/>
                      <a:headEnd type="none" w="med" len="med"/>
                      <a:tailEnd type="none" w="med" len="med"/>
                    </a:lnT>
                    <a:lnB w="12700" cap="flat" cmpd="sng" algn="ctr">
                      <a:solidFill>
                        <a:srgbClr val="B3B2B2"/>
                      </a:solidFill>
                      <a:prstDash val="dot"/>
                      <a:round/>
                      <a:headEnd type="none" w="med" len="med"/>
                      <a:tailEnd type="none" w="med" len="med"/>
                    </a:lnB>
                    <a:noFill/>
                  </a:tcPr>
                </a:tc>
                <a:tc>
                  <a:txBody>
                    <a:bodyPr/>
                    <a:lstStyle/>
                    <a:p>
                      <a:r>
                        <a:rPr lang="en-US" dirty="0" smtClean="0"/>
                        <a:t>Index</a:t>
                      </a:r>
                      <a:endParaRPr lang="en-US" dirty="0"/>
                    </a:p>
                  </a:txBody>
                  <a:tcPr marL="274320" marT="45721" marB="45721" anchor="ctr">
                    <a:lnL w="12700" cap="flat" cmpd="sng" algn="ctr">
                      <a:noFill/>
                      <a:prstDash val="dot"/>
                      <a:round/>
                      <a:headEnd type="none" w="med" len="med"/>
                      <a:tailEnd type="none" w="med" len="med"/>
                    </a:lnL>
                    <a:lnR w="12700" cap="flat" cmpd="sng" algn="ctr">
                      <a:solidFill>
                        <a:srgbClr val="B3B2B2"/>
                      </a:solidFill>
                      <a:prstDash val="dot"/>
                      <a:round/>
                      <a:headEnd type="none" w="med" len="med"/>
                      <a:tailEnd type="none" w="med" len="med"/>
                    </a:lnR>
                    <a:lnT w="12700" cap="flat" cmpd="sng" algn="ctr">
                      <a:solidFill>
                        <a:srgbClr val="B3B2B2"/>
                      </a:solidFill>
                      <a:prstDash val="dot"/>
                      <a:round/>
                      <a:headEnd type="none" w="med" len="med"/>
                      <a:tailEnd type="none" w="med" len="med"/>
                    </a:lnT>
                    <a:lnB w="12700" cap="flat" cmpd="sng" algn="ctr">
                      <a:solidFill>
                        <a:srgbClr val="B3B2B2"/>
                      </a:solidFill>
                      <a:prstDash val="dot"/>
                      <a:round/>
                      <a:headEnd type="none" w="med" len="med"/>
                      <a:tailEnd type="none" w="med" len="med"/>
                    </a:lnB>
                    <a:noFill/>
                  </a:tcPr>
                </a:tc>
              </a:tr>
              <a:tr h="536265">
                <a:tc>
                  <a:txBody>
                    <a:bodyPr/>
                    <a:lstStyle/>
                    <a:p>
                      <a:r>
                        <a:rPr lang="en-US" dirty="0" smtClean="0"/>
                        <a:t>Row</a:t>
                      </a:r>
                      <a:endParaRPr lang="en-US" dirty="0"/>
                    </a:p>
                  </a:txBody>
                  <a:tcPr marL="274320" marT="45721" marB="45721" anchor="ctr">
                    <a:lnL w="12700" cap="flat" cmpd="sng" algn="ctr">
                      <a:solidFill>
                        <a:srgbClr val="B3B2B2"/>
                      </a:solidFill>
                      <a:prstDash val="dot"/>
                      <a:round/>
                      <a:headEnd type="none" w="med" len="med"/>
                      <a:tailEnd type="none" w="med" len="med"/>
                    </a:lnL>
                    <a:lnR w="12700" cap="flat" cmpd="sng" algn="ctr">
                      <a:noFill/>
                      <a:prstDash val="dot"/>
                      <a:round/>
                      <a:headEnd type="none" w="med" len="med"/>
                      <a:tailEnd type="none" w="med" len="med"/>
                    </a:lnR>
                    <a:lnT w="12700" cap="flat" cmpd="sng" algn="ctr">
                      <a:solidFill>
                        <a:srgbClr val="B3B2B2"/>
                      </a:solidFill>
                      <a:prstDash val="dot"/>
                      <a:round/>
                      <a:headEnd type="none" w="med" len="med"/>
                      <a:tailEnd type="none" w="med" len="med"/>
                    </a:lnT>
                    <a:lnB w="12700" cap="flat" cmpd="sng" algn="ctr">
                      <a:solidFill>
                        <a:srgbClr val="B3B2B2"/>
                      </a:solidFill>
                      <a:prstDash val="dot"/>
                      <a:round/>
                      <a:headEnd type="none" w="med" len="med"/>
                      <a:tailEnd type="none" w="med" len="med"/>
                    </a:lnB>
                    <a:noFill/>
                  </a:tcPr>
                </a:tc>
                <a:tc>
                  <a:txBody>
                    <a:bodyPr/>
                    <a:lstStyle/>
                    <a:p>
                      <a:r>
                        <a:rPr lang="en-US" dirty="0" smtClean="0"/>
                        <a:t>Document</a:t>
                      </a:r>
                      <a:endParaRPr lang="en-US" dirty="0"/>
                    </a:p>
                  </a:txBody>
                  <a:tcPr marL="274320" marT="45721" marB="45721" anchor="ctr">
                    <a:lnL w="12700" cap="flat" cmpd="sng" algn="ctr">
                      <a:noFill/>
                      <a:prstDash val="dot"/>
                      <a:round/>
                      <a:headEnd type="none" w="med" len="med"/>
                      <a:tailEnd type="none" w="med" len="med"/>
                    </a:lnL>
                    <a:lnR w="12700" cap="flat" cmpd="sng" algn="ctr">
                      <a:solidFill>
                        <a:srgbClr val="B3B2B2"/>
                      </a:solidFill>
                      <a:prstDash val="dot"/>
                      <a:round/>
                      <a:headEnd type="none" w="med" len="med"/>
                      <a:tailEnd type="none" w="med" len="med"/>
                    </a:lnR>
                    <a:lnT w="12700" cap="flat" cmpd="sng" algn="ctr">
                      <a:solidFill>
                        <a:srgbClr val="B3B2B2"/>
                      </a:solidFill>
                      <a:prstDash val="dot"/>
                      <a:round/>
                      <a:headEnd type="none" w="med" len="med"/>
                      <a:tailEnd type="none" w="med" len="med"/>
                    </a:lnT>
                    <a:lnB w="12700" cap="flat" cmpd="sng" algn="ctr">
                      <a:solidFill>
                        <a:srgbClr val="B3B2B2"/>
                      </a:solidFill>
                      <a:prstDash val="dot"/>
                      <a:round/>
                      <a:headEnd type="none" w="med" len="med"/>
                      <a:tailEnd type="none" w="med" len="med"/>
                    </a:lnB>
                    <a:noFill/>
                  </a:tcPr>
                </a:tc>
              </a:tr>
              <a:tr h="536265">
                <a:tc>
                  <a:txBody>
                    <a:bodyPr/>
                    <a:lstStyle/>
                    <a:p>
                      <a:r>
                        <a:rPr lang="en-US" dirty="0" smtClean="0"/>
                        <a:t>Column</a:t>
                      </a:r>
                      <a:endParaRPr lang="en-US" dirty="0"/>
                    </a:p>
                  </a:txBody>
                  <a:tcPr marL="274320" marT="45721" marB="45721" anchor="ctr">
                    <a:lnL w="12700" cap="flat" cmpd="sng" algn="ctr">
                      <a:solidFill>
                        <a:srgbClr val="B3B2B2"/>
                      </a:solidFill>
                      <a:prstDash val="dot"/>
                      <a:round/>
                      <a:headEnd type="none" w="med" len="med"/>
                      <a:tailEnd type="none" w="med" len="med"/>
                    </a:lnL>
                    <a:lnR w="12700" cap="flat" cmpd="sng" algn="ctr">
                      <a:noFill/>
                      <a:prstDash val="dot"/>
                      <a:round/>
                      <a:headEnd type="none" w="med" len="med"/>
                      <a:tailEnd type="none" w="med" len="med"/>
                    </a:lnR>
                    <a:lnT w="12700" cap="flat" cmpd="sng" algn="ctr">
                      <a:solidFill>
                        <a:srgbClr val="B3B2B2"/>
                      </a:solidFill>
                      <a:prstDash val="dot"/>
                      <a:round/>
                      <a:headEnd type="none" w="med" len="med"/>
                      <a:tailEnd type="none" w="med" len="med"/>
                    </a:lnT>
                    <a:lnB w="12700" cap="flat" cmpd="sng" algn="ctr">
                      <a:solidFill>
                        <a:srgbClr val="B3B2B2"/>
                      </a:solidFill>
                      <a:prstDash val="dot"/>
                      <a:round/>
                      <a:headEnd type="none" w="med" len="med"/>
                      <a:tailEnd type="none" w="med" len="med"/>
                    </a:lnB>
                    <a:noFill/>
                  </a:tcPr>
                </a:tc>
                <a:tc>
                  <a:txBody>
                    <a:bodyPr/>
                    <a:lstStyle/>
                    <a:p>
                      <a:r>
                        <a:rPr lang="en-US" dirty="0" smtClean="0"/>
                        <a:t>Field</a:t>
                      </a:r>
                      <a:endParaRPr lang="en-US" dirty="0"/>
                    </a:p>
                  </a:txBody>
                  <a:tcPr marL="274320" marT="45721" marB="45721" anchor="ctr">
                    <a:lnL w="12700" cap="flat" cmpd="sng" algn="ctr">
                      <a:noFill/>
                      <a:prstDash val="dot"/>
                      <a:round/>
                      <a:headEnd type="none" w="med" len="med"/>
                      <a:tailEnd type="none" w="med" len="med"/>
                    </a:lnL>
                    <a:lnR w="12700" cap="flat" cmpd="sng" algn="ctr">
                      <a:solidFill>
                        <a:srgbClr val="B3B2B2"/>
                      </a:solidFill>
                      <a:prstDash val="dot"/>
                      <a:round/>
                      <a:headEnd type="none" w="med" len="med"/>
                      <a:tailEnd type="none" w="med" len="med"/>
                    </a:lnR>
                    <a:lnT w="12700" cap="flat" cmpd="sng" algn="ctr">
                      <a:solidFill>
                        <a:srgbClr val="B3B2B2"/>
                      </a:solidFill>
                      <a:prstDash val="dot"/>
                      <a:round/>
                      <a:headEnd type="none" w="med" len="med"/>
                      <a:tailEnd type="none" w="med" len="med"/>
                    </a:lnT>
                    <a:lnB w="12700" cap="flat" cmpd="sng" algn="ctr">
                      <a:solidFill>
                        <a:srgbClr val="B3B2B2"/>
                      </a:solidFill>
                      <a:prstDash val="dot"/>
                      <a:round/>
                      <a:headEnd type="none" w="med" len="med"/>
                      <a:tailEnd type="none" w="med" len="med"/>
                    </a:lnB>
                    <a:noFill/>
                  </a:tcPr>
                </a:tc>
              </a:tr>
              <a:tr h="536265">
                <a:tc>
                  <a:txBody>
                    <a:bodyPr/>
                    <a:lstStyle/>
                    <a:p>
                      <a:r>
                        <a:rPr lang="en-US" dirty="0" smtClean="0"/>
                        <a:t>Join</a:t>
                      </a:r>
                      <a:endParaRPr lang="en-US" dirty="0"/>
                    </a:p>
                  </a:txBody>
                  <a:tcPr marL="274320" marT="45721" marB="45721" anchor="ctr">
                    <a:lnL w="12700" cap="flat" cmpd="sng" algn="ctr">
                      <a:solidFill>
                        <a:srgbClr val="B3B2B2"/>
                      </a:solidFill>
                      <a:prstDash val="dot"/>
                      <a:round/>
                      <a:headEnd type="none" w="med" len="med"/>
                      <a:tailEnd type="none" w="med" len="med"/>
                    </a:lnL>
                    <a:lnR w="12700" cap="flat" cmpd="sng" algn="ctr">
                      <a:noFill/>
                      <a:prstDash val="dot"/>
                      <a:round/>
                      <a:headEnd type="none" w="med" len="med"/>
                      <a:tailEnd type="none" w="med" len="med"/>
                    </a:lnR>
                    <a:lnT w="12700" cap="flat" cmpd="sng" algn="ctr">
                      <a:solidFill>
                        <a:srgbClr val="B3B2B2"/>
                      </a:solidFill>
                      <a:prstDash val="dot"/>
                      <a:round/>
                      <a:headEnd type="none" w="med" len="med"/>
                      <a:tailEnd type="none" w="med" len="med"/>
                    </a:lnT>
                    <a:lnB w="12700" cap="flat" cmpd="sng" algn="ctr">
                      <a:solidFill>
                        <a:srgbClr val="B3B2B2"/>
                      </a:solidFill>
                      <a:prstDash val="dot"/>
                      <a:round/>
                      <a:headEnd type="none" w="med" len="med"/>
                      <a:tailEnd type="none" w="med" len="med"/>
                    </a:lnB>
                    <a:noFill/>
                  </a:tcPr>
                </a:tc>
                <a:tc>
                  <a:txBody>
                    <a:bodyPr/>
                    <a:lstStyle/>
                    <a:p>
                      <a:r>
                        <a:rPr lang="en-US" dirty="0" smtClean="0"/>
                        <a:t>Embedding</a:t>
                      </a:r>
                      <a:r>
                        <a:rPr lang="en-US" baseline="0" dirty="0" smtClean="0"/>
                        <a:t> &amp; Linking</a:t>
                      </a:r>
                      <a:endParaRPr lang="en-US" dirty="0"/>
                    </a:p>
                  </a:txBody>
                  <a:tcPr marL="274320" marT="45721" marB="45721" anchor="ctr">
                    <a:lnL w="12700" cap="flat" cmpd="sng" algn="ctr">
                      <a:noFill/>
                      <a:prstDash val="dot"/>
                      <a:round/>
                      <a:headEnd type="none" w="med" len="med"/>
                      <a:tailEnd type="none" w="med" len="med"/>
                    </a:lnL>
                    <a:lnR w="12700" cap="flat" cmpd="sng" algn="ctr">
                      <a:solidFill>
                        <a:srgbClr val="B3B2B2"/>
                      </a:solidFill>
                      <a:prstDash val="dot"/>
                      <a:round/>
                      <a:headEnd type="none" w="med" len="med"/>
                      <a:tailEnd type="none" w="med" len="med"/>
                    </a:lnR>
                    <a:lnT w="12700" cap="flat" cmpd="sng" algn="ctr">
                      <a:solidFill>
                        <a:srgbClr val="B3B2B2"/>
                      </a:solidFill>
                      <a:prstDash val="dot"/>
                      <a:round/>
                      <a:headEnd type="none" w="med" len="med"/>
                      <a:tailEnd type="none" w="med" len="med"/>
                    </a:lnT>
                    <a:lnB w="12700" cap="flat" cmpd="sng" algn="ctr">
                      <a:solidFill>
                        <a:srgbClr val="B3B2B2"/>
                      </a:solidFill>
                      <a:prstDash val="dot"/>
                      <a:round/>
                      <a:headEnd type="none" w="med" len="med"/>
                      <a:tailEnd type="none" w="med" len="med"/>
                    </a:lnB>
                    <a:noFill/>
                  </a:tcPr>
                </a:tc>
              </a:tr>
            </a:tbl>
          </a:graphicData>
        </a:graphic>
      </p:graphicFrame>
      <p:sp>
        <p:nvSpPr>
          <p:cNvPr id="3" name="Title 2"/>
          <p:cNvSpPr>
            <a:spLocks noGrp="1"/>
          </p:cNvSpPr>
          <p:nvPr>
            <p:ph type="title" idx="4294967295"/>
          </p:nvPr>
        </p:nvSpPr>
        <p:spPr>
          <a:xfrm>
            <a:off x="654591" y="336550"/>
            <a:ext cx="7899400" cy="850900"/>
          </a:xfrm>
        </p:spPr>
        <p:txBody>
          <a:bodyPr/>
          <a:lstStyle/>
          <a:p>
            <a:r>
              <a:rPr lang="en-US" dirty="0" smtClean="0"/>
              <a:t>Terminology</a:t>
            </a:r>
            <a:endParaRPr lang="en-US" dirty="0"/>
          </a:p>
        </p:txBody>
      </p:sp>
      <p:grpSp>
        <p:nvGrpSpPr>
          <p:cNvPr id="16" name="Group 15"/>
          <p:cNvGrpSpPr/>
          <p:nvPr/>
        </p:nvGrpSpPr>
        <p:grpSpPr>
          <a:xfrm>
            <a:off x="2743200" y="2811815"/>
            <a:ext cx="1600200" cy="2120900"/>
            <a:chOff x="2726268" y="2849915"/>
            <a:chExt cx="1646768" cy="2120900"/>
          </a:xfrm>
        </p:grpSpPr>
        <p:cxnSp>
          <p:nvCxnSpPr>
            <p:cNvPr id="6" name="Straight Arrow Connector 5"/>
            <p:cNvCxnSpPr/>
            <p:nvPr/>
          </p:nvCxnSpPr>
          <p:spPr>
            <a:xfrm>
              <a:off x="2726268" y="2849915"/>
              <a:ext cx="1646768" cy="0"/>
            </a:xfrm>
            <a:prstGeom prst="straightConnector1">
              <a:avLst/>
            </a:prstGeom>
            <a:ln w="25400" cap="flat">
              <a:solidFill>
                <a:srgbClr val="242423"/>
              </a:solidFill>
              <a:round/>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a:off x="2726268" y="3380140"/>
              <a:ext cx="1646768" cy="0"/>
            </a:xfrm>
            <a:prstGeom prst="straightConnector1">
              <a:avLst/>
            </a:prstGeom>
            <a:ln w="25400" cap="flat">
              <a:solidFill>
                <a:srgbClr val="242423"/>
              </a:solidFill>
              <a:round/>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2726268" y="3910365"/>
              <a:ext cx="1646768" cy="0"/>
            </a:xfrm>
            <a:prstGeom prst="straightConnector1">
              <a:avLst/>
            </a:prstGeom>
            <a:ln w="25400" cap="flat">
              <a:solidFill>
                <a:srgbClr val="242423"/>
              </a:solidFill>
              <a:round/>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2726268" y="4440590"/>
              <a:ext cx="1646768" cy="0"/>
            </a:xfrm>
            <a:prstGeom prst="straightConnector1">
              <a:avLst/>
            </a:prstGeom>
            <a:ln w="25400" cap="flat">
              <a:solidFill>
                <a:srgbClr val="242423"/>
              </a:solidFill>
              <a:round/>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2726268" y="4970815"/>
              <a:ext cx="1646768" cy="0"/>
            </a:xfrm>
            <a:prstGeom prst="straightConnector1">
              <a:avLst/>
            </a:prstGeom>
            <a:ln w="25400" cap="flat">
              <a:solidFill>
                <a:srgbClr val="242423"/>
              </a:solidFill>
              <a:round/>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grpSp>
      <p:cxnSp>
        <p:nvCxnSpPr>
          <p:cNvPr id="4" name="Straight Arrow Connector 3"/>
          <p:cNvCxnSpPr/>
          <p:nvPr/>
        </p:nvCxnSpPr>
        <p:spPr>
          <a:xfrm>
            <a:off x="2743200" y="5449413"/>
            <a:ext cx="1600200" cy="0"/>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9008717"/>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Content Placeholder 3"/>
          <p:cNvSpPr>
            <a:spLocks noGrp="1"/>
          </p:cNvSpPr>
          <p:nvPr>
            <p:ph idx="4294967295"/>
          </p:nvPr>
        </p:nvSpPr>
        <p:spPr>
          <a:xfrm>
            <a:off x="666045" y="1516969"/>
            <a:ext cx="7886700" cy="4640262"/>
          </a:xfrm>
        </p:spPr>
        <p:txBody>
          <a:bodyPr>
            <a:normAutofit/>
          </a:bodyPr>
          <a:lstStyle/>
          <a:p>
            <a:pPr marL="0" indent="0">
              <a:spcBef>
                <a:spcPts val="72"/>
              </a:spcBef>
              <a:buNone/>
            </a:pPr>
            <a:endParaRPr lang="en-US" dirty="0">
              <a:latin typeface="Consolas"/>
              <a:cs typeface="Consolas"/>
            </a:endParaRPr>
          </a:p>
          <a:p>
            <a:pPr marL="0" indent="0">
              <a:spcBef>
                <a:spcPts val="72"/>
              </a:spcBef>
              <a:buNone/>
            </a:pP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    _id:</a:t>
            </a:r>
            <a:r>
              <a:rPr lang="en-US" dirty="0">
                <a:latin typeface="Courier"/>
                <a:cs typeface="Courier"/>
              </a:rPr>
              <a:t> </a:t>
            </a:r>
            <a:r>
              <a:rPr lang="en-US" dirty="0">
                <a:solidFill>
                  <a:srgbClr val="EE9C00"/>
                </a:solidFill>
                <a:latin typeface="Courier"/>
                <a:cs typeface="Courier"/>
              </a:rPr>
              <a:t>“123”</a:t>
            </a:r>
            <a:r>
              <a:rPr lang="en-US" dirty="0">
                <a:solidFill>
                  <a:srgbClr val="FFFFFF"/>
                </a:solidFill>
                <a:latin typeface="Courier"/>
                <a:cs typeface="Courier"/>
              </a:rPr>
              <a:t>,</a:t>
            </a:r>
          </a:p>
          <a:p>
            <a:pPr marL="0" indent="0">
              <a:spcBef>
                <a:spcPts val="72"/>
              </a:spcBef>
              <a:buNone/>
            </a:pPr>
            <a:r>
              <a:rPr lang="en-US" dirty="0">
                <a:latin typeface="Courier"/>
                <a:cs typeface="Courier"/>
              </a:rPr>
              <a:t>    </a:t>
            </a:r>
            <a:r>
              <a:rPr lang="en-US" dirty="0">
                <a:solidFill>
                  <a:srgbClr val="FFFFFF"/>
                </a:solidFill>
                <a:latin typeface="Courier"/>
                <a:cs typeface="Courier"/>
              </a:rPr>
              <a:t>title:</a:t>
            </a:r>
            <a:r>
              <a:rPr lang="en-US" dirty="0">
                <a:latin typeface="Courier"/>
                <a:cs typeface="Courier"/>
              </a:rPr>
              <a:t> </a:t>
            </a:r>
            <a:r>
              <a:rPr lang="en-US" dirty="0">
                <a:solidFill>
                  <a:srgbClr val="F7D58F"/>
                </a:solidFill>
                <a:latin typeface="Courier"/>
                <a:cs typeface="Courier"/>
              </a:rPr>
              <a:t>"</a:t>
            </a:r>
            <a:r>
              <a:rPr lang="en-US" dirty="0" err="1">
                <a:solidFill>
                  <a:srgbClr val="F7D58F"/>
                </a:solidFill>
                <a:latin typeface="Courier"/>
                <a:cs typeface="Courier"/>
              </a:rPr>
              <a:t>MongoDB</a:t>
            </a:r>
            <a:r>
              <a:rPr lang="en-US" dirty="0">
                <a:solidFill>
                  <a:srgbClr val="F7D58F"/>
                </a:solidFill>
                <a:latin typeface="Courier"/>
                <a:cs typeface="Courier"/>
              </a:rPr>
              <a:t>: The Definitive Guide"</a:t>
            </a:r>
            <a:r>
              <a:rPr lang="en-US" dirty="0">
                <a:solidFill>
                  <a:srgbClr val="FFFFFF"/>
                </a:solidFill>
                <a:latin typeface="Courier"/>
                <a:cs typeface="Courier"/>
              </a:rPr>
              <a:t>,</a:t>
            </a:r>
          </a:p>
          <a:p>
            <a:pPr marL="0" indent="0">
              <a:spcBef>
                <a:spcPts val="72"/>
              </a:spcBef>
              <a:buNone/>
            </a:pPr>
            <a:r>
              <a:rPr lang="en-US" dirty="0">
                <a:latin typeface="Courier"/>
                <a:cs typeface="Courier"/>
              </a:rPr>
              <a:t>    </a:t>
            </a:r>
            <a:r>
              <a:rPr lang="en-US" dirty="0">
                <a:solidFill>
                  <a:srgbClr val="FFFFFF"/>
                </a:solidFill>
                <a:latin typeface="Courier"/>
                <a:cs typeface="Courier"/>
              </a:rPr>
              <a:t>authors: [</a:t>
            </a:r>
          </a:p>
          <a:p>
            <a:pPr marL="0" indent="0">
              <a:spcBef>
                <a:spcPts val="72"/>
              </a:spcBef>
              <a:buNone/>
            </a:pPr>
            <a:r>
              <a:rPr lang="en-US" dirty="0">
                <a:solidFill>
                  <a:srgbClr val="FFFFFF"/>
                </a:solidFill>
                <a:latin typeface="Courier"/>
                <a:cs typeface="Courier"/>
              </a:rPr>
              <a:t>       { _id:</a:t>
            </a:r>
            <a:r>
              <a:rPr lang="en-US" dirty="0">
                <a:solidFill>
                  <a:srgbClr val="F7D58F"/>
                </a:solidFill>
                <a:latin typeface="Courier"/>
                <a:cs typeface="Courier"/>
              </a:rPr>
              <a:t> "</a:t>
            </a:r>
            <a:r>
              <a:rPr lang="en-US" dirty="0" err="1">
                <a:solidFill>
                  <a:srgbClr val="F7D58F"/>
                </a:solidFill>
                <a:latin typeface="Courier"/>
                <a:cs typeface="Courier"/>
              </a:rPr>
              <a:t>kchodorow</a:t>
            </a:r>
            <a:r>
              <a:rPr lang="en-US" dirty="0">
                <a:solidFill>
                  <a:srgbClr val="F7D58F"/>
                </a:solidFill>
                <a:latin typeface="Courier"/>
                <a:cs typeface="Courier"/>
              </a:rPr>
              <a:t>"</a:t>
            </a:r>
            <a:r>
              <a:rPr lang="en-US" dirty="0">
                <a:solidFill>
                  <a:srgbClr val="FFFFFF"/>
                </a:solidFill>
                <a:latin typeface="Courier"/>
                <a:cs typeface="Courier"/>
              </a:rPr>
              <a:t>, name: </a:t>
            </a:r>
            <a:r>
              <a:rPr lang="en-US" dirty="0">
                <a:solidFill>
                  <a:srgbClr val="F7D58F"/>
                </a:solidFill>
                <a:latin typeface="Courier"/>
                <a:cs typeface="Courier"/>
              </a:rPr>
              <a:t>"Kristina </a:t>
            </a:r>
            <a:r>
              <a:rPr lang="en-US" dirty="0" err="1">
                <a:solidFill>
                  <a:srgbClr val="F7D58F"/>
                </a:solidFill>
                <a:latin typeface="Courier"/>
                <a:cs typeface="Courier"/>
              </a:rPr>
              <a:t>Chodorow</a:t>
            </a:r>
            <a:r>
              <a:rPr lang="en-US" dirty="0">
                <a:solidFill>
                  <a:srgbClr val="F7D58F"/>
                </a:solidFill>
                <a:latin typeface="Courier"/>
                <a:cs typeface="Courier"/>
              </a:rPr>
              <a:t>“ </a:t>
            </a:r>
            <a:r>
              <a:rPr lang="en-US" dirty="0">
                <a:solidFill>
                  <a:srgbClr val="FFFFFF"/>
                </a:solidFill>
                <a:latin typeface="Courier"/>
                <a:cs typeface="Courier"/>
              </a:rPr>
              <a:t>},</a:t>
            </a:r>
          </a:p>
          <a:p>
            <a:pPr marL="0" indent="0">
              <a:spcBef>
                <a:spcPts val="72"/>
              </a:spcBef>
              <a:buNone/>
            </a:pPr>
            <a:r>
              <a:rPr lang="en-US" dirty="0">
                <a:solidFill>
                  <a:srgbClr val="F7D58F"/>
                </a:solidFill>
                <a:latin typeface="Courier"/>
                <a:cs typeface="Courier"/>
              </a:rPr>
              <a:t>       </a:t>
            </a:r>
            <a:r>
              <a:rPr lang="en-US" dirty="0">
                <a:solidFill>
                  <a:srgbClr val="FFFFFF"/>
                </a:solidFill>
                <a:latin typeface="Courier"/>
                <a:cs typeface="Courier"/>
              </a:rPr>
              <a:t>{ _id: </a:t>
            </a:r>
            <a:r>
              <a:rPr lang="en-US" dirty="0">
                <a:solidFill>
                  <a:srgbClr val="F7D58F"/>
                </a:solidFill>
                <a:latin typeface="Courier"/>
                <a:cs typeface="Courier"/>
              </a:rPr>
              <a:t>"</a:t>
            </a:r>
            <a:r>
              <a:rPr lang="en-US" dirty="0" err="1">
                <a:solidFill>
                  <a:srgbClr val="F7D58F"/>
                </a:solidFill>
                <a:latin typeface="Courier"/>
                <a:cs typeface="Courier"/>
              </a:rPr>
              <a:t>mdirold</a:t>
            </a:r>
            <a:r>
              <a:rPr lang="en-US" dirty="0">
                <a:solidFill>
                  <a:srgbClr val="F7D58F"/>
                </a:solidFill>
                <a:latin typeface="Courier"/>
                <a:cs typeface="Courier"/>
              </a:rPr>
              <a:t>"</a:t>
            </a:r>
            <a:r>
              <a:rPr lang="en-US" dirty="0">
                <a:solidFill>
                  <a:srgbClr val="FFFFFF"/>
                </a:solidFill>
                <a:latin typeface="Courier"/>
                <a:cs typeface="Courier"/>
              </a:rPr>
              <a:t>, name:</a:t>
            </a:r>
            <a:r>
              <a:rPr lang="en-US" dirty="0">
                <a:latin typeface="Courier"/>
                <a:cs typeface="Courier"/>
              </a:rPr>
              <a:t> </a:t>
            </a:r>
            <a:r>
              <a:rPr lang="en-US" dirty="0">
                <a:solidFill>
                  <a:srgbClr val="F7D58F"/>
                </a:solidFill>
                <a:latin typeface="Courier"/>
                <a:cs typeface="Courier"/>
              </a:rPr>
              <a:t>“Mike </a:t>
            </a:r>
            <a:r>
              <a:rPr lang="en-US" dirty="0" err="1">
                <a:solidFill>
                  <a:srgbClr val="F7D58F"/>
                </a:solidFill>
                <a:latin typeface="Courier"/>
                <a:cs typeface="Courier"/>
              </a:rPr>
              <a:t>Dirolf</a:t>
            </a:r>
            <a:r>
              <a:rPr lang="en-US" dirty="0">
                <a:solidFill>
                  <a:srgbClr val="F7D58F"/>
                </a:solidFill>
                <a:latin typeface="Courier"/>
                <a:cs typeface="Courier"/>
              </a:rPr>
              <a:t>“ </a:t>
            </a: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spcBef>
                <a:spcPts val="72"/>
              </a:spcBef>
              <a:buNone/>
            </a:pPr>
            <a:r>
              <a:rPr lang="en-US" dirty="0">
                <a:latin typeface="Courier"/>
                <a:cs typeface="Courier"/>
              </a:rPr>
              <a:t>    </a:t>
            </a: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    </a:t>
            </a:r>
            <a:r>
              <a:rPr lang="en-US" dirty="0" err="1">
                <a:solidFill>
                  <a:srgbClr val="FFFFFF"/>
                </a:solidFill>
                <a:latin typeface="Courier"/>
                <a:cs typeface="Courier"/>
              </a:rPr>
              <a:t>published_date</a:t>
            </a:r>
            <a:r>
              <a:rPr lang="en-US" dirty="0">
                <a:solidFill>
                  <a:srgbClr val="FFFFFF"/>
                </a:solidFill>
                <a:latin typeface="Courier"/>
                <a:cs typeface="Courier"/>
              </a:rPr>
              <a:t>: </a:t>
            </a:r>
            <a:r>
              <a:rPr lang="en-US" dirty="0" err="1">
                <a:solidFill>
                  <a:srgbClr val="FFFFFF"/>
                </a:solidFill>
                <a:latin typeface="Courier"/>
                <a:cs typeface="Courier"/>
              </a:rPr>
              <a:t>ISODate</a:t>
            </a:r>
            <a:r>
              <a:rPr lang="en-US" dirty="0" smtClean="0">
                <a:solidFill>
                  <a:srgbClr val="FFFFFF"/>
                </a:solidFill>
                <a:latin typeface="Courier"/>
                <a:cs typeface="Courier"/>
              </a:rPr>
              <a:t>(</a:t>
            </a:r>
            <a:r>
              <a:rPr lang="en-US" dirty="0" smtClean="0">
                <a:solidFill>
                  <a:srgbClr val="F7D58F"/>
                </a:solidFill>
                <a:latin typeface="Courier"/>
                <a:cs typeface="Courier"/>
              </a:rPr>
              <a:t>”2010-09-24”</a:t>
            </a:r>
            <a:r>
              <a:rPr lang="en-US" dirty="0" smtClean="0">
                <a:solidFill>
                  <a:srgbClr val="FFFFFF"/>
                </a:solidFill>
                <a:latin typeface="Courier"/>
                <a:cs typeface="Courier"/>
              </a:rPr>
              <a:t>)</a:t>
            </a: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    pages:</a:t>
            </a:r>
            <a:r>
              <a:rPr lang="en-US" dirty="0">
                <a:latin typeface="Courier"/>
                <a:cs typeface="Courier"/>
              </a:rPr>
              <a:t> </a:t>
            </a:r>
            <a:r>
              <a:rPr lang="en-US" dirty="0">
                <a:solidFill>
                  <a:schemeClr val="bg1"/>
                </a:solidFill>
                <a:latin typeface="Courier"/>
                <a:cs typeface="Courier"/>
              </a:rPr>
              <a:t>216</a:t>
            </a:r>
            <a:r>
              <a:rPr lang="en-US" dirty="0">
                <a:solidFill>
                  <a:srgbClr val="FFFFFF"/>
                </a:solidFill>
                <a:latin typeface="Courier"/>
                <a:cs typeface="Courier"/>
              </a:rPr>
              <a:t>,</a:t>
            </a:r>
          </a:p>
          <a:p>
            <a:pPr marL="0" indent="0">
              <a:spcBef>
                <a:spcPts val="72"/>
              </a:spcBef>
              <a:buNone/>
            </a:pPr>
            <a:r>
              <a:rPr lang="en-US" dirty="0">
                <a:latin typeface="Courier"/>
                <a:cs typeface="Courier"/>
              </a:rPr>
              <a:t>    </a:t>
            </a:r>
            <a:r>
              <a:rPr lang="en-US" dirty="0">
                <a:solidFill>
                  <a:srgbClr val="FFFFFF"/>
                </a:solidFill>
                <a:latin typeface="Courier"/>
                <a:cs typeface="Courier"/>
              </a:rPr>
              <a:t>language: </a:t>
            </a:r>
            <a:r>
              <a:rPr lang="en-US" dirty="0">
                <a:solidFill>
                  <a:srgbClr val="F7D58F"/>
                </a:solidFill>
                <a:latin typeface="Courier"/>
                <a:cs typeface="Courier"/>
              </a:rPr>
              <a:t>"English"</a:t>
            </a:r>
            <a:r>
              <a:rPr lang="en-US" dirty="0" smtClean="0">
                <a:solidFill>
                  <a:srgbClr val="FFFFFF"/>
                </a:solidFill>
                <a:latin typeface="Courier"/>
                <a:cs typeface="Courier"/>
              </a:rPr>
              <a:t>,</a:t>
            </a:r>
          </a:p>
          <a:p>
            <a:pPr marL="0" indent="0">
              <a:spcBef>
                <a:spcPts val="72"/>
              </a:spcBef>
              <a:buNone/>
            </a:pPr>
            <a:r>
              <a:rPr lang="en-US" dirty="0" smtClean="0">
                <a:solidFill>
                  <a:srgbClr val="FFFFFF"/>
                </a:solidFill>
                <a:latin typeface="Courier"/>
                <a:cs typeface="Courier"/>
              </a:rPr>
              <a:t>    thumbnail: </a:t>
            </a:r>
            <a:r>
              <a:rPr lang="en-US" dirty="0" err="1">
                <a:solidFill>
                  <a:srgbClr val="FFFFFF"/>
                </a:solidFill>
                <a:latin typeface="Courier"/>
                <a:cs typeface="Courier"/>
              </a:rPr>
              <a:t>BinData</a:t>
            </a:r>
            <a:r>
              <a:rPr lang="en-US" dirty="0">
                <a:solidFill>
                  <a:srgbClr val="FFFFFF"/>
                </a:solidFill>
                <a:latin typeface="Courier"/>
                <a:cs typeface="Courier"/>
              </a:rPr>
              <a:t>(0,"</a:t>
            </a:r>
            <a:r>
              <a:rPr lang="en-US" dirty="0" smtClean="0">
                <a:solidFill>
                  <a:srgbClr val="FFFFFF"/>
                </a:solidFill>
                <a:latin typeface="Courier"/>
                <a:cs typeface="Courier"/>
              </a:rPr>
              <a:t>AREhMQ=</a:t>
            </a:r>
            <a:r>
              <a:rPr lang="en-US" dirty="0">
                <a:solidFill>
                  <a:srgbClr val="FFFFFF"/>
                </a:solidFill>
                <a:latin typeface="Courier"/>
                <a:cs typeface="Courier"/>
              </a:rPr>
              <a:t>="</a:t>
            </a: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spcBef>
                <a:spcPts val="72"/>
              </a:spcBef>
              <a:buNone/>
            </a:pPr>
            <a:r>
              <a:rPr lang="en-US" dirty="0">
                <a:latin typeface="Courier"/>
                <a:cs typeface="Courier"/>
              </a:rPr>
              <a:t>   </a:t>
            </a:r>
            <a:r>
              <a:rPr lang="en-US" dirty="0">
                <a:solidFill>
                  <a:srgbClr val="FFFFFF"/>
                </a:solidFill>
                <a:latin typeface="Courier"/>
                <a:cs typeface="Courier"/>
              </a:rPr>
              <a:t> publisher: {</a:t>
            </a:r>
          </a:p>
          <a:p>
            <a:pPr marL="0" indent="0">
              <a:spcBef>
                <a:spcPts val="72"/>
              </a:spcBef>
              <a:buNone/>
            </a:pPr>
            <a:r>
              <a:rPr lang="en-US" dirty="0">
                <a:solidFill>
                  <a:srgbClr val="FFFFFF"/>
                </a:solidFill>
                <a:latin typeface="Courier"/>
                <a:cs typeface="Courier"/>
              </a:rPr>
              <a:t>        name: </a:t>
            </a:r>
            <a:r>
              <a:rPr lang="en-US" dirty="0">
                <a:solidFill>
                  <a:srgbClr val="F7D58F"/>
                </a:solidFill>
                <a:latin typeface="Courier"/>
                <a:cs typeface="Courier"/>
              </a:rPr>
              <a:t>"O’Reilly Media"</a:t>
            </a:r>
            <a:r>
              <a:rPr lang="en-US" dirty="0">
                <a:solidFill>
                  <a:srgbClr val="FFFFFF"/>
                </a:solidFill>
                <a:latin typeface="Courier"/>
                <a:cs typeface="Courier"/>
              </a:rPr>
              <a:t>,</a:t>
            </a:r>
          </a:p>
          <a:p>
            <a:pPr marL="0" indent="0">
              <a:spcBef>
                <a:spcPts val="72"/>
              </a:spcBef>
              <a:buNone/>
            </a:pPr>
            <a:r>
              <a:rPr lang="en-US" dirty="0">
                <a:latin typeface="Courier"/>
                <a:cs typeface="Courier"/>
              </a:rPr>
              <a:t>        </a:t>
            </a:r>
            <a:r>
              <a:rPr lang="en-US" dirty="0">
                <a:solidFill>
                  <a:srgbClr val="FFFFFF"/>
                </a:solidFill>
                <a:latin typeface="Courier"/>
                <a:cs typeface="Courier"/>
              </a:rPr>
              <a:t>founded:</a:t>
            </a:r>
            <a:r>
              <a:rPr lang="en-US" dirty="0">
                <a:latin typeface="Courier"/>
                <a:cs typeface="Courier"/>
              </a:rPr>
              <a:t> </a:t>
            </a:r>
            <a:r>
              <a:rPr lang="en-US" dirty="0" smtClean="0">
                <a:solidFill>
                  <a:srgbClr val="F7D58F"/>
                </a:solidFill>
                <a:latin typeface="Courier"/>
                <a:cs typeface="Courier"/>
              </a:rPr>
              <a:t>1980</a:t>
            </a: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spcBef>
                <a:spcPts val="72"/>
              </a:spcBef>
              <a:buNone/>
            </a:pPr>
            <a:r>
              <a:rPr lang="en-US" dirty="0">
                <a:latin typeface="Courier"/>
                <a:cs typeface="Courier"/>
              </a:rPr>
              <a:t>        </a:t>
            </a:r>
            <a:r>
              <a:rPr lang="en-US" dirty="0" smtClean="0">
                <a:solidFill>
                  <a:srgbClr val="FFFFFF"/>
                </a:solidFill>
                <a:latin typeface="Courier"/>
                <a:cs typeface="Courier"/>
              </a:rPr>
              <a:t>locations: [</a:t>
            </a:r>
            <a:r>
              <a:rPr lang="en-US" dirty="0">
                <a:solidFill>
                  <a:srgbClr val="F7D58F"/>
                </a:solidFill>
                <a:latin typeface="Courier"/>
                <a:cs typeface="Courier"/>
              </a:rPr>
              <a:t>"CA”, </a:t>
            </a:r>
            <a:r>
              <a:rPr lang="en-US" dirty="0" smtClean="0">
                <a:solidFill>
                  <a:srgbClr val="F7D58F"/>
                </a:solidFill>
                <a:latin typeface="Courier"/>
                <a:cs typeface="Courier"/>
              </a:rPr>
              <a:t>”NY”</a:t>
            </a:r>
            <a:r>
              <a:rPr lang="en-US" dirty="0" smtClean="0">
                <a:solidFill>
                  <a:srgbClr val="FFFFFF"/>
                </a:solidFill>
                <a:latin typeface="Courier"/>
                <a:cs typeface="Courier"/>
              </a:rPr>
              <a:t> ]</a:t>
            </a:r>
            <a:endParaRPr lang="en-US" dirty="0">
              <a:latin typeface="Courier"/>
              <a:cs typeface="Courier"/>
            </a:endParaRPr>
          </a:p>
          <a:p>
            <a:pPr marL="0" indent="0">
              <a:spcBef>
                <a:spcPts val="72"/>
              </a:spcBef>
              <a:buNone/>
            </a:pPr>
            <a:r>
              <a:rPr lang="en-US" dirty="0" smtClean="0">
                <a:solidFill>
                  <a:schemeClr val="bg1"/>
                </a:solidFill>
                <a:latin typeface="Courier"/>
                <a:cs typeface="Courier"/>
              </a:rPr>
              <a:t>    }</a:t>
            </a:r>
            <a:endParaRPr lang="en-US" dirty="0">
              <a:solidFill>
                <a:schemeClr val="bg1"/>
              </a:solidFill>
              <a:latin typeface="Courier"/>
              <a:cs typeface="Courier"/>
            </a:endParaRPr>
          </a:p>
          <a:p>
            <a:pPr marL="0" indent="0">
              <a:spcBef>
                <a:spcPts val="72"/>
              </a:spcBef>
              <a:buNone/>
            </a:pPr>
            <a:r>
              <a:rPr lang="en-US" dirty="0">
                <a:solidFill>
                  <a:schemeClr val="bg1"/>
                </a:solidFill>
                <a:latin typeface="Courier"/>
                <a:cs typeface="Courier"/>
              </a:rPr>
              <a:t>}</a:t>
            </a:r>
          </a:p>
        </p:txBody>
      </p:sp>
      <p:sp>
        <p:nvSpPr>
          <p:cNvPr id="3" name="Title 2"/>
          <p:cNvSpPr>
            <a:spLocks noGrp="1"/>
          </p:cNvSpPr>
          <p:nvPr>
            <p:ph type="title" idx="4294967295"/>
          </p:nvPr>
        </p:nvSpPr>
        <p:spPr>
          <a:xfrm>
            <a:off x="666045" y="336550"/>
            <a:ext cx="7899400" cy="850900"/>
          </a:xfrm>
        </p:spPr>
        <p:txBody>
          <a:bodyPr/>
          <a:lstStyle/>
          <a:p>
            <a:r>
              <a:rPr lang="en-US" dirty="0" smtClean="0"/>
              <a:t>What is a Document?</a:t>
            </a:r>
            <a:endParaRPr lang="en-US" dirty="0"/>
          </a:p>
        </p:txBody>
      </p:sp>
    </p:spTree>
    <p:extLst>
      <p:ext uri="{BB962C8B-B14F-4D97-AF65-F5344CB8AC3E}">
        <p14:creationId xmlns:p14="http://schemas.microsoft.com/office/powerpoint/2010/main" val="768343547"/>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Content Placeholder 3"/>
          <p:cNvSpPr>
            <a:spLocks noGrp="1"/>
          </p:cNvSpPr>
          <p:nvPr>
            <p:ph idx="4294967295"/>
          </p:nvPr>
        </p:nvSpPr>
        <p:spPr>
          <a:xfrm>
            <a:off x="666045" y="1652588"/>
            <a:ext cx="7886700" cy="4640262"/>
          </a:xfrm>
        </p:spPr>
        <p:txBody>
          <a:bodyPr>
            <a:normAutofit/>
          </a:bodyPr>
          <a:lstStyle/>
          <a:p>
            <a:pPr marL="0" indent="0">
              <a:spcBef>
                <a:spcPts val="72"/>
              </a:spcBef>
              <a:buNone/>
            </a:pPr>
            <a:endParaRPr lang="en-US" dirty="0">
              <a:latin typeface="Consolas"/>
              <a:cs typeface="Consolas"/>
            </a:endParaRPr>
          </a:p>
          <a:p>
            <a:pPr marL="0" indent="0">
              <a:spcBef>
                <a:spcPts val="72"/>
              </a:spcBef>
              <a:buNone/>
            </a:pPr>
            <a:r>
              <a:rPr lang="en-US" dirty="0">
                <a:solidFill>
                  <a:srgbClr val="FFFFFF"/>
                </a:solidFill>
                <a:latin typeface="Courier"/>
                <a:cs typeface="Courier"/>
              </a:rPr>
              <a:t>// Java: maps</a:t>
            </a:r>
          </a:p>
          <a:p>
            <a:pPr marL="0" indent="0">
              <a:spcBef>
                <a:spcPts val="72"/>
              </a:spcBef>
              <a:buNone/>
            </a:pPr>
            <a:r>
              <a:rPr lang="en-US" dirty="0" err="1">
                <a:solidFill>
                  <a:srgbClr val="FFFFFF"/>
                </a:solidFill>
                <a:latin typeface="Courier"/>
                <a:cs typeface="Courier"/>
              </a:rPr>
              <a:t>DBObject</a:t>
            </a:r>
            <a:r>
              <a:rPr lang="en-US" dirty="0">
                <a:solidFill>
                  <a:srgbClr val="FFFFFF"/>
                </a:solidFill>
                <a:latin typeface="Courier"/>
                <a:cs typeface="Courier"/>
              </a:rPr>
              <a:t> query = new </a:t>
            </a:r>
            <a:r>
              <a:rPr lang="en-US" dirty="0" err="1">
                <a:solidFill>
                  <a:srgbClr val="FFFFFF"/>
                </a:solidFill>
                <a:latin typeface="Courier"/>
                <a:cs typeface="Courier"/>
              </a:rPr>
              <a:t>BasicDBObject</a:t>
            </a:r>
            <a:r>
              <a:rPr lang="en-US" dirty="0">
                <a:solidFill>
                  <a:srgbClr val="FFFFFF"/>
                </a:solidFill>
                <a:latin typeface="Courier"/>
                <a:cs typeface="Courier"/>
              </a:rPr>
              <a:t>(</a:t>
            </a:r>
            <a:r>
              <a:rPr lang="en-US" dirty="0">
                <a:solidFill>
                  <a:srgbClr val="F7D58F"/>
                </a:solidFill>
                <a:latin typeface="Courier"/>
                <a:cs typeface="Courier"/>
              </a:rPr>
              <a:t>”</a:t>
            </a:r>
            <a:r>
              <a:rPr lang="en-US" dirty="0" err="1">
                <a:solidFill>
                  <a:srgbClr val="F7D58F"/>
                </a:solidFill>
                <a:latin typeface="Courier"/>
                <a:cs typeface="Courier"/>
              </a:rPr>
              <a:t>publisher.founded</a:t>
            </a:r>
            <a:r>
              <a:rPr lang="en-US" dirty="0">
                <a:solidFill>
                  <a:srgbClr val="F7D58F"/>
                </a:solidFill>
                <a:latin typeface="Courier"/>
                <a:cs typeface="Courier"/>
              </a:rPr>
              <a:t>”</a:t>
            </a:r>
            <a:r>
              <a:rPr lang="en-US" dirty="0">
                <a:solidFill>
                  <a:srgbClr val="FFFFFF"/>
                </a:solidFill>
                <a:latin typeface="Courier"/>
                <a:cs typeface="Courier"/>
              </a:rPr>
              <a:t>, 1980));</a:t>
            </a:r>
          </a:p>
          <a:p>
            <a:pPr marL="0" indent="0">
              <a:spcBef>
                <a:spcPts val="72"/>
              </a:spcBef>
              <a:buNone/>
            </a:pPr>
            <a:r>
              <a:rPr lang="en-US" dirty="0">
                <a:solidFill>
                  <a:srgbClr val="FFFFFF"/>
                </a:solidFill>
                <a:latin typeface="Courier"/>
                <a:cs typeface="Courier"/>
              </a:rPr>
              <a:t>Map m = </a:t>
            </a:r>
            <a:r>
              <a:rPr lang="en-US" dirty="0" err="1">
                <a:solidFill>
                  <a:srgbClr val="FFFFFF"/>
                </a:solidFill>
                <a:latin typeface="Courier"/>
                <a:cs typeface="Courier"/>
              </a:rPr>
              <a:t>collection.findOne</a:t>
            </a:r>
            <a:r>
              <a:rPr lang="en-US" dirty="0">
                <a:solidFill>
                  <a:srgbClr val="FFFFFF"/>
                </a:solidFill>
                <a:latin typeface="Courier"/>
                <a:cs typeface="Courier"/>
              </a:rPr>
              <a:t>(query);</a:t>
            </a:r>
          </a:p>
          <a:p>
            <a:pPr marL="0" indent="0">
              <a:spcBef>
                <a:spcPts val="72"/>
              </a:spcBef>
              <a:buNone/>
            </a:pPr>
            <a:r>
              <a:rPr lang="en-US" dirty="0" smtClean="0">
                <a:solidFill>
                  <a:srgbClr val="FFFFFF"/>
                </a:solidFill>
                <a:latin typeface="Courier"/>
                <a:cs typeface="Courier"/>
              </a:rPr>
              <a:t>Date </a:t>
            </a:r>
            <a:r>
              <a:rPr lang="en-US" dirty="0" err="1" smtClean="0">
                <a:solidFill>
                  <a:srgbClr val="FFFFFF"/>
                </a:solidFill>
                <a:latin typeface="Courier"/>
                <a:cs typeface="Courier"/>
              </a:rPr>
              <a:t>pubDate</a:t>
            </a:r>
            <a:r>
              <a:rPr lang="en-US" dirty="0" smtClean="0">
                <a:solidFill>
                  <a:srgbClr val="FFFFFF"/>
                </a:solidFill>
                <a:latin typeface="Courier"/>
                <a:cs typeface="Courier"/>
              </a:rPr>
              <a:t> </a:t>
            </a:r>
            <a:r>
              <a:rPr lang="en-US" dirty="0">
                <a:solidFill>
                  <a:srgbClr val="FFFFFF"/>
                </a:solidFill>
                <a:latin typeface="Courier"/>
                <a:cs typeface="Courier"/>
              </a:rPr>
              <a:t>= </a:t>
            </a:r>
            <a:r>
              <a:rPr lang="en-US" dirty="0" smtClean="0">
                <a:solidFill>
                  <a:srgbClr val="FFFFFF"/>
                </a:solidFill>
                <a:latin typeface="Courier"/>
                <a:cs typeface="Courier"/>
              </a:rPr>
              <a:t>(Date)</a:t>
            </a:r>
            <a:r>
              <a:rPr lang="en-US" dirty="0" err="1">
                <a:solidFill>
                  <a:srgbClr val="FFFFFF"/>
                </a:solidFill>
                <a:latin typeface="Courier"/>
                <a:cs typeface="Courier"/>
              </a:rPr>
              <a:t>m.get</a:t>
            </a:r>
            <a:r>
              <a:rPr lang="en-US" dirty="0">
                <a:solidFill>
                  <a:srgbClr val="FFFFFF"/>
                </a:solidFill>
                <a:latin typeface="Courier"/>
                <a:cs typeface="Courier"/>
              </a:rPr>
              <a:t>(</a:t>
            </a:r>
            <a:r>
              <a:rPr lang="en-US" dirty="0">
                <a:solidFill>
                  <a:srgbClr val="F7D58F"/>
                </a:solidFill>
                <a:latin typeface="Courier"/>
                <a:cs typeface="Courier"/>
              </a:rPr>
              <a:t>”</a:t>
            </a:r>
            <a:r>
              <a:rPr lang="en-US" dirty="0" err="1" smtClean="0">
                <a:solidFill>
                  <a:srgbClr val="F7D58F"/>
                </a:solidFill>
                <a:latin typeface="Courier"/>
                <a:cs typeface="Courier"/>
              </a:rPr>
              <a:t>published_date</a:t>
            </a:r>
            <a:r>
              <a:rPr lang="en-US" dirty="0" smtClean="0">
                <a:solidFill>
                  <a:srgbClr val="F7D58F"/>
                </a:solidFill>
                <a:latin typeface="Courier"/>
                <a:cs typeface="Courier"/>
              </a:rPr>
              <a:t>”</a:t>
            </a:r>
            <a:r>
              <a:rPr lang="en-US" dirty="0">
                <a:solidFill>
                  <a:srgbClr val="FFFFFF"/>
                </a:solidFill>
                <a:latin typeface="Courier"/>
                <a:cs typeface="Courier"/>
              </a:rPr>
              <a:t>)</a:t>
            </a:r>
            <a:r>
              <a:rPr lang="en-US" dirty="0" smtClean="0">
                <a:solidFill>
                  <a:srgbClr val="FFFFFF"/>
                </a:solidFill>
                <a:latin typeface="Courier"/>
                <a:cs typeface="Courier"/>
              </a:rPr>
              <a:t>; // </a:t>
            </a:r>
            <a:r>
              <a:rPr lang="en-US" dirty="0" err="1" smtClean="0">
                <a:solidFill>
                  <a:srgbClr val="FFFFFF"/>
                </a:solidFill>
                <a:latin typeface="Courier"/>
                <a:cs typeface="Courier"/>
              </a:rPr>
              <a:t>java.util.Date</a:t>
            </a:r>
            <a:endParaRPr lang="en-US" dirty="0">
              <a:solidFill>
                <a:srgbClr val="FFFFFF"/>
              </a:solidFill>
              <a:latin typeface="Courier"/>
              <a:cs typeface="Courier"/>
            </a:endParaRPr>
          </a:p>
          <a:p>
            <a:pPr marL="0" indent="0">
              <a:spcBef>
                <a:spcPts val="72"/>
              </a:spcBef>
              <a:buNone/>
            </a:pPr>
            <a:endParaRPr lang="en-US" dirty="0" smtClean="0">
              <a:solidFill>
                <a:srgbClr val="FFFFFF"/>
              </a:solidFill>
              <a:latin typeface="Courier"/>
              <a:cs typeface="Courier"/>
            </a:endParaRPr>
          </a:p>
          <a:p>
            <a:pPr marL="0" indent="0">
              <a:spcBef>
                <a:spcPts val="72"/>
              </a:spcBef>
              <a:buNone/>
            </a:pPr>
            <a:endParaRPr lang="en-US" dirty="0">
              <a:solidFill>
                <a:srgbClr val="FFFFFF"/>
              </a:solidFill>
              <a:latin typeface="Courier"/>
              <a:cs typeface="Courier"/>
            </a:endParaRPr>
          </a:p>
          <a:p>
            <a:pPr marL="0" indent="0">
              <a:spcBef>
                <a:spcPts val="72"/>
              </a:spcBef>
              <a:buNone/>
            </a:pPr>
            <a:r>
              <a:rPr lang="en-US" dirty="0" smtClean="0">
                <a:solidFill>
                  <a:srgbClr val="FFFFFF"/>
                </a:solidFill>
                <a:latin typeface="Courier"/>
                <a:cs typeface="Courier"/>
              </a:rPr>
              <a:t>// </a:t>
            </a:r>
            <a:r>
              <a:rPr lang="en-US" dirty="0" err="1" smtClean="0">
                <a:solidFill>
                  <a:srgbClr val="FFFFFF"/>
                </a:solidFill>
                <a:latin typeface="Courier"/>
                <a:cs typeface="Courier"/>
              </a:rPr>
              <a:t>Javascript</a:t>
            </a:r>
            <a:r>
              <a:rPr lang="en-US" dirty="0" smtClean="0">
                <a:solidFill>
                  <a:srgbClr val="FFFFFF"/>
                </a:solidFill>
                <a:latin typeface="Courier"/>
                <a:cs typeface="Courier"/>
              </a:rPr>
              <a:t>: objects</a:t>
            </a:r>
          </a:p>
          <a:p>
            <a:pPr marL="0" indent="0">
              <a:spcBef>
                <a:spcPts val="72"/>
              </a:spcBef>
              <a:buNone/>
            </a:pPr>
            <a:r>
              <a:rPr lang="en-US" dirty="0" smtClean="0">
                <a:solidFill>
                  <a:srgbClr val="FFFFFF"/>
                </a:solidFill>
                <a:latin typeface="Courier"/>
                <a:cs typeface="Courier"/>
              </a:rPr>
              <a:t>m = </a:t>
            </a:r>
            <a:r>
              <a:rPr lang="en-US" dirty="0" err="1" smtClean="0">
                <a:solidFill>
                  <a:srgbClr val="FFFFFF"/>
                </a:solidFill>
                <a:latin typeface="Courier"/>
                <a:cs typeface="Courier"/>
              </a:rPr>
              <a:t>collection.findOne</a:t>
            </a:r>
            <a:r>
              <a:rPr lang="en-US" dirty="0" smtClean="0">
                <a:solidFill>
                  <a:srgbClr val="FFFFFF"/>
                </a:solidFill>
                <a:latin typeface="Courier"/>
                <a:cs typeface="Courier"/>
              </a:rPr>
              <a:t>({</a:t>
            </a:r>
            <a:r>
              <a:rPr lang="en-US" dirty="0" smtClean="0">
                <a:solidFill>
                  <a:srgbClr val="F7D58F"/>
                </a:solidFill>
                <a:latin typeface="Courier"/>
                <a:cs typeface="Courier"/>
              </a:rPr>
              <a:t>”</a:t>
            </a:r>
            <a:r>
              <a:rPr lang="en-US" dirty="0" err="1" smtClean="0">
                <a:solidFill>
                  <a:srgbClr val="F7D58F"/>
                </a:solidFill>
                <a:latin typeface="Courier"/>
                <a:cs typeface="Courier"/>
              </a:rPr>
              <a:t>publisher.founded</a:t>
            </a:r>
            <a:r>
              <a:rPr lang="en-US" dirty="0" smtClean="0">
                <a:solidFill>
                  <a:srgbClr val="F7D58F"/>
                </a:solidFill>
                <a:latin typeface="Courier"/>
                <a:cs typeface="Courier"/>
              </a:rPr>
              <a:t>”</a:t>
            </a:r>
            <a:r>
              <a:rPr lang="en-US" dirty="0" smtClean="0">
                <a:solidFill>
                  <a:srgbClr val="FFFFFF"/>
                </a:solidFill>
                <a:latin typeface="Courier"/>
                <a:cs typeface="Courier"/>
              </a:rPr>
              <a:t> : 1980});</a:t>
            </a:r>
          </a:p>
          <a:p>
            <a:pPr marL="0" indent="0">
              <a:spcBef>
                <a:spcPts val="72"/>
              </a:spcBef>
              <a:buNone/>
            </a:pPr>
            <a:r>
              <a:rPr lang="en-US" dirty="0" err="1" smtClean="0">
                <a:solidFill>
                  <a:srgbClr val="FFFFFF"/>
                </a:solidFill>
                <a:latin typeface="Courier"/>
                <a:cs typeface="Courier"/>
              </a:rPr>
              <a:t>pubDate</a:t>
            </a:r>
            <a:r>
              <a:rPr lang="en-US" dirty="0" smtClean="0">
                <a:solidFill>
                  <a:srgbClr val="FFFFFF"/>
                </a:solidFill>
                <a:latin typeface="Courier"/>
                <a:cs typeface="Courier"/>
              </a:rPr>
              <a:t> = </a:t>
            </a:r>
            <a:r>
              <a:rPr lang="en-US" dirty="0" err="1" smtClean="0">
                <a:solidFill>
                  <a:srgbClr val="FFFFFF"/>
                </a:solidFill>
                <a:latin typeface="Courier"/>
                <a:cs typeface="Courier"/>
              </a:rPr>
              <a:t>m.published_date</a:t>
            </a:r>
            <a:r>
              <a:rPr lang="en-US" dirty="0" smtClean="0">
                <a:solidFill>
                  <a:srgbClr val="FFFFFF"/>
                </a:solidFill>
                <a:latin typeface="Courier"/>
                <a:cs typeface="Courier"/>
              </a:rPr>
              <a:t>;    // </a:t>
            </a:r>
            <a:r>
              <a:rPr lang="en-US" dirty="0" err="1" smtClean="0">
                <a:solidFill>
                  <a:srgbClr val="FFFFFF"/>
                </a:solidFill>
                <a:latin typeface="Courier"/>
                <a:cs typeface="Courier"/>
              </a:rPr>
              <a:t>ISODate</a:t>
            </a:r>
            <a:endParaRPr lang="en-US" dirty="0" smtClean="0">
              <a:solidFill>
                <a:srgbClr val="FFFFFF"/>
              </a:solidFill>
              <a:latin typeface="Courier"/>
              <a:cs typeface="Courier"/>
            </a:endParaRPr>
          </a:p>
          <a:p>
            <a:pPr marL="0" indent="0">
              <a:spcBef>
                <a:spcPts val="72"/>
              </a:spcBef>
              <a:buNone/>
            </a:pPr>
            <a:r>
              <a:rPr lang="en-US" dirty="0" smtClean="0">
                <a:solidFill>
                  <a:srgbClr val="FFFFFF"/>
                </a:solidFill>
                <a:latin typeface="Courier"/>
                <a:cs typeface="Courier"/>
              </a:rPr>
              <a:t>year = </a:t>
            </a:r>
            <a:r>
              <a:rPr lang="en-US" dirty="0" err="1" smtClean="0">
                <a:solidFill>
                  <a:srgbClr val="FFFFFF"/>
                </a:solidFill>
                <a:latin typeface="Courier"/>
                <a:cs typeface="Courier"/>
              </a:rPr>
              <a:t>pubDate.getUTCFullYear</a:t>
            </a:r>
            <a:r>
              <a:rPr lang="en-US" dirty="0" smtClean="0">
                <a:solidFill>
                  <a:srgbClr val="FFFFFF"/>
                </a:solidFill>
                <a:latin typeface="Courier"/>
                <a:cs typeface="Courier"/>
              </a:rPr>
              <a:t>(); </a:t>
            </a:r>
          </a:p>
          <a:p>
            <a:pPr marL="0" indent="0">
              <a:spcBef>
                <a:spcPts val="72"/>
              </a:spcBef>
              <a:buNone/>
            </a:pPr>
            <a:endParaRPr lang="en-US" dirty="0" smtClean="0">
              <a:solidFill>
                <a:srgbClr val="FFFFFF"/>
              </a:solidFill>
              <a:latin typeface="Courier"/>
              <a:cs typeface="Courier"/>
            </a:endParaRPr>
          </a:p>
          <a:p>
            <a:pPr marL="0" indent="0">
              <a:spcBef>
                <a:spcPts val="72"/>
              </a:spcBef>
              <a:buNone/>
            </a:pPr>
            <a:endParaRPr lang="en-US" dirty="0" smtClean="0">
              <a:solidFill>
                <a:srgbClr val="FFFFFF"/>
              </a:solidFill>
              <a:latin typeface="Courier"/>
              <a:cs typeface="Courier"/>
            </a:endParaRPr>
          </a:p>
          <a:p>
            <a:pPr marL="0" indent="0">
              <a:spcBef>
                <a:spcPts val="72"/>
              </a:spcBef>
              <a:buNone/>
            </a:pPr>
            <a:r>
              <a:rPr lang="en-US" dirty="0" smtClean="0">
                <a:solidFill>
                  <a:srgbClr val="FFFFFF"/>
                </a:solidFill>
                <a:latin typeface="Courier"/>
                <a:cs typeface="Courier"/>
              </a:rPr>
              <a:t># Python: dictionaries</a:t>
            </a:r>
          </a:p>
          <a:p>
            <a:pPr marL="0" indent="0">
              <a:spcBef>
                <a:spcPts val="72"/>
              </a:spcBef>
              <a:buNone/>
            </a:pPr>
            <a:r>
              <a:rPr lang="en-US" dirty="0">
                <a:solidFill>
                  <a:srgbClr val="FFFFFF"/>
                </a:solidFill>
                <a:latin typeface="Courier"/>
                <a:cs typeface="Courier"/>
              </a:rPr>
              <a:t>m = </a:t>
            </a:r>
            <a:r>
              <a:rPr lang="en-US" dirty="0" err="1" smtClean="0">
                <a:solidFill>
                  <a:srgbClr val="FFFFFF"/>
                </a:solidFill>
                <a:latin typeface="Courier"/>
                <a:cs typeface="Courier"/>
              </a:rPr>
              <a:t>coll.find_one</a:t>
            </a:r>
            <a:r>
              <a:rPr lang="en-US" dirty="0" smtClean="0">
                <a:solidFill>
                  <a:srgbClr val="FFFFFF"/>
                </a:solidFill>
                <a:latin typeface="Courier"/>
                <a:cs typeface="Courier"/>
              </a:rPr>
              <a:t>({</a:t>
            </a:r>
            <a:r>
              <a:rPr lang="en-US" dirty="0">
                <a:solidFill>
                  <a:srgbClr val="F7D58F"/>
                </a:solidFill>
                <a:latin typeface="Courier"/>
                <a:cs typeface="Courier"/>
              </a:rPr>
              <a:t>”</a:t>
            </a:r>
            <a:r>
              <a:rPr lang="en-US" dirty="0" err="1">
                <a:solidFill>
                  <a:srgbClr val="F7D58F"/>
                </a:solidFill>
                <a:latin typeface="Courier"/>
                <a:cs typeface="Courier"/>
              </a:rPr>
              <a:t>publisher.founded</a:t>
            </a:r>
            <a:r>
              <a:rPr lang="en-US" dirty="0" smtClean="0">
                <a:solidFill>
                  <a:srgbClr val="F7D58F"/>
                </a:solidFill>
                <a:latin typeface="Courier"/>
                <a:cs typeface="Courier"/>
              </a:rPr>
              <a:t>”</a:t>
            </a:r>
            <a:r>
              <a:rPr lang="en-US" dirty="0" smtClean="0">
                <a:solidFill>
                  <a:srgbClr val="FFFFFF"/>
                </a:solidFill>
                <a:latin typeface="Courier"/>
                <a:cs typeface="Courier"/>
              </a:rPr>
              <a:t> : 1980 </a:t>
            </a:r>
            <a:r>
              <a:rPr lang="en-US" dirty="0">
                <a:solidFill>
                  <a:srgbClr val="FFFFFF"/>
                </a:solidFill>
                <a:latin typeface="Courier"/>
                <a:cs typeface="Courier"/>
              </a:rPr>
              <a:t>});</a:t>
            </a:r>
          </a:p>
          <a:p>
            <a:pPr marL="0" indent="0">
              <a:spcBef>
                <a:spcPts val="72"/>
              </a:spcBef>
              <a:buNone/>
            </a:pPr>
            <a:r>
              <a:rPr lang="en-US" dirty="0" err="1" smtClean="0">
                <a:solidFill>
                  <a:srgbClr val="FFFFFF"/>
                </a:solidFill>
                <a:latin typeface="Courier"/>
                <a:cs typeface="Courier"/>
              </a:rPr>
              <a:t>pubDate</a:t>
            </a:r>
            <a:r>
              <a:rPr lang="en-US" dirty="0" smtClean="0">
                <a:solidFill>
                  <a:srgbClr val="FFFFFF"/>
                </a:solidFill>
                <a:latin typeface="Courier"/>
                <a:cs typeface="Courier"/>
              </a:rPr>
              <a:t> = m[</a:t>
            </a:r>
            <a:r>
              <a:rPr lang="en-US" dirty="0" smtClean="0">
                <a:solidFill>
                  <a:srgbClr val="F7D58F"/>
                </a:solidFill>
                <a:latin typeface="Courier"/>
                <a:cs typeface="Courier"/>
              </a:rPr>
              <a:t>”</a:t>
            </a:r>
            <a:r>
              <a:rPr lang="en-US" dirty="0" err="1" smtClean="0">
                <a:solidFill>
                  <a:srgbClr val="F7D58F"/>
                </a:solidFill>
                <a:latin typeface="Courier"/>
                <a:cs typeface="Courier"/>
              </a:rPr>
              <a:t>pubDate</a:t>
            </a:r>
            <a:r>
              <a:rPr lang="en-US" dirty="0" smtClean="0">
                <a:solidFill>
                  <a:srgbClr val="F7D58F"/>
                </a:solidFill>
                <a:latin typeface="Courier"/>
                <a:cs typeface="Courier"/>
              </a:rPr>
              <a:t>”</a:t>
            </a:r>
            <a:r>
              <a:rPr lang="en-US" dirty="0" smtClean="0">
                <a:solidFill>
                  <a:srgbClr val="FFFFFF"/>
                </a:solidFill>
                <a:latin typeface="Courier"/>
                <a:cs typeface="Courier"/>
              </a:rPr>
              <a:t>].year   # </a:t>
            </a:r>
            <a:r>
              <a:rPr lang="en-US" dirty="0" err="1" smtClean="0">
                <a:solidFill>
                  <a:srgbClr val="FFFFFF"/>
                </a:solidFill>
                <a:latin typeface="Courier"/>
                <a:cs typeface="Courier"/>
              </a:rPr>
              <a:t>datetime.datetime</a:t>
            </a:r>
            <a:endParaRPr lang="en-US" dirty="0">
              <a:solidFill>
                <a:srgbClr val="FFFFFF"/>
              </a:solidFill>
              <a:latin typeface="Courier"/>
              <a:cs typeface="Courier"/>
            </a:endParaRPr>
          </a:p>
        </p:txBody>
      </p:sp>
      <p:sp>
        <p:nvSpPr>
          <p:cNvPr id="3" name="Title 2"/>
          <p:cNvSpPr>
            <a:spLocks noGrp="1"/>
          </p:cNvSpPr>
          <p:nvPr>
            <p:ph type="title" idx="4294967295"/>
          </p:nvPr>
        </p:nvSpPr>
        <p:spPr>
          <a:xfrm>
            <a:off x="666045" y="336550"/>
            <a:ext cx="7899400" cy="850900"/>
          </a:xfrm>
        </p:spPr>
        <p:txBody>
          <a:bodyPr>
            <a:normAutofit fontScale="90000"/>
          </a:bodyPr>
          <a:lstStyle/>
          <a:p>
            <a:r>
              <a:rPr lang="en-US" dirty="0" smtClean="0"/>
              <a:t>Documents Map to Language Constructs</a:t>
            </a:r>
            <a:endParaRPr lang="en-US" dirty="0"/>
          </a:p>
        </p:txBody>
      </p:sp>
    </p:spTree>
    <p:extLst>
      <p:ext uri="{BB962C8B-B14F-4D97-AF65-F5344CB8AC3E}">
        <p14:creationId xmlns:p14="http://schemas.microsoft.com/office/powerpoint/2010/main" val="465765787"/>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4816" y="1119673"/>
            <a:ext cx="8037028" cy="3539430"/>
          </a:xfrm>
          <a:prstGeom prst="rect">
            <a:avLst/>
          </a:prstGeom>
          <a:noFill/>
        </p:spPr>
        <p:txBody>
          <a:bodyPr wrap="square" rtlCol="0">
            <a:spAutoFit/>
          </a:bodyPr>
          <a:lstStyle/>
          <a:p>
            <a:r>
              <a:rPr lang="en-US" sz="4800" b="1" dirty="0" smtClean="0"/>
              <a:t>Traditional Data Design</a:t>
            </a:r>
          </a:p>
          <a:p>
            <a:pPr marL="571500" indent="-571500">
              <a:buFont typeface="Arial"/>
              <a:buChar char="•"/>
            </a:pPr>
            <a:r>
              <a:rPr lang="en-US" sz="4400" b="1" dirty="0" smtClean="0">
                <a:solidFill>
                  <a:srgbClr val="5B972B"/>
                </a:solidFill>
              </a:rPr>
              <a:t>Static, Uniform Scalar Data</a:t>
            </a:r>
          </a:p>
          <a:p>
            <a:pPr marL="571500" indent="-571500">
              <a:buFont typeface="Arial"/>
              <a:buChar char="•"/>
            </a:pPr>
            <a:r>
              <a:rPr lang="en-US" sz="4400" b="1" dirty="0" smtClean="0">
                <a:solidFill>
                  <a:srgbClr val="5B972B"/>
                </a:solidFill>
              </a:rPr>
              <a:t>Rectangles</a:t>
            </a:r>
          </a:p>
          <a:p>
            <a:pPr marL="571500" indent="-571500">
              <a:buFont typeface="Arial"/>
              <a:buChar char="•"/>
            </a:pPr>
            <a:r>
              <a:rPr lang="en-US" sz="4400" b="1" dirty="0" smtClean="0">
                <a:solidFill>
                  <a:srgbClr val="5B972B"/>
                </a:solidFill>
              </a:rPr>
              <a:t>Low-level, physical representation</a:t>
            </a:r>
            <a:endParaRPr lang="en-US" sz="4400" b="1" dirty="0"/>
          </a:p>
        </p:txBody>
      </p:sp>
    </p:spTree>
    <p:extLst>
      <p:ext uri="{BB962C8B-B14F-4D97-AF65-F5344CB8AC3E}">
        <p14:creationId xmlns:p14="http://schemas.microsoft.com/office/powerpoint/2010/main" val="1385471995"/>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4816" y="1119673"/>
            <a:ext cx="8037028" cy="3539430"/>
          </a:xfrm>
          <a:prstGeom prst="rect">
            <a:avLst/>
          </a:prstGeom>
          <a:noFill/>
        </p:spPr>
        <p:txBody>
          <a:bodyPr wrap="square" rtlCol="0">
            <a:spAutoFit/>
          </a:bodyPr>
          <a:lstStyle/>
          <a:p>
            <a:r>
              <a:rPr lang="en-US" sz="4800" b="1" dirty="0" smtClean="0"/>
              <a:t>Document Data Design</a:t>
            </a:r>
          </a:p>
          <a:p>
            <a:pPr marL="571500" indent="-571500">
              <a:buFont typeface="Arial"/>
              <a:buChar char="•"/>
            </a:pPr>
            <a:r>
              <a:rPr lang="en-US" sz="4400" b="1" dirty="0" smtClean="0">
                <a:solidFill>
                  <a:srgbClr val="5B972B"/>
                </a:solidFill>
              </a:rPr>
              <a:t>Flexible, Rich Shapes</a:t>
            </a:r>
          </a:p>
          <a:p>
            <a:pPr marL="571500" indent="-571500">
              <a:buFont typeface="Arial"/>
              <a:buChar char="•"/>
            </a:pPr>
            <a:r>
              <a:rPr lang="en-US" sz="4400" b="1" dirty="0" smtClean="0">
                <a:solidFill>
                  <a:srgbClr val="5B972B"/>
                </a:solidFill>
              </a:rPr>
              <a:t>Objects</a:t>
            </a:r>
          </a:p>
          <a:p>
            <a:pPr marL="571500" indent="-571500">
              <a:buFont typeface="Arial"/>
              <a:buChar char="•"/>
            </a:pPr>
            <a:r>
              <a:rPr lang="en-US" sz="4400" b="1" dirty="0" smtClean="0">
                <a:solidFill>
                  <a:srgbClr val="5B972B"/>
                </a:solidFill>
              </a:rPr>
              <a:t>Higher-level, business representation</a:t>
            </a:r>
            <a:endParaRPr lang="en-US" sz="4400" b="1" dirty="0"/>
          </a:p>
        </p:txBody>
      </p:sp>
    </p:spTree>
    <p:extLst>
      <p:ext uri="{BB962C8B-B14F-4D97-AF65-F5344CB8AC3E}">
        <p14:creationId xmlns:p14="http://schemas.microsoft.com/office/powerpoint/2010/main" val="2462668368"/>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6000" dirty="0" smtClean="0"/>
              <a:t>Schema Design By Example</a:t>
            </a:r>
            <a:endParaRPr lang="en-US" sz="6000" dirty="0"/>
          </a:p>
        </p:txBody>
      </p:sp>
    </p:spTree>
    <p:extLst>
      <p:ext uri="{BB962C8B-B14F-4D97-AF65-F5344CB8AC3E}">
        <p14:creationId xmlns:p14="http://schemas.microsoft.com/office/powerpoint/2010/main" val="3751949082"/>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Library Management Application</a:t>
            </a:r>
            <a:endParaRPr lang="en-US" dirty="0"/>
          </a:p>
        </p:txBody>
      </p:sp>
      <p:sp>
        <p:nvSpPr>
          <p:cNvPr id="4" name="Text Placeholder 3"/>
          <p:cNvSpPr>
            <a:spLocks noGrp="1"/>
          </p:cNvSpPr>
          <p:nvPr>
            <p:ph idx="1"/>
          </p:nvPr>
        </p:nvSpPr>
        <p:spPr/>
        <p:txBody>
          <a:bodyPr>
            <a:normAutofit/>
          </a:bodyPr>
          <a:lstStyle/>
          <a:p>
            <a:r>
              <a:rPr lang="en-US" sz="4000" dirty="0" smtClean="0"/>
              <a:t>Patrons/Users</a:t>
            </a:r>
          </a:p>
          <a:p>
            <a:r>
              <a:rPr lang="en-US" sz="4000" dirty="0" smtClean="0"/>
              <a:t>Books</a:t>
            </a:r>
          </a:p>
          <a:p>
            <a:r>
              <a:rPr lang="en-US" sz="4000" dirty="0" smtClean="0"/>
              <a:t>Authors</a:t>
            </a:r>
          </a:p>
          <a:p>
            <a:r>
              <a:rPr lang="en-US" sz="4000" dirty="0" smtClean="0"/>
              <a:t>Publishers</a:t>
            </a:r>
            <a:endParaRPr lang="en-US" sz="4000" dirty="0"/>
          </a:p>
        </p:txBody>
      </p:sp>
    </p:spTree>
    <p:extLst>
      <p:ext uri="{BB962C8B-B14F-4D97-AF65-F5344CB8AC3E}">
        <p14:creationId xmlns:p14="http://schemas.microsoft.com/office/powerpoint/2010/main" val="3377606687"/>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7200" y="274638"/>
            <a:ext cx="8229600" cy="6178302"/>
          </a:xfrm>
          <a:prstGeom prst="rect">
            <a:avLst/>
          </a:prstGeom>
        </p:spPr>
        <p:txBody>
          <a:bodyPr anchor="ctr">
            <a:normAutofit/>
          </a:bodyPr>
          <a:lstStyle>
            <a:lvl1pPr algn="ctr" defTabSz="457200" rtl="0" eaLnBrk="1" latinLnBrk="0" hangingPunct="1">
              <a:spcBef>
                <a:spcPct val="0"/>
              </a:spcBef>
              <a:buNone/>
              <a:defRPr sz="3600" b="1" kern="1200" spc="-150">
                <a:solidFill>
                  <a:srgbClr val="242423"/>
                </a:solidFill>
                <a:latin typeface="Arial"/>
                <a:ea typeface="+mj-ea"/>
                <a:cs typeface="Arial"/>
              </a:defRPr>
            </a:lvl1pPr>
          </a:lstStyle>
          <a:p>
            <a:pPr algn="l"/>
            <a:r>
              <a:rPr lang="en-US" sz="4800" dirty="0" smtClean="0"/>
              <a:t>Question:</a:t>
            </a:r>
          </a:p>
          <a:p>
            <a:pPr algn="l"/>
            <a:r>
              <a:rPr lang="en-US" sz="4800" dirty="0" smtClean="0">
                <a:solidFill>
                  <a:srgbClr val="5B972B"/>
                </a:solidFill>
              </a:rPr>
              <a:t>What is a Patron’s Address?</a:t>
            </a:r>
            <a:endParaRPr lang="en-US" sz="4800" dirty="0">
              <a:solidFill>
                <a:srgbClr val="5B972B"/>
              </a:solidFill>
            </a:endParaRPr>
          </a:p>
        </p:txBody>
      </p:sp>
    </p:spTree>
    <p:extLst>
      <p:ext uri="{BB962C8B-B14F-4D97-AF65-F5344CB8AC3E}">
        <p14:creationId xmlns:p14="http://schemas.microsoft.com/office/powerpoint/2010/main" val="3798501224"/>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79778" y="1257817"/>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r>
              <a:rPr lang="en-US" dirty="0" smtClean="0">
                <a:solidFill>
                  <a:srgbClr val="242423"/>
                </a:solidFill>
              </a:rPr>
              <a:t>Patron + Address: Initial Attempt</a:t>
            </a:r>
            <a:endParaRPr lang="en-US" dirty="0">
              <a:solidFill>
                <a:srgbClr val="242423"/>
              </a:solidFill>
            </a:endParaRPr>
          </a:p>
        </p:txBody>
      </p:sp>
      <p:sp>
        <p:nvSpPr>
          <p:cNvPr id="4" name="Content Placeholder 3"/>
          <p:cNvSpPr>
            <a:spLocks noGrp="1"/>
          </p:cNvSpPr>
          <p:nvPr>
            <p:ph idx="4294967295"/>
          </p:nvPr>
        </p:nvSpPr>
        <p:spPr>
          <a:xfrm>
            <a:off x="800100" y="1607772"/>
            <a:ext cx="7581900" cy="4452938"/>
          </a:xfrm>
        </p:spPr>
        <p:txBody>
          <a:bodyPr>
            <a:normAutofit/>
          </a:bodyPr>
          <a:lstStyle/>
          <a:p>
            <a:pPr marL="0" indent="0">
              <a:lnSpc>
                <a:spcPct val="100000"/>
              </a:lnSpc>
              <a:buNone/>
            </a:pPr>
            <a:r>
              <a:rPr lang="en-US" dirty="0" smtClean="0">
                <a:solidFill>
                  <a:schemeClr val="bg1"/>
                </a:solidFill>
                <a:latin typeface="Courier"/>
                <a:cs typeface="Courier"/>
              </a:rPr>
              <a:t>&gt; </a:t>
            </a:r>
            <a:r>
              <a:rPr lang="en-US" dirty="0" err="1" smtClean="0">
                <a:solidFill>
                  <a:schemeClr val="bg1"/>
                </a:solidFill>
                <a:latin typeface="Courier"/>
                <a:cs typeface="Courier"/>
              </a:rPr>
              <a:t>db.patrons.find</a:t>
            </a:r>
            <a:r>
              <a:rPr lang="en-US" dirty="0" smtClean="0">
                <a:solidFill>
                  <a:schemeClr val="bg1"/>
                </a:solidFill>
                <a:latin typeface="Courier"/>
                <a:cs typeface="Courier"/>
              </a:rPr>
              <a:t>({ _id : </a:t>
            </a:r>
            <a:r>
              <a:rPr lang="en-US" dirty="0" smtClean="0">
                <a:solidFill>
                  <a:schemeClr val="accent2"/>
                </a:solidFill>
                <a:latin typeface="Courier"/>
                <a:cs typeface="Courier"/>
              </a:rPr>
              <a:t>“</a:t>
            </a:r>
            <a:r>
              <a:rPr lang="en-US" dirty="0" err="1" smtClean="0">
                <a:solidFill>
                  <a:schemeClr val="accent1">
                    <a:lumMod val="75000"/>
                  </a:schemeClr>
                </a:solidFill>
                <a:latin typeface="Courier"/>
                <a:cs typeface="Courier"/>
              </a:rPr>
              <a:t>joe</a:t>
            </a:r>
            <a:r>
              <a:rPr lang="en-US" dirty="0" smtClean="0">
                <a:solidFill>
                  <a:schemeClr val="accent2"/>
                </a:solidFill>
                <a:latin typeface="Courier"/>
                <a:cs typeface="Courier"/>
              </a:rPr>
              <a:t>”</a:t>
            </a:r>
            <a:r>
              <a:rPr lang="en-US" dirty="0" smtClean="0">
                <a:latin typeface="Courier"/>
                <a:cs typeface="Courier"/>
              </a:rPr>
              <a:t> </a:t>
            </a:r>
            <a:r>
              <a:rPr lang="en-US" dirty="0" smtClean="0">
                <a:solidFill>
                  <a:schemeClr val="bg1"/>
                </a:solidFill>
                <a:latin typeface="Courier"/>
                <a:cs typeface="Courier"/>
              </a:rPr>
              <a:t>})</a:t>
            </a:r>
          </a:p>
          <a:p>
            <a:pPr marL="0" indent="0">
              <a:lnSpc>
                <a:spcPct val="100000"/>
              </a:lnSpc>
              <a:spcBef>
                <a:spcPts val="72"/>
              </a:spcBef>
              <a:buNone/>
            </a:pPr>
            <a:r>
              <a:rPr lang="en-US" dirty="0" smtClean="0">
                <a:solidFill>
                  <a:schemeClr val="bg1"/>
                </a:solidFill>
                <a:latin typeface="Courier"/>
                <a:cs typeface="Courier"/>
              </a:rPr>
              <a:t>{   </a:t>
            </a:r>
          </a:p>
          <a:p>
            <a:pPr marL="0" indent="0">
              <a:lnSpc>
                <a:spcPct val="100000"/>
              </a:lnSpc>
              <a:spcBef>
                <a:spcPts val="72"/>
              </a:spcBef>
              <a:buNone/>
            </a:pPr>
            <a:r>
              <a:rPr lang="en-US" dirty="0">
                <a:solidFill>
                  <a:schemeClr val="bg1"/>
                </a:solidFill>
                <a:latin typeface="Courier"/>
                <a:cs typeface="Courier"/>
              </a:rPr>
              <a:t> </a:t>
            </a:r>
            <a:r>
              <a:rPr lang="en-US" dirty="0" smtClean="0">
                <a:solidFill>
                  <a:schemeClr val="bg1"/>
                </a:solidFill>
                <a:latin typeface="Courier"/>
                <a:cs typeface="Courier"/>
              </a:rPr>
              <a:t>   _id</a:t>
            </a:r>
            <a:r>
              <a:rPr lang="en-US" dirty="0">
                <a:solidFill>
                  <a:schemeClr val="bg1"/>
                </a:solidFill>
                <a:latin typeface="Courier"/>
                <a:cs typeface="Courier"/>
              </a:rPr>
              <a:t>: </a:t>
            </a:r>
            <a:r>
              <a:rPr lang="en-US" dirty="0">
                <a:solidFill>
                  <a:srgbClr val="8EB85E"/>
                </a:solidFill>
                <a:latin typeface="Courier"/>
                <a:cs typeface="Courier"/>
              </a:rPr>
              <a:t>"</a:t>
            </a:r>
            <a:r>
              <a:rPr lang="en-US" dirty="0" err="1">
                <a:solidFill>
                  <a:srgbClr val="8EB85E"/>
                </a:solidFill>
                <a:latin typeface="Courier"/>
                <a:cs typeface="Courier"/>
              </a:rPr>
              <a:t>joe</a:t>
            </a:r>
            <a:r>
              <a:rPr lang="en-US" dirty="0">
                <a:solidFill>
                  <a:srgbClr val="8EB85E"/>
                </a:solidFill>
                <a:latin typeface="Courier"/>
                <a:cs typeface="Courier"/>
              </a:rPr>
              <a:t>“</a:t>
            </a:r>
            <a:r>
              <a:rPr lang="en-US" dirty="0">
                <a:solidFill>
                  <a:schemeClr val="bg1"/>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chemeClr val="bg1"/>
                </a:solidFill>
                <a:latin typeface="Courier"/>
                <a:cs typeface="Courier"/>
              </a:rPr>
              <a:t>name: </a:t>
            </a:r>
            <a:r>
              <a:rPr lang="en-US" dirty="0">
                <a:solidFill>
                  <a:srgbClr val="F7D58F"/>
                </a:solidFill>
                <a:latin typeface="Courier"/>
                <a:cs typeface="Courier"/>
              </a:rPr>
              <a:t>"Joe </a:t>
            </a:r>
            <a:r>
              <a:rPr lang="en-US" dirty="0" err="1">
                <a:solidFill>
                  <a:srgbClr val="F7D58F"/>
                </a:solidFill>
                <a:latin typeface="Courier"/>
                <a:cs typeface="Courier"/>
              </a:rPr>
              <a:t>Bookreader</a:t>
            </a:r>
            <a:r>
              <a:rPr lang="en-US" dirty="0" smtClean="0">
                <a:solidFill>
                  <a:srgbClr val="F7D58F"/>
                </a:solidFill>
                <a:latin typeface="Courier"/>
                <a:cs typeface="Courier"/>
              </a:rPr>
              <a:t>”</a:t>
            </a:r>
            <a:r>
              <a:rPr lang="en-US" dirty="0" smtClean="0">
                <a:solidFill>
                  <a:schemeClr val="bg1"/>
                </a:solidFill>
                <a:latin typeface="Courier"/>
                <a:cs typeface="Courier"/>
              </a:rPr>
              <a:t>,</a:t>
            </a:r>
            <a:endParaRPr lang="en-US" dirty="0" smtClean="0">
              <a:solidFill>
                <a:srgbClr val="F7D58F"/>
              </a:solidFill>
              <a:latin typeface="Courier"/>
              <a:cs typeface="Courier"/>
            </a:endParaRPr>
          </a:p>
          <a:p>
            <a:pPr marL="0" indent="0">
              <a:lnSpc>
                <a:spcPct val="100000"/>
              </a:lnSpc>
              <a:spcBef>
                <a:spcPts val="72"/>
              </a:spcBef>
              <a:buNone/>
            </a:pPr>
            <a:r>
              <a:rPr lang="en-US" dirty="0">
                <a:solidFill>
                  <a:srgbClr val="F7D58F"/>
                </a:solidFill>
                <a:latin typeface="Courier"/>
                <a:cs typeface="Courier"/>
              </a:rPr>
              <a:t> </a:t>
            </a:r>
            <a:r>
              <a:rPr lang="en-US" dirty="0" smtClean="0">
                <a:solidFill>
                  <a:srgbClr val="F7D58F"/>
                </a:solidFill>
                <a:latin typeface="Courier"/>
                <a:cs typeface="Courier"/>
              </a:rPr>
              <a:t>   </a:t>
            </a:r>
            <a:r>
              <a:rPr lang="en-US" dirty="0" err="1" smtClean="0">
                <a:solidFill>
                  <a:schemeClr val="bg1"/>
                </a:solidFill>
                <a:latin typeface="Courier"/>
                <a:cs typeface="Courier"/>
              </a:rPr>
              <a:t>favoriteGenres</a:t>
            </a:r>
            <a:r>
              <a:rPr lang="en-US" dirty="0" smtClean="0">
                <a:solidFill>
                  <a:schemeClr val="bg1"/>
                </a:solidFill>
                <a:latin typeface="Courier"/>
                <a:cs typeface="Courier"/>
              </a:rPr>
              <a:t>: [ </a:t>
            </a:r>
            <a:r>
              <a:rPr lang="en-US" dirty="0" smtClean="0">
                <a:solidFill>
                  <a:srgbClr val="F7D58F"/>
                </a:solidFill>
                <a:latin typeface="Courier"/>
                <a:cs typeface="Courier"/>
              </a:rPr>
              <a:t>”mystery”</a:t>
            </a:r>
            <a:r>
              <a:rPr lang="en-US" dirty="0" smtClean="0">
                <a:solidFill>
                  <a:schemeClr val="bg1"/>
                </a:solidFill>
                <a:latin typeface="Courier"/>
                <a:cs typeface="Courier"/>
              </a:rPr>
              <a:t>, </a:t>
            </a:r>
            <a:r>
              <a:rPr lang="en-US" dirty="0" smtClean="0">
                <a:solidFill>
                  <a:srgbClr val="F7D58F"/>
                </a:solidFill>
                <a:latin typeface="Courier"/>
                <a:cs typeface="Courier"/>
              </a:rPr>
              <a:t>”programming”</a:t>
            </a:r>
            <a:r>
              <a:rPr lang="en-US" dirty="0" smtClean="0">
                <a:solidFill>
                  <a:schemeClr val="bg1"/>
                </a:solidFill>
                <a:latin typeface="Courier"/>
                <a:cs typeface="Courier"/>
              </a:rPr>
              <a:t> ]</a:t>
            </a:r>
            <a:endParaRPr lang="en-US" dirty="0">
              <a:solidFill>
                <a:srgbClr val="F7D58F"/>
              </a:solidFill>
              <a:latin typeface="Courier"/>
              <a:cs typeface="Courier"/>
            </a:endParaRPr>
          </a:p>
          <a:p>
            <a:pPr marL="0" indent="0">
              <a:lnSpc>
                <a:spcPct val="100000"/>
              </a:lnSpc>
              <a:spcBef>
                <a:spcPts val="72"/>
              </a:spcBef>
              <a:buNone/>
            </a:pPr>
            <a:r>
              <a:rPr lang="en-US" dirty="0">
                <a:solidFill>
                  <a:schemeClr val="bg1"/>
                </a:solidFill>
                <a:latin typeface="Courier"/>
                <a:cs typeface="Courier"/>
              </a:rPr>
              <a:t>}</a:t>
            </a:r>
          </a:p>
          <a:p>
            <a:pPr marL="0" indent="0">
              <a:lnSpc>
                <a:spcPct val="100000"/>
              </a:lnSpc>
              <a:buNone/>
            </a:pPr>
            <a:endParaRPr lang="en-US" dirty="0">
              <a:latin typeface="Courier"/>
              <a:cs typeface="Courier"/>
            </a:endParaRPr>
          </a:p>
          <a:p>
            <a:pPr marL="0" indent="0">
              <a:lnSpc>
                <a:spcPct val="100000"/>
              </a:lnSpc>
              <a:buNone/>
            </a:pPr>
            <a:r>
              <a:rPr lang="en-US" dirty="0" smtClean="0">
                <a:solidFill>
                  <a:srgbClr val="FFFFFF"/>
                </a:solidFill>
                <a:latin typeface="Courier"/>
                <a:cs typeface="Courier"/>
              </a:rPr>
              <a:t>&gt; </a:t>
            </a:r>
            <a:r>
              <a:rPr lang="en-US" dirty="0" err="1" smtClean="0">
                <a:solidFill>
                  <a:srgbClr val="FFFFFF"/>
                </a:solidFill>
                <a:latin typeface="Courier"/>
                <a:cs typeface="Courier"/>
              </a:rPr>
              <a:t>db.addresses.find</a:t>
            </a:r>
            <a:r>
              <a:rPr lang="en-US" dirty="0" smtClean="0">
                <a:solidFill>
                  <a:srgbClr val="FFFFFF"/>
                </a:solidFill>
                <a:latin typeface="Courier"/>
                <a:cs typeface="Courier"/>
              </a:rPr>
              <a:t>({ _id : </a:t>
            </a:r>
            <a:r>
              <a:rPr lang="en-US" dirty="0" smtClean="0">
                <a:solidFill>
                  <a:schemeClr val="accent2"/>
                </a:solidFill>
                <a:latin typeface="Courier"/>
                <a:cs typeface="Courier"/>
              </a:rPr>
              <a:t>“</a:t>
            </a:r>
            <a:r>
              <a:rPr lang="en-US" dirty="0" err="1" smtClean="0">
                <a:solidFill>
                  <a:schemeClr val="accent2"/>
                </a:solidFill>
                <a:latin typeface="Courier"/>
                <a:cs typeface="Courier"/>
              </a:rPr>
              <a:t>joe</a:t>
            </a:r>
            <a:r>
              <a:rPr lang="en-US" dirty="0" smtClean="0">
                <a:solidFill>
                  <a:schemeClr val="accent2"/>
                </a:solidFill>
                <a:latin typeface="Courier"/>
                <a:cs typeface="Courier"/>
              </a:rPr>
              <a:t>”</a:t>
            </a:r>
            <a:r>
              <a:rPr lang="en-US" dirty="0" smtClean="0">
                <a:latin typeface="Courier"/>
                <a:cs typeface="Courier"/>
              </a:rPr>
              <a:t> </a:t>
            </a:r>
            <a:r>
              <a:rPr lang="en-US" dirty="0">
                <a:solidFill>
                  <a:srgbClr val="FFFFFF"/>
                </a:solidFill>
                <a:latin typeface="Courier"/>
                <a:cs typeface="Courier"/>
              </a:rPr>
              <a:t>}</a:t>
            </a:r>
            <a:r>
              <a:rPr lang="en-US" dirty="0" smtClean="0">
                <a:solidFill>
                  <a:srgbClr val="FFFFFF"/>
                </a:solidFill>
                <a:latin typeface="Courier"/>
                <a:cs typeface="Courier"/>
              </a:rPr>
              <a:t>)</a:t>
            </a:r>
          </a:p>
          <a:p>
            <a:pPr marL="0" indent="0">
              <a:lnSpc>
                <a:spcPct val="100000"/>
              </a:lnSpc>
              <a:spcBef>
                <a:spcPts val="72"/>
              </a:spcBef>
              <a:buNone/>
            </a:pP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lnSpc>
                <a:spcPct val="100000"/>
              </a:lnSpc>
              <a:spcBef>
                <a:spcPts val="72"/>
              </a:spcBef>
              <a:buNone/>
            </a:pPr>
            <a:r>
              <a:rPr lang="en-US" dirty="0">
                <a:solidFill>
                  <a:srgbClr val="FFFFFF"/>
                </a:solidFill>
                <a:latin typeface="Courier"/>
                <a:cs typeface="Courier"/>
              </a:rPr>
              <a:t>    _id: </a:t>
            </a:r>
            <a:r>
              <a:rPr lang="en-US" dirty="0">
                <a:solidFill>
                  <a:srgbClr val="8EB85E"/>
                </a:solidFill>
                <a:latin typeface="Courier"/>
                <a:cs typeface="Courier"/>
              </a:rPr>
              <a:t>"</a:t>
            </a:r>
            <a:r>
              <a:rPr lang="en-US" dirty="0" err="1">
                <a:solidFill>
                  <a:srgbClr val="8EB85E"/>
                </a:solidFill>
                <a:latin typeface="Courier"/>
                <a:cs typeface="Courier"/>
              </a:rPr>
              <a:t>joe</a:t>
            </a:r>
            <a:r>
              <a:rPr lang="en-US" dirty="0">
                <a:solidFill>
                  <a:srgbClr val="8EB85E"/>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street:</a:t>
            </a:r>
            <a:r>
              <a:rPr lang="en-US" dirty="0">
                <a:latin typeface="Courier"/>
                <a:cs typeface="Courier"/>
              </a:rPr>
              <a:t> </a:t>
            </a:r>
            <a:r>
              <a:rPr lang="en-US" dirty="0">
                <a:solidFill>
                  <a:srgbClr val="F7D58F"/>
                </a:solidFill>
                <a:latin typeface="Courier"/>
                <a:cs typeface="Courier"/>
              </a:rPr>
              <a:t>"123 Fake St</a:t>
            </a:r>
            <a:r>
              <a:rPr lang="en-US" dirty="0" smtClean="0">
                <a:solidFill>
                  <a:srgbClr val="F7D58F"/>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 city: </a:t>
            </a:r>
            <a:r>
              <a:rPr lang="en-US" dirty="0">
                <a:solidFill>
                  <a:srgbClr val="F7D58F"/>
                </a:solidFill>
                <a:latin typeface="Courier"/>
                <a:cs typeface="Courier"/>
              </a:rPr>
              <a:t>"</a:t>
            </a:r>
            <a:r>
              <a:rPr lang="en-US" dirty="0" err="1">
                <a:solidFill>
                  <a:srgbClr val="F7D58F"/>
                </a:solidFill>
                <a:latin typeface="Courier"/>
                <a:cs typeface="Courier"/>
              </a:rPr>
              <a:t>Faketon</a:t>
            </a:r>
            <a:r>
              <a:rPr lang="en-US" dirty="0">
                <a:solidFill>
                  <a:srgbClr val="F7D58F"/>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state:</a:t>
            </a:r>
            <a:r>
              <a:rPr lang="en-US" dirty="0">
                <a:latin typeface="Courier"/>
                <a:cs typeface="Courier"/>
              </a:rPr>
              <a:t> </a:t>
            </a:r>
            <a:r>
              <a:rPr lang="en-US" dirty="0">
                <a:solidFill>
                  <a:srgbClr val="F7D58F"/>
                </a:solidFill>
                <a:latin typeface="Courier"/>
                <a:cs typeface="Courier"/>
              </a:rPr>
              <a:t>"MA"</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zip:</a:t>
            </a:r>
            <a:r>
              <a:rPr lang="en-US" dirty="0">
                <a:latin typeface="Courier"/>
                <a:cs typeface="Courier"/>
              </a:rPr>
              <a:t> </a:t>
            </a:r>
            <a:r>
              <a:rPr lang="en-US" dirty="0" smtClean="0">
                <a:solidFill>
                  <a:srgbClr val="F7D58F"/>
                </a:solidFill>
                <a:latin typeface="Courier"/>
                <a:cs typeface="Courier"/>
              </a:rPr>
              <a:t>“12345”</a:t>
            </a:r>
            <a:endParaRPr lang="en-US" dirty="0">
              <a:solidFill>
                <a:srgbClr val="AFD2E9"/>
              </a:solidFill>
              <a:latin typeface="Courier"/>
              <a:cs typeface="Courier"/>
            </a:endParaRP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buNone/>
            </a:pPr>
            <a:endParaRPr lang="en-US" dirty="0">
              <a:latin typeface="Courier"/>
              <a:cs typeface="Courier"/>
            </a:endParaRPr>
          </a:p>
        </p:txBody>
      </p:sp>
    </p:spTree>
    <p:extLst>
      <p:ext uri="{BB962C8B-B14F-4D97-AF65-F5344CB8AC3E}">
        <p14:creationId xmlns:p14="http://schemas.microsoft.com/office/powerpoint/2010/main" val="1373382535"/>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79778" y="1257817"/>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r>
              <a:rPr lang="en-US" dirty="0" smtClean="0"/>
              <a:t>Patron + Address: The </a:t>
            </a:r>
            <a:r>
              <a:rPr lang="en-US" dirty="0" err="1" smtClean="0"/>
              <a:t>MongoDB</a:t>
            </a:r>
            <a:r>
              <a:rPr lang="en-US" dirty="0" smtClean="0"/>
              <a:t> Way</a:t>
            </a:r>
            <a:endParaRPr lang="en-US" dirty="0"/>
          </a:p>
        </p:txBody>
      </p:sp>
      <p:sp>
        <p:nvSpPr>
          <p:cNvPr id="4" name="Content Placeholder 3"/>
          <p:cNvSpPr>
            <a:spLocks noGrp="1"/>
          </p:cNvSpPr>
          <p:nvPr>
            <p:ph idx="4294967295"/>
          </p:nvPr>
        </p:nvSpPr>
        <p:spPr>
          <a:xfrm>
            <a:off x="800100" y="1514993"/>
            <a:ext cx="7567789" cy="4451350"/>
          </a:xfrm>
        </p:spPr>
        <p:txBody>
          <a:bodyPr>
            <a:normAutofit/>
          </a:bodyPr>
          <a:lstStyle/>
          <a:p>
            <a:pPr marL="0" indent="0">
              <a:lnSpc>
                <a:spcPct val="100000"/>
              </a:lnSpc>
              <a:spcBef>
                <a:spcPts val="72"/>
              </a:spcBef>
              <a:buNone/>
            </a:pPr>
            <a:r>
              <a:rPr lang="en-US" dirty="0" smtClean="0">
                <a:solidFill>
                  <a:srgbClr val="FFFFFF"/>
                </a:solidFill>
                <a:latin typeface="Courier"/>
                <a:cs typeface="Courier"/>
              </a:rPr>
              <a:t>&gt; </a:t>
            </a:r>
            <a:r>
              <a:rPr lang="en-US" dirty="0" err="1" smtClean="0">
                <a:solidFill>
                  <a:srgbClr val="FFFFFF"/>
                </a:solidFill>
                <a:latin typeface="Courier"/>
                <a:cs typeface="Courier"/>
              </a:rPr>
              <a:t>db.patrons.find</a:t>
            </a:r>
            <a:r>
              <a:rPr lang="en-US" dirty="0" smtClean="0">
                <a:solidFill>
                  <a:srgbClr val="FFFFFF"/>
                </a:solidFill>
                <a:latin typeface="Courier"/>
                <a:cs typeface="Courier"/>
              </a:rPr>
              <a:t>({ _id : </a:t>
            </a:r>
            <a:r>
              <a:rPr lang="en-US" dirty="0" smtClean="0">
                <a:solidFill>
                  <a:schemeClr val="accent2"/>
                </a:solidFill>
                <a:latin typeface="Courier"/>
                <a:cs typeface="Courier"/>
              </a:rPr>
              <a:t>“</a:t>
            </a:r>
            <a:r>
              <a:rPr lang="en-US" dirty="0" err="1" smtClean="0">
                <a:solidFill>
                  <a:schemeClr val="accent2"/>
                </a:solidFill>
                <a:latin typeface="Courier"/>
                <a:cs typeface="Courier"/>
              </a:rPr>
              <a:t>joe</a:t>
            </a:r>
            <a:r>
              <a:rPr lang="en-US" dirty="0" smtClean="0">
                <a:solidFill>
                  <a:schemeClr val="accent2"/>
                </a:solidFill>
                <a:latin typeface="Courier"/>
                <a:cs typeface="Courier"/>
              </a:rPr>
              <a:t>”</a:t>
            </a:r>
            <a:r>
              <a:rPr lang="en-US" dirty="0" smtClean="0">
                <a:latin typeface="Courier"/>
                <a:cs typeface="Courier"/>
              </a:rPr>
              <a:t> </a:t>
            </a:r>
            <a:r>
              <a:rPr lang="en-US" dirty="0" smtClean="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_id: </a:t>
            </a:r>
            <a:r>
              <a:rPr lang="en-US" dirty="0">
                <a:solidFill>
                  <a:srgbClr val="8EB85E"/>
                </a:solidFill>
                <a:latin typeface="Courier"/>
                <a:cs typeface="Courier"/>
              </a:rPr>
              <a:t>"</a:t>
            </a:r>
            <a:r>
              <a:rPr lang="en-US" dirty="0" err="1">
                <a:solidFill>
                  <a:srgbClr val="8EB85E"/>
                </a:solidFill>
                <a:latin typeface="Courier"/>
                <a:cs typeface="Courier"/>
              </a:rPr>
              <a:t>joe</a:t>
            </a:r>
            <a:r>
              <a:rPr lang="en-US" dirty="0">
                <a:solidFill>
                  <a:srgbClr val="8EB85E"/>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name:</a:t>
            </a:r>
            <a:r>
              <a:rPr lang="en-US" dirty="0">
                <a:latin typeface="Courier"/>
                <a:cs typeface="Courier"/>
              </a:rPr>
              <a:t> </a:t>
            </a:r>
            <a:r>
              <a:rPr lang="en-US" dirty="0">
                <a:solidFill>
                  <a:srgbClr val="F7D58F"/>
                </a:solidFill>
                <a:latin typeface="Courier"/>
                <a:cs typeface="Courier"/>
              </a:rPr>
              <a:t>"Joe </a:t>
            </a:r>
            <a:r>
              <a:rPr lang="en-US" dirty="0" err="1">
                <a:solidFill>
                  <a:srgbClr val="F7D58F"/>
                </a:solidFill>
                <a:latin typeface="Courier"/>
                <a:cs typeface="Courier"/>
              </a:rPr>
              <a:t>Bookreader</a:t>
            </a:r>
            <a:r>
              <a:rPr lang="en-US" dirty="0">
                <a:solidFill>
                  <a:srgbClr val="F7D58F"/>
                </a:solidFill>
                <a:latin typeface="Courier"/>
                <a:cs typeface="Courier"/>
              </a:rPr>
              <a:t>"</a:t>
            </a:r>
            <a:r>
              <a:rPr lang="en-US" dirty="0" smtClean="0">
                <a:solidFill>
                  <a:srgbClr val="FFFFFF"/>
                </a:solidFill>
                <a:latin typeface="Courier"/>
                <a:cs typeface="Courier"/>
              </a:rPr>
              <a:t>,</a:t>
            </a:r>
          </a:p>
          <a:p>
            <a:pPr marL="0" indent="0">
              <a:spcBef>
                <a:spcPts val="72"/>
              </a:spcBef>
              <a:buNone/>
            </a:pPr>
            <a:r>
              <a:rPr lang="en-US" dirty="0" smtClean="0">
                <a:solidFill>
                  <a:schemeClr val="bg1"/>
                </a:solidFill>
                <a:latin typeface="Courier"/>
                <a:cs typeface="Courier"/>
              </a:rPr>
              <a:t>    </a:t>
            </a:r>
            <a:r>
              <a:rPr lang="en-US" dirty="0" err="1" smtClean="0">
                <a:solidFill>
                  <a:schemeClr val="bg1"/>
                </a:solidFill>
                <a:latin typeface="Courier"/>
                <a:cs typeface="Courier"/>
              </a:rPr>
              <a:t>favoriteGenres</a:t>
            </a:r>
            <a:r>
              <a:rPr lang="en-US" dirty="0">
                <a:solidFill>
                  <a:schemeClr val="bg1"/>
                </a:solidFill>
                <a:latin typeface="Courier"/>
                <a:cs typeface="Courier"/>
              </a:rPr>
              <a:t>: [ </a:t>
            </a:r>
            <a:r>
              <a:rPr lang="en-US" dirty="0">
                <a:solidFill>
                  <a:srgbClr val="F7D58F"/>
                </a:solidFill>
                <a:latin typeface="Courier"/>
                <a:cs typeface="Courier"/>
              </a:rPr>
              <a:t>”mystery”</a:t>
            </a:r>
            <a:r>
              <a:rPr lang="en-US" dirty="0">
                <a:solidFill>
                  <a:schemeClr val="bg1"/>
                </a:solidFill>
                <a:latin typeface="Courier"/>
                <a:cs typeface="Courier"/>
              </a:rPr>
              <a:t>, </a:t>
            </a:r>
            <a:r>
              <a:rPr lang="en-US" dirty="0">
                <a:solidFill>
                  <a:srgbClr val="F7D58F"/>
                </a:solidFill>
                <a:latin typeface="Courier"/>
                <a:cs typeface="Courier"/>
              </a:rPr>
              <a:t>”programming”</a:t>
            </a:r>
            <a:r>
              <a:rPr lang="en-US" dirty="0">
                <a:solidFill>
                  <a:schemeClr val="bg1"/>
                </a:solidFill>
                <a:latin typeface="Courier"/>
                <a:cs typeface="Courier"/>
              </a:rPr>
              <a:t> ]</a:t>
            </a:r>
            <a:endParaRPr lang="en-US" dirty="0">
              <a:solidFill>
                <a:srgbClr val="F7D58F"/>
              </a:solidFill>
              <a:latin typeface="Courier"/>
              <a:cs typeface="Courier"/>
            </a:endParaRPr>
          </a:p>
          <a:p>
            <a:pPr marL="0" indent="0">
              <a:spcBef>
                <a:spcPts val="72"/>
              </a:spcBef>
              <a:buNone/>
            </a:pPr>
            <a:r>
              <a:rPr lang="en-US" dirty="0" smtClean="0">
                <a:solidFill>
                  <a:srgbClr val="FFFFFF"/>
                </a:solidFill>
                <a:latin typeface="Courier"/>
                <a:cs typeface="Courier"/>
              </a:rPr>
              <a:t>    address</a:t>
            </a:r>
            <a:r>
              <a:rPr lang="en-US" dirty="0">
                <a:solidFill>
                  <a:srgbClr val="FFFFFF"/>
                </a:solidFill>
                <a:latin typeface="Courier"/>
                <a:cs typeface="Courier"/>
              </a:rPr>
              <a:t>: {</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street:</a:t>
            </a:r>
            <a:r>
              <a:rPr lang="en-US" dirty="0">
                <a:latin typeface="Courier"/>
                <a:cs typeface="Courier"/>
              </a:rPr>
              <a:t> </a:t>
            </a:r>
            <a:r>
              <a:rPr lang="en-US" dirty="0">
                <a:solidFill>
                  <a:srgbClr val="F7D58F"/>
                </a:solidFill>
                <a:latin typeface="Courier"/>
                <a:cs typeface="Courier"/>
              </a:rPr>
              <a:t>"123 Fake St. "</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city:</a:t>
            </a:r>
            <a:r>
              <a:rPr lang="en-US" dirty="0">
                <a:latin typeface="Courier"/>
                <a:cs typeface="Courier"/>
              </a:rPr>
              <a:t> </a:t>
            </a:r>
            <a:r>
              <a:rPr lang="en-US" dirty="0">
                <a:solidFill>
                  <a:srgbClr val="F7D58F"/>
                </a:solidFill>
                <a:latin typeface="Courier"/>
                <a:cs typeface="Courier"/>
              </a:rPr>
              <a:t>"</a:t>
            </a:r>
            <a:r>
              <a:rPr lang="en-US" dirty="0" err="1">
                <a:solidFill>
                  <a:srgbClr val="F7D58F"/>
                </a:solidFill>
                <a:latin typeface="Courier"/>
                <a:cs typeface="Courier"/>
              </a:rPr>
              <a:t>Faketon</a:t>
            </a:r>
            <a:r>
              <a:rPr lang="en-US" dirty="0">
                <a:solidFill>
                  <a:srgbClr val="F7D58F"/>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state:</a:t>
            </a:r>
            <a:r>
              <a:rPr lang="en-US" dirty="0">
                <a:latin typeface="Courier"/>
                <a:cs typeface="Courier"/>
              </a:rPr>
              <a:t> </a:t>
            </a:r>
            <a:r>
              <a:rPr lang="en-US" dirty="0">
                <a:solidFill>
                  <a:srgbClr val="F7D58F"/>
                </a:solidFill>
                <a:latin typeface="Courier"/>
                <a:cs typeface="Courier"/>
              </a:rPr>
              <a:t>"MA"</a:t>
            </a:r>
            <a:r>
              <a:rPr lang="en-US" dirty="0">
                <a:solidFill>
                  <a:srgbClr val="FFFFFF"/>
                </a:solidFill>
                <a:latin typeface="Courier"/>
                <a:cs typeface="Courier"/>
              </a:rPr>
              <a:t>,</a:t>
            </a:r>
          </a:p>
          <a:p>
            <a:pPr marL="0" indent="0">
              <a:spcBef>
                <a:spcPts val="72"/>
              </a:spcBef>
              <a:buNone/>
            </a:pPr>
            <a:r>
              <a:rPr lang="en-US" dirty="0">
                <a:latin typeface="Courier"/>
                <a:cs typeface="Courier"/>
              </a:rPr>
              <a:t>        </a:t>
            </a:r>
            <a:r>
              <a:rPr lang="en-US" dirty="0">
                <a:solidFill>
                  <a:srgbClr val="FFFFFF"/>
                </a:solidFill>
                <a:latin typeface="Courier"/>
                <a:cs typeface="Courier"/>
              </a:rPr>
              <a:t>zip: </a:t>
            </a:r>
            <a:r>
              <a:rPr lang="en-US" dirty="0">
                <a:solidFill>
                  <a:srgbClr val="F7D58F"/>
                </a:solidFill>
                <a:latin typeface="Courier"/>
                <a:cs typeface="Courier"/>
              </a:rPr>
              <a:t>“12345”</a:t>
            </a:r>
            <a:endParaRPr lang="en-US" dirty="0">
              <a:solidFill>
                <a:srgbClr val="AFD2E9"/>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    }</a:t>
            </a:r>
            <a:endParaRPr lang="en-US" dirty="0">
              <a:solidFill>
                <a:srgbClr val="FFFFFF"/>
              </a:solidFill>
              <a:latin typeface="Courier"/>
              <a:cs typeface="Courier"/>
            </a:endParaRP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endParaRPr lang="en-US" dirty="0">
              <a:latin typeface="Courier"/>
              <a:cs typeface="Courier"/>
            </a:endParaRPr>
          </a:p>
        </p:txBody>
      </p:sp>
    </p:spTree>
    <p:extLst>
      <p:ext uri="{BB962C8B-B14F-4D97-AF65-F5344CB8AC3E}">
        <p14:creationId xmlns:p14="http://schemas.microsoft.com/office/powerpoint/2010/main" val="1469233532"/>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79778" y="1257817"/>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r>
              <a:rPr lang="en-US" dirty="0" smtClean="0"/>
              <a:t>Projection: Return only what you need</a:t>
            </a:r>
            <a:endParaRPr lang="en-US" dirty="0"/>
          </a:p>
        </p:txBody>
      </p:sp>
      <p:sp>
        <p:nvSpPr>
          <p:cNvPr id="4" name="Content Placeholder 3"/>
          <p:cNvSpPr>
            <a:spLocks noGrp="1"/>
          </p:cNvSpPr>
          <p:nvPr>
            <p:ph idx="4294967295"/>
          </p:nvPr>
        </p:nvSpPr>
        <p:spPr>
          <a:xfrm>
            <a:off x="800100" y="1514992"/>
            <a:ext cx="7567789" cy="4723475"/>
          </a:xfrm>
        </p:spPr>
        <p:txBody>
          <a:bodyPr>
            <a:normAutofit/>
          </a:bodyPr>
          <a:lstStyle/>
          <a:p>
            <a:pPr marL="0" indent="0">
              <a:lnSpc>
                <a:spcPct val="100000"/>
              </a:lnSpc>
              <a:spcBef>
                <a:spcPts val="72"/>
              </a:spcBef>
              <a:buNone/>
            </a:pPr>
            <a:r>
              <a:rPr lang="en-US" dirty="0" smtClean="0">
                <a:solidFill>
                  <a:srgbClr val="FFFFFF"/>
                </a:solidFill>
                <a:latin typeface="Courier"/>
                <a:cs typeface="Courier"/>
              </a:rPr>
              <a:t>&gt; </a:t>
            </a:r>
            <a:r>
              <a:rPr lang="en-US" dirty="0" err="1" smtClean="0">
                <a:solidFill>
                  <a:srgbClr val="FFFFFF"/>
                </a:solidFill>
                <a:latin typeface="Courier"/>
                <a:cs typeface="Courier"/>
              </a:rPr>
              <a:t>db.patrons.find</a:t>
            </a:r>
            <a:r>
              <a:rPr lang="en-US" dirty="0">
                <a:solidFill>
                  <a:srgbClr val="FFFFFF"/>
                </a:solidFill>
                <a:latin typeface="Courier"/>
                <a:cs typeface="Courier"/>
              </a:rPr>
              <a:t>({ _id : </a:t>
            </a:r>
            <a:r>
              <a:rPr lang="en-US" dirty="0">
                <a:solidFill>
                  <a:schemeClr val="bg1"/>
                </a:solidFill>
                <a:latin typeface="Courier"/>
                <a:cs typeface="Courier"/>
              </a:rPr>
              <a:t>“</a:t>
            </a:r>
            <a:r>
              <a:rPr lang="en-US" dirty="0" err="1">
                <a:solidFill>
                  <a:schemeClr val="bg1"/>
                </a:solidFill>
                <a:latin typeface="Courier"/>
                <a:cs typeface="Courier"/>
              </a:rPr>
              <a:t>joe</a:t>
            </a:r>
            <a:r>
              <a:rPr lang="en-US" dirty="0">
                <a:solidFill>
                  <a:schemeClr val="bg1"/>
                </a:solidFill>
                <a:latin typeface="Courier"/>
                <a:cs typeface="Courier"/>
              </a:rPr>
              <a:t>” </a:t>
            </a:r>
            <a:r>
              <a:rPr lang="en-US" dirty="0">
                <a:solidFill>
                  <a:srgbClr val="FFFFFF"/>
                </a:solidFill>
                <a:latin typeface="Courier"/>
                <a:cs typeface="Courier"/>
              </a:rPr>
              <a:t>}</a:t>
            </a:r>
            <a:r>
              <a:rPr lang="en-US" dirty="0" smtClean="0">
                <a:solidFill>
                  <a:srgbClr val="FFFFFF"/>
                </a:solidFill>
                <a:latin typeface="Courier"/>
                <a:cs typeface="Courier"/>
              </a:rPr>
              <a:t>, {</a:t>
            </a:r>
            <a:r>
              <a:rPr lang="en-US" dirty="0">
                <a:solidFill>
                  <a:srgbClr val="FFFFFF"/>
                </a:solidFill>
                <a:latin typeface="Courier"/>
                <a:cs typeface="Courier"/>
              </a:rPr>
              <a:t>“_id”: 0, </a:t>
            </a:r>
            <a:r>
              <a:rPr lang="en-US" dirty="0">
                <a:solidFill>
                  <a:srgbClr val="EE9C00"/>
                </a:solidFill>
                <a:latin typeface="Courier"/>
                <a:cs typeface="Courier"/>
              </a:rPr>
              <a:t>”address”:1</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address: {</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street:</a:t>
            </a:r>
            <a:r>
              <a:rPr lang="en-US" dirty="0">
                <a:latin typeface="Courier"/>
                <a:cs typeface="Courier"/>
              </a:rPr>
              <a:t> </a:t>
            </a:r>
            <a:r>
              <a:rPr lang="en-US" dirty="0">
                <a:solidFill>
                  <a:srgbClr val="F7D58F"/>
                </a:solidFill>
                <a:latin typeface="Courier"/>
                <a:cs typeface="Courier"/>
              </a:rPr>
              <a:t>"123 Fake St. "</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city:</a:t>
            </a:r>
            <a:r>
              <a:rPr lang="en-US" dirty="0">
                <a:latin typeface="Courier"/>
                <a:cs typeface="Courier"/>
              </a:rPr>
              <a:t> </a:t>
            </a:r>
            <a:r>
              <a:rPr lang="en-US" dirty="0">
                <a:solidFill>
                  <a:srgbClr val="F7D58F"/>
                </a:solidFill>
                <a:latin typeface="Courier"/>
                <a:cs typeface="Courier"/>
              </a:rPr>
              <a:t>"</a:t>
            </a:r>
            <a:r>
              <a:rPr lang="en-US" dirty="0" err="1">
                <a:solidFill>
                  <a:srgbClr val="F7D58F"/>
                </a:solidFill>
                <a:latin typeface="Courier"/>
                <a:cs typeface="Courier"/>
              </a:rPr>
              <a:t>Faketon</a:t>
            </a:r>
            <a:r>
              <a:rPr lang="en-US" dirty="0">
                <a:solidFill>
                  <a:srgbClr val="F7D58F"/>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state:</a:t>
            </a:r>
            <a:r>
              <a:rPr lang="en-US" dirty="0">
                <a:latin typeface="Courier"/>
                <a:cs typeface="Courier"/>
              </a:rPr>
              <a:t> </a:t>
            </a:r>
            <a:r>
              <a:rPr lang="en-US" dirty="0">
                <a:solidFill>
                  <a:srgbClr val="F7D58F"/>
                </a:solidFill>
                <a:latin typeface="Courier"/>
                <a:cs typeface="Courier"/>
              </a:rPr>
              <a:t>"MA"</a:t>
            </a:r>
            <a:r>
              <a:rPr lang="en-US" dirty="0">
                <a:solidFill>
                  <a:srgbClr val="FFFFFF"/>
                </a:solidFill>
                <a:latin typeface="Courier"/>
                <a:cs typeface="Courier"/>
              </a:rPr>
              <a:t>,</a:t>
            </a:r>
          </a:p>
          <a:p>
            <a:pPr marL="0" indent="0">
              <a:spcBef>
                <a:spcPts val="72"/>
              </a:spcBef>
              <a:buNone/>
            </a:pPr>
            <a:r>
              <a:rPr lang="en-US" dirty="0">
                <a:latin typeface="Courier"/>
                <a:cs typeface="Courier"/>
              </a:rPr>
              <a:t>        </a:t>
            </a:r>
            <a:r>
              <a:rPr lang="en-US" dirty="0">
                <a:solidFill>
                  <a:srgbClr val="FFFFFF"/>
                </a:solidFill>
                <a:latin typeface="Courier"/>
                <a:cs typeface="Courier"/>
              </a:rPr>
              <a:t>zip: </a:t>
            </a:r>
            <a:r>
              <a:rPr lang="en-US" dirty="0">
                <a:solidFill>
                  <a:srgbClr val="F7D58F"/>
                </a:solidFill>
                <a:latin typeface="Courier"/>
                <a:cs typeface="Courier"/>
              </a:rPr>
              <a:t>“12345”</a:t>
            </a:r>
            <a:endParaRPr lang="en-US" dirty="0">
              <a:solidFill>
                <a:srgbClr val="AFD2E9"/>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    }</a:t>
            </a:r>
            <a:endParaRPr lang="en-US" dirty="0">
              <a:solidFill>
                <a:srgbClr val="FFFFFF"/>
              </a:solidFill>
              <a:latin typeface="Courier"/>
              <a:cs typeface="Courier"/>
            </a:endParaRP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smtClean="0">
                <a:solidFill>
                  <a:srgbClr val="FFFFFF"/>
                </a:solidFill>
                <a:latin typeface="Courier"/>
                <a:cs typeface="Courier"/>
              </a:rPr>
              <a:t>&gt; </a:t>
            </a:r>
            <a:r>
              <a:rPr lang="en-US" dirty="0" err="1" smtClean="0">
                <a:solidFill>
                  <a:srgbClr val="FFFFFF"/>
                </a:solidFill>
                <a:latin typeface="Courier"/>
                <a:cs typeface="Courier"/>
              </a:rPr>
              <a:t>db.patrons.find</a:t>
            </a:r>
            <a:r>
              <a:rPr lang="en-US" dirty="0" smtClean="0">
                <a:solidFill>
                  <a:srgbClr val="FFFFFF"/>
                </a:solidFill>
                <a:latin typeface="Courier"/>
                <a:cs typeface="Courier"/>
              </a:rPr>
              <a:t>({ _id : “</a:t>
            </a:r>
            <a:r>
              <a:rPr lang="en-US" dirty="0" err="1" smtClean="0">
                <a:solidFill>
                  <a:srgbClr val="FFFFFF"/>
                </a:solidFill>
                <a:latin typeface="Courier"/>
                <a:cs typeface="Courier"/>
              </a:rPr>
              <a:t>joe</a:t>
            </a:r>
            <a:r>
              <a:rPr lang="en-US" dirty="0" smtClean="0">
                <a:solidFill>
                  <a:srgbClr val="FFFFFF"/>
                </a:solidFill>
                <a:latin typeface="Courier"/>
                <a:cs typeface="Courier"/>
              </a:rPr>
              <a:t>”</a:t>
            </a:r>
            <a:r>
              <a:rPr lang="en-US" dirty="0" smtClean="0">
                <a:latin typeface="Courier"/>
                <a:cs typeface="Courier"/>
              </a:rPr>
              <a:t> </a:t>
            </a:r>
            <a:r>
              <a:rPr lang="en-US" dirty="0" smtClean="0">
                <a:solidFill>
                  <a:srgbClr val="FFFFFF"/>
                </a:solidFill>
                <a:latin typeface="Courier"/>
                <a:cs typeface="Courier"/>
              </a:rPr>
              <a:t>}, {“_id”: 0, “name”:1,    </a:t>
            </a:r>
            <a:r>
              <a:rPr lang="en-US" dirty="0" smtClean="0">
                <a:solidFill>
                  <a:srgbClr val="EE9C00"/>
                </a:solidFill>
                <a:latin typeface="Courier"/>
                <a:cs typeface="Courier"/>
              </a:rPr>
              <a:t>”address.state”:1</a:t>
            </a:r>
            <a:r>
              <a:rPr lang="en-US" dirty="0" smtClean="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smtClean="0">
                <a:solidFill>
                  <a:srgbClr val="FFFFFF"/>
                </a:solidFill>
                <a:latin typeface="Courier"/>
                <a:cs typeface="Courier"/>
              </a:rPr>
              <a:t>    name</a:t>
            </a:r>
            <a:r>
              <a:rPr lang="en-US" dirty="0">
                <a:solidFill>
                  <a:srgbClr val="FFFFFF"/>
                </a:solidFill>
                <a:latin typeface="Courier"/>
                <a:cs typeface="Courier"/>
              </a:rPr>
              <a:t>:</a:t>
            </a:r>
            <a:r>
              <a:rPr lang="en-US" dirty="0">
                <a:latin typeface="Courier"/>
                <a:cs typeface="Courier"/>
              </a:rPr>
              <a:t> </a:t>
            </a:r>
            <a:r>
              <a:rPr lang="en-US" dirty="0">
                <a:solidFill>
                  <a:srgbClr val="F7D58F"/>
                </a:solidFill>
                <a:latin typeface="Courier"/>
                <a:cs typeface="Courier"/>
              </a:rPr>
              <a:t>"Joe </a:t>
            </a:r>
            <a:r>
              <a:rPr lang="en-US" dirty="0" err="1">
                <a:solidFill>
                  <a:srgbClr val="F7D58F"/>
                </a:solidFill>
                <a:latin typeface="Courier"/>
                <a:cs typeface="Courier"/>
              </a:rPr>
              <a:t>Bookreader</a:t>
            </a:r>
            <a:r>
              <a:rPr lang="en-US" dirty="0">
                <a:solidFill>
                  <a:srgbClr val="F7D58F"/>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address: {</a:t>
            </a:r>
          </a:p>
          <a:p>
            <a:pPr marL="0" indent="0">
              <a:lnSpc>
                <a:spcPct val="100000"/>
              </a:lnSpc>
              <a:spcBef>
                <a:spcPts val="72"/>
              </a:spcBef>
              <a:buNone/>
            </a:pPr>
            <a:r>
              <a:rPr lang="en-US" dirty="0" smtClean="0">
                <a:solidFill>
                  <a:srgbClr val="FFFFFF"/>
                </a:solidFill>
                <a:latin typeface="Courier"/>
                <a:cs typeface="Courier"/>
              </a:rPr>
              <a:t>        state</a:t>
            </a:r>
            <a:r>
              <a:rPr lang="en-US" dirty="0">
                <a:solidFill>
                  <a:srgbClr val="FFFFFF"/>
                </a:solidFill>
                <a:latin typeface="Courier"/>
                <a:cs typeface="Courier"/>
              </a:rPr>
              <a:t>:</a:t>
            </a:r>
            <a:r>
              <a:rPr lang="en-US" dirty="0">
                <a:latin typeface="Courier"/>
                <a:cs typeface="Courier"/>
              </a:rPr>
              <a:t> </a:t>
            </a:r>
            <a:r>
              <a:rPr lang="en-US" dirty="0">
                <a:solidFill>
                  <a:srgbClr val="F7D58F"/>
                </a:solidFill>
                <a:latin typeface="Courier"/>
                <a:cs typeface="Courier"/>
              </a:rPr>
              <a:t>"</a:t>
            </a:r>
            <a:r>
              <a:rPr lang="en-US" dirty="0" smtClean="0">
                <a:solidFill>
                  <a:srgbClr val="F7D58F"/>
                </a:solidFill>
                <a:latin typeface="Courier"/>
                <a:cs typeface="Courier"/>
              </a:rPr>
              <a:t>MA”</a:t>
            </a:r>
            <a:endParaRPr lang="en-US" dirty="0">
              <a:solidFill>
                <a:srgbClr val="FFFFFF"/>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    }</a:t>
            </a:r>
            <a:endParaRPr lang="en-US" dirty="0">
              <a:solidFill>
                <a:srgbClr val="FFFFFF"/>
              </a:solidFill>
              <a:latin typeface="Courier"/>
              <a:cs typeface="Courier"/>
            </a:endParaRP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endParaRPr lang="en-US" dirty="0">
              <a:latin typeface="Courier"/>
              <a:cs typeface="Courier"/>
            </a:endParaRPr>
          </a:p>
        </p:txBody>
      </p:sp>
    </p:spTree>
    <p:extLst>
      <p:ext uri="{BB962C8B-B14F-4D97-AF65-F5344CB8AC3E}">
        <p14:creationId xmlns:p14="http://schemas.microsoft.com/office/powerpoint/2010/main" val="1792539106"/>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Substructure Works Well With Code</a:t>
            </a:r>
            <a:endParaRPr lang="en-US" dirty="0"/>
          </a:p>
        </p:txBody>
      </p:sp>
      <p:sp>
        <p:nvSpPr>
          <p:cNvPr id="2" name="Content Placeholder 1"/>
          <p:cNvSpPr>
            <a:spLocks noGrp="1"/>
          </p:cNvSpPr>
          <p:nvPr>
            <p:ph idx="1"/>
          </p:nvPr>
        </p:nvSpPr>
        <p:spPr>
          <a:xfrm>
            <a:off x="457199" y="1360123"/>
            <a:ext cx="8062611" cy="4841358"/>
          </a:xfrm>
        </p:spPr>
        <p:txBody>
          <a:bodyPr/>
          <a:lstStyle/>
          <a:p>
            <a:endParaRPr lang="en-US" dirty="0"/>
          </a:p>
        </p:txBody>
      </p:sp>
      <p:sp>
        <p:nvSpPr>
          <p:cNvPr id="5" name="Rectangle 4"/>
          <p:cNvSpPr/>
          <p:nvPr/>
        </p:nvSpPr>
        <p:spPr>
          <a:xfrm>
            <a:off x="479778" y="1257817"/>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Content Placeholder 3"/>
          <p:cNvSpPr txBox="1">
            <a:spLocks/>
          </p:cNvSpPr>
          <p:nvPr/>
        </p:nvSpPr>
        <p:spPr>
          <a:xfrm>
            <a:off x="800100" y="1514993"/>
            <a:ext cx="7719710"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spcBef>
                <a:spcPts val="72"/>
              </a:spcBef>
              <a:buNone/>
            </a:pPr>
            <a:r>
              <a:rPr lang="en-US" dirty="0" smtClean="0">
                <a:solidFill>
                  <a:srgbClr val="FFFFFF"/>
                </a:solidFill>
                <a:latin typeface="Courier"/>
                <a:cs typeface="Courier"/>
              </a:rPr>
              <a:t>&gt; </a:t>
            </a:r>
            <a:r>
              <a:rPr lang="en-US" dirty="0" err="1" smtClean="0">
                <a:solidFill>
                  <a:srgbClr val="FFFFFF"/>
                </a:solidFill>
                <a:latin typeface="Courier"/>
                <a:cs typeface="Courier"/>
              </a:rPr>
              <a:t>addr</a:t>
            </a:r>
            <a:r>
              <a:rPr lang="en-US" dirty="0" smtClean="0">
                <a:solidFill>
                  <a:srgbClr val="FFFFFF"/>
                </a:solidFill>
                <a:latin typeface="Courier"/>
                <a:cs typeface="Courier"/>
              </a:rPr>
              <a:t> = </a:t>
            </a:r>
            <a:r>
              <a:rPr lang="en-US" dirty="0" err="1">
                <a:solidFill>
                  <a:srgbClr val="FFFFFF"/>
                </a:solidFill>
                <a:latin typeface="Courier"/>
                <a:cs typeface="Courier"/>
              </a:rPr>
              <a:t>db.patrons.find</a:t>
            </a:r>
            <a:r>
              <a:rPr lang="en-US" dirty="0">
                <a:solidFill>
                  <a:srgbClr val="FFFFFF"/>
                </a:solidFill>
                <a:latin typeface="Courier"/>
                <a:cs typeface="Courier"/>
              </a:rPr>
              <a:t>(</a:t>
            </a:r>
            <a:r>
              <a:rPr lang="en-US" dirty="0" smtClean="0">
                <a:solidFill>
                  <a:srgbClr val="FFFFFF"/>
                </a:solidFill>
                <a:latin typeface="Courier"/>
                <a:cs typeface="Courier"/>
              </a:rPr>
              <a:t>{_id :“</a:t>
            </a:r>
            <a:r>
              <a:rPr lang="en-US" dirty="0" err="1">
                <a:solidFill>
                  <a:srgbClr val="FFFFFF"/>
                </a:solidFill>
                <a:latin typeface="Courier"/>
                <a:cs typeface="Courier"/>
              </a:rPr>
              <a:t>joe</a:t>
            </a:r>
            <a:r>
              <a:rPr lang="en-US" dirty="0" smtClean="0">
                <a:solidFill>
                  <a:srgbClr val="FFFFFF"/>
                </a:solidFill>
                <a:latin typeface="Courier"/>
                <a:cs typeface="Courier"/>
              </a:rPr>
              <a:t>”},{</a:t>
            </a:r>
            <a:r>
              <a:rPr lang="en-US" dirty="0">
                <a:solidFill>
                  <a:srgbClr val="FFFFFF"/>
                </a:solidFill>
                <a:latin typeface="Courier"/>
                <a:cs typeface="Courier"/>
              </a:rPr>
              <a:t>“_id”: 0</a:t>
            </a:r>
            <a:r>
              <a:rPr lang="en-US" dirty="0" smtClean="0">
                <a:solidFill>
                  <a:srgbClr val="FFFFFF"/>
                </a:solidFill>
                <a:latin typeface="Courier"/>
                <a:cs typeface="Courier"/>
              </a:rPr>
              <a:t>,</a:t>
            </a:r>
            <a:r>
              <a:rPr lang="en-US" dirty="0" smtClean="0">
                <a:solidFill>
                  <a:schemeClr val="bg1"/>
                </a:solidFill>
                <a:latin typeface="Courier"/>
                <a:cs typeface="Courier"/>
              </a:rPr>
              <a:t>”</a:t>
            </a:r>
            <a:r>
              <a:rPr lang="en-US" dirty="0">
                <a:solidFill>
                  <a:schemeClr val="bg1"/>
                </a:solidFill>
                <a:latin typeface="Courier"/>
                <a:cs typeface="Courier"/>
              </a:rPr>
              <a:t>address”:1</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address: {</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street:</a:t>
            </a:r>
            <a:r>
              <a:rPr lang="en-US" dirty="0">
                <a:latin typeface="Courier"/>
                <a:cs typeface="Courier"/>
              </a:rPr>
              <a:t> </a:t>
            </a:r>
            <a:r>
              <a:rPr lang="en-US" dirty="0">
                <a:solidFill>
                  <a:srgbClr val="F7D58F"/>
                </a:solidFill>
                <a:latin typeface="Courier"/>
                <a:cs typeface="Courier"/>
              </a:rPr>
              <a:t>"123 Fake St. "</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city:</a:t>
            </a:r>
            <a:r>
              <a:rPr lang="en-US" dirty="0">
                <a:latin typeface="Courier"/>
                <a:cs typeface="Courier"/>
              </a:rPr>
              <a:t> </a:t>
            </a:r>
            <a:r>
              <a:rPr lang="en-US" dirty="0">
                <a:solidFill>
                  <a:srgbClr val="F7D58F"/>
                </a:solidFill>
                <a:latin typeface="Courier"/>
                <a:cs typeface="Courier"/>
              </a:rPr>
              <a:t>"</a:t>
            </a:r>
            <a:r>
              <a:rPr lang="en-US" dirty="0" err="1">
                <a:solidFill>
                  <a:srgbClr val="F7D58F"/>
                </a:solidFill>
                <a:latin typeface="Courier"/>
                <a:cs typeface="Courier"/>
              </a:rPr>
              <a:t>Faketon</a:t>
            </a:r>
            <a:r>
              <a:rPr lang="en-US" dirty="0">
                <a:solidFill>
                  <a:srgbClr val="F7D58F"/>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state:</a:t>
            </a:r>
            <a:r>
              <a:rPr lang="en-US" dirty="0">
                <a:latin typeface="Courier"/>
                <a:cs typeface="Courier"/>
              </a:rPr>
              <a:t> </a:t>
            </a:r>
            <a:r>
              <a:rPr lang="en-US" dirty="0">
                <a:solidFill>
                  <a:srgbClr val="F7D58F"/>
                </a:solidFill>
                <a:latin typeface="Courier"/>
                <a:cs typeface="Courier"/>
              </a:rPr>
              <a:t>"MA"</a:t>
            </a:r>
            <a:r>
              <a:rPr lang="en-US" dirty="0">
                <a:solidFill>
                  <a:srgbClr val="FFFFFF"/>
                </a:solidFill>
                <a:latin typeface="Courier"/>
                <a:cs typeface="Courier"/>
              </a:rPr>
              <a:t>,</a:t>
            </a:r>
          </a:p>
          <a:p>
            <a:pPr marL="0" indent="0">
              <a:spcBef>
                <a:spcPts val="72"/>
              </a:spcBef>
              <a:buNone/>
            </a:pPr>
            <a:r>
              <a:rPr lang="en-US" dirty="0">
                <a:latin typeface="Courier"/>
                <a:cs typeface="Courier"/>
              </a:rPr>
              <a:t>        </a:t>
            </a:r>
            <a:r>
              <a:rPr lang="en-US" dirty="0">
                <a:solidFill>
                  <a:srgbClr val="FFFFFF"/>
                </a:solidFill>
                <a:latin typeface="Courier"/>
                <a:cs typeface="Courier"/>
              </a:rPr>
              <a:t>zip: </a:t>
            </a:r>
            <a:r>
              <a:rPr lang="en-US" dirty="0">
                <a:solidFill>
                  <a:srgbClr val="F7D58F"/>
                </a:solidFill>
                <a:latin typeface="Courier"/>
                <a:cs typeface="Courier"/>
              </a:rPr>
              <a:t>“12345”</a:t>
            </a:r>
            <a:endParaRPr lang="en-US" dirty="0">
              <a:solidFill>
                <a:srgbClr val="AFD2E9"/>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    }</a:t>
            </a:r>
            <a:endParaRPr lang="en-US" dirty="0">
              <a:solidFill>
                <a:srgbClr val="FFFFFF"/>
              </a:solidFill>
              <a:latin typeface="Courier"/>
              <a:cs typeface="Courier"/>
            </a:endParaRP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endParaRPr lang="en-US" dirty="0" smtClean="0">
              <a:solidFill>
                <a:srgbClr val="FFFFFF"/>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 Pass the whole Map to this function:</a:t>
            </a:r>
          </a:p>
          <a:p>
            <a:pPr marL="0" indent="0">
              <a:lnSpc>
                <a:spcPct val="100000"/>
              </a:lnSpc>
              <a:spcBef>
                <a:spcPts val="72"/>
              </a:spcBef>
              <a:buNone/>
            </a:pPr>
            <a:r>
              <a:rPr lang="en-US" dirty="0" err="1" smtClean="0">
                <a:solidFill>
                  <a:srgbClr val="FFFFFF"/>
                </a:solidFill>
                <a:latin typeface="Courier"/>
                <a:cs typeface="Courier"/>
              </a:rPr>
              <a:t>doSomethingWithOneAddress</a:t>
            </a:r>
            <a:r>
              <a:rPr lang="en-US" dirty="0" smtClean="0">
                <a:solidFill>
                  <a:srgbClr val="FFFFFF"/>
                </a:solidFill>
                <a:latin typeface="Courier"/>
                <a:cs typeface="Courier"/>
              </a:rPr>
              <a:t>(</a:t>
            </a:r>
            <a:r>
              <a:rPr lang="en-US" dirty="0" err="1" smtClean="0">
                <a:solidFill>
                  <a:srgbClr val="FFFFFF"/>
                </a:solidFill>
                <a:latin typeface="Courier"/>
                <a:cs typeface="Courier"/>
              </a:rPr>
              <a:t>addr</a:t>
            </a:r>
            <a:r>
              <a:rPr lang="en-US" dirty="0" smtClean="0">
                <a:solidFill>
                  <a:srgbClr val="FFFFFF"/>
                </a:solidFill>
                <a:latin typeface="Courier"/>
                <a:cs typeface="Courier"/>
              </a:rPr>
              <a:t>);</a:t>
            </a:r>
          </a:p>
          <a:p>
            <a:pPr marL="0" indent="0">
              <a:spcBef>
                <a:spcPts val="72"/>
              </a:spcBef>
              <a:buNone/>
            </a:pPr>
            <a:endParaRPr lang="en-US" dirty="0" smtClean="0">
              <a:solidFill>
                <a:srgbClr val="FFFFFF"/>
              </a:solidFill>
              <a:latin typeface="Courier"/>
              <a:cs typeface="Courier"/>
            </a:endParaRPr>
          </a:p>
          <a:p>
            <a:pPr marL="0" indent="0">
              <a:spcBef>
                <a:spcPts val="72"/>
              </a:spcBef>
              <a:buNone/>
            </a:pPr>
            <a:r>
              <a:rPr lang="en-US" dirty="0" smtClean="0">
                <a:solidFill>
                  <a:srgbClr val="FFFFFF"/>
                </a:solidFill>
                <a:latin typeface="Courier"/>
                <a:cs typeface="Courier"/>
              </a:rPr>
              <a:t>// Somewhere else in the code is the actual function:</a:t>
            </a:r>
          </a:p>
          <a:p>
            <a:pPr marL="0" indent="0">
              <a:spcBef>
                <a:spcPts val="72"/>
              </a:spcBef>
              <a:buNone/>
            </a:pPr>
            <a:r>
              <a:rPr lang="en-US" dirty="0" err="1" smtClean="0">
                <a:solidFill>
                  <a:srgbClr val="FFFFFF"/>
                </a:solidFill>
                <a:latin typeface="Courier"/>
                <a:cs typeface="Courier"/>
              </a:rPr>
              <a:t>doSomethingWithOneAddress</a:t>
            </a:r>
            <a:r>
              <a:rPr lang="en-US" dirty="0" smtClean="0">
                <a:solidFill>
                  <a:srgbClr val="FFFFFF"/>
                </a:solidFill>
                <a:latin typeface="Courier"/>
                <a:cs typeface="Courier"/>
              </a:rPr>
              <a:t>(Map </a:t>
            </a:r>
            <a:r>
              <a:rPr lang="en-US" dirty="0" err="1" smtClean="0">
                <a:solidFill>
                  <a:srgbClr val="FFFFFF"/>
                </a:solidFill>
                <a:latin typeface="Courier"/>
                <a:cs typeface="Courier"/>
              </a:rPr>
              <a:t>addr</a:t>
            </a:r>
            <a:r>
              <a:rPr lang="en-US" dirty="0" smtClean="0">
                <a:solidFill>
                  <a:srgbClr val="FFFFFF"/>
                </a:solidFill>
                <a:latin typeface="Courier"/>
                <a:cs typeface="Courier"/>
              </a:rPr>
              <a:t>)</a:t>
            </a:r>
          </a:p>
          <a:p>
            <a:pPr marL="0" indent="0">
              <a:spcBef>
                <a:spcPts val="72"/>
              </a:spcBef>
              <a:buNone/>
            </a:pPr>
            <a:r>
              <a:rPr lang="en-US" dirty="0" smtClean="0">
                <a:solidFill>
                  <a:srgbClr val="FFFFFF"/>
                </a:solidFill>
                <a:latin typeface="Courier"/>
                <a:cs typeface="Courier"/>
              </a:rPr>
              <a:t>{ // Look for state }</a:t>
            </a:r>
            <a:endParaRPr lang="en-US" dirty="0">
              <a:solidFill>
                <a:srgbClr val="FFFFFF"/>
              </a:solidFill>
              <a:latin typeface="Courier"/>
              <a:cs typeface="Courier"/>
            </a:endParaRP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endParaRPr lang="en-US" dirty="0" smtClean="0">
              <a:solidFill>
                <a:srgbClr val="FFFFFF"/>
              </a:solidFill>
              <a:latin typeface="Courier"/>
              <a:cs typeface="Courier"/>
            </a:endParaRPr>
          </a:p>
        </p:txBody>
      </p:sp>
    </p:spTree>
    <p:extLst>
      <p:ext uri="{BB962C8B-B14F-4D97-AF65-F5344CB8AC3E}">
        <p14:creationId xmlns:p14="http://schemas.microsoft.com/office/powerpoint/2010/main" val="266325520"/>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79778" y="124548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normAutofit fontScale="90000"/>
          </a:bodyPr>
          <a:lstStyle/>
          <a:p>
            <a:r>
              <a:rPr lang="en-US" dirty="0" smtClean="0"/>
              <a:t>Remember: Document Shapes Can Vary</a:t>
            </a:r>
            <a:endParaRPr lang="en-US" dirty="0"/>
          </a:p>
        </p:txBody>
      </p:sp>
      <p:sp>
        <p:nvSpPr>
          <p:cNvPr id="4" name="Content Placeholder 3"/>
          <p:cNvSpPr>
            <a:spLocks noGrp="1"/>
          </p:cNvSpPr>
          <p:nvPr>
            <p:ph idx="4294967295"/>
          </p:nvPr>
        </p:nvSpPr>
        <p:spPr>
          <a:xfrm>
            <a:off x="800100" y="1502663"/>
            <a:ext cx="7567789" cy="4674159"/>
          </a:xfrm>
        </p:spPr>
        <p:txBody>
          <a:bodyPr>
            <a:noAutofit/>
          </a:bodyPr>
          <a:lstStyle/>
          <a:p>
            <a:pPr marL="0" indent="0">
              <a:lnSpc>
                <a:spcPct val="100000"/>
              </a:lnSpc>
              <a:spcBef>
                <a:spcPts val="72"/>
              </a:spcBef>
              <a:buNone/>
            </a:pPr>
            <a:r>
              <a:rPr lang="en-US" sz="1100" dirty="0" smtClean="0">
                <a:solidFill>
                  <a:srgbClr val="FFFFFF"/>
                </a:solidFill>
                <a:latin typeface="Courier"/>
                <a:cs typeface="Courier"/>
              </a:rPr>
              <a:t>&gt; </a:t>
            </a:r>
            <a:r>
              <a:rPr lang="en-US" sz="1100" dirty="0" err="1" smtClean="0">
                <a:solidFill>
                  <a:srgbClr val="FFFFFF"/>
                </a:solidFill>
                <a:latin typeface="Courier"/>
                <a:cs typeface="Courier"/>
              </a:rPr>
              <a:t>db.patrons.insert</a:t>
            </a:r>
            <a:r>
              <a:rPr lang="en-US" sz="1100" dirty="0" smtClean="0">
                <a:solidFill>
                  <a:srgbClr val="FFFFFF"/>
                </a:solidFill>
                <a:latin typeface="Courier"/>
                <a:cs typeface="Courier"/>
              </a:rPr>
              <a:t>({ _id : </a:t>
            </a:r>
            <a:r>
              <a:rPr lang="en-US" sz="1100" dirty="0" smtClean="0">
                <a:solidFill>
                  <a:schemeClr val="accent2"/>
                </a:solidFill>
                <a:latin typeface="Courier"/>
                <a:cs typeface="Courier"/>
              </a:rPr>
              <a:t>“bob”,</a:t>
            </a:r>
          </a:p>
          <a:p>
            <a:pPr marL="0" indent="0">
              <a:lnSpc>
                <a:spcPct val="100000"/>
              </a:lnSpc>
              <a:spcBef>
                <a:spcPts val="72"/>
              </a:spcBef>
              <a:buNone/>
            </a:pPr>
            <a:r>
              <a:rPr lang="en-US" sz="1100" dirty="0" smtClean="0">
                <a:solidFill>
                  <a:srgbClr val="FFFFFF"/>
                </a:solidFill>
                <a:latin typeface="Courier"/>
                <a:cs typeface="Courier"/>
              </a:rPr>
              <a:t>    name</a:t>
            </a:r>
            <a:r>
              <a:rPr lang="en-US" sz="1100" dirty="0">
                <a:solidFill>
                  <a:srgbClr val="FFFFFF"/>
                </a:solidFill>
                <a:latin typeface="Courier"/>
                <a:cs typeface="Courier"/>
              </a:rPr>
              <a:t>:</a:t>
            </a:r>
            <a:r>
              <a:rPr lang="en-US" sz="1100" dirty="0">
                <a:latin typeface="Courier"/>
                <a:cs typeface="Courier"/>
              </a:rPr>
              <a:t> </a:t>
            </a:r>
            <a:r>
              <a:rPr lang="en-US" sz="1100" dirty="0" smtClean="0">
                <a:solidFill>
                  <a:srgbClr val="F7D58F"/>
                </a:solidFill>
                <a:latin typeface="Courier"/>
                <a:cs typeface="Courier"/>
              </a:rPr>
              <a:t>”Bob </a:t>
            </a:r>
            <a:r>
              <a:rPr lang="en-US" sz="1100" dirty="0" err="1" smtClean="0">
                <a:solidFill>
                  <a:srgbClr val="F7D58F"/>
                </a:solidFill>
                <a:latin typeface="Courier"/>
                <a:cs typeface="Courier"/>
              </a:rPr>
              <a:t>Nobooks</a:t>
            </a:r>
            <a:r>
              <a:rPr lang="en-US" sz="1100" dirty="0" smtClean="0">
                <a:solidFill>
                  <a:srgbClr val="F7D58F"/>
                </a:solidFill>
                <a:latin typeface="Courier"/>
                <a:cs typeface="Courier"/>
              </a:rPr>
              <a:t>"</a:t>
            </a:r>
            <a:r>
              <a:rPr lang="en-US" sz="1100" dirty="0" smtClean="0">
                <a:solidFill>
                  <a:srgbClr val="FFFFFF"/>
                </a:solidFill>
                <a:latin typeface="Courier"/>
                <a:cs typeface="Courier"/>
              </a:rPr>
              <a:t>,</a:t>
            </a:r>
          </a:p>
          <a:p>
            <a:pPr marL="0" indent="0">
              <a:spcBef>
                <a:spcPts val="72"/>
              </a:spcBef>
              <a:buNone/>
            </a:pPr>
            <a:r>
              <a:rPr lang="en-US" sz="1100" dirty="0" smtClean="0">
                <a:solidFill>
                  <a:srgbClr val="FFFFFF"/>
                </a:solidFill>
                <a:latin typeface="Courier"/>
                <a:cs typeface="Courier"/>
              </a:rPr>
              <a:t>    address</a:t>
            </a:r>
            <a:r>
              <a:rPr lang="en-US" sz="1100" dirty="0">
                <a:solidFill>
                  <a:srgbClr val="FFFFFF"/>
                </a:solidFill>
                <a:latin typeface="Courier"/>
                <a:cs typeface="Courier"/>
              </a:rPr>
              <a:t>: {</a:t>
            </a:r>
          </a:p>
          <a:p>
            <a:pPr marL="0" indent="0">
              <a:lnSpc>
                <a:spcPct val="100000"/>
              </a:lnSpc>
              <a:spcBef>
                <a:spcPts val="72"/>
              </a:spcBef>
              <a:buNone/>
            </a:pPr>
            <a:r>
              <a:rPr lang="en-US" sz="1100" dirty="0">
                <a:latin typeface="Courier"/>
                <a:cs typeface="Courier"/>
              </a:rPr>
              <a:t>        </a:t>
            </a:r>
            <a:r>
              <a:rPr lang="en-US" sz="1100" dirty="0">
                <a:solidFill>
                  <a:srgbClr val="FFFFFF"/>
                </a:solidFill>
                <a:latin typeface="Courier"/>
                <a:cs typeface="Courier"/>
              </a:rPr>
              <a:t>street:</a:t>
            </a:r>
            <a:r>
              <a:rPr lang="en-US" sz="1100" dirty="0">
                <a:latin typeface="Courier"/>
                <a:cs typeface="Courier"/>
              </a:rPr>
              <a:t> </a:t>
            </a:r>
            <a:r>
              <a:rPr lang="en-US" sz="1100" dirty="0" smtClean="0">
                <a:solidFill>
                  <a:srgbClr val="F7D58F"/>
                </a:solidFill>
                <a:latin typeface="Courier"/>
                <a:cs typeface="Courier"/>
              </a:rPr>
              <a:t>”139 W45 St. "</a:t>
            </a:r>
            <a:r>
              <a:rPr lang="en-US" sz="1100" dirty="0">
                <a:solidFill>
                  <a:srgbClr val="FFFFFF"/>
                </a:solidFill>
                <a:latin typeface="Courier"/>
                <a:cs typeface="Courier"/>
              </a:rPr>
              <a:t>,</a:t>
            </a:r>
          </a:p>
          <a:p>
            <a:pPr marL="0" indent="0">
              <a:lnSpc>
                <a:spcPct val="100000"/>
              </a:lnSpc>
              <a:spcBef>
                <a:spcPts val="72"/>
              </a:spcBef>
              <a:buNone/>
            </a:pPr>
            <a:r>
              <a:rPr lang="en-US" sz="1100" dirty="0">
                <a:latin typeface="Courier"/>
                <a:cs typeface="Courier"/>
              </a:rPr>
              <a:t>        </a:t>
            </a:r>
            <a:r>
              <a:rPr lang="en-US" sz="1100" dirty="0">
                <a:solidFill>
                  <a:srgbClr val="FFFFFF"/>
                </a:solidFill>
                <a:latin typeface="Courier"/>
                <a:cs typeface="Courier"/>
              </a:rPr>
              <a:t>city:</a:t>
            </a:r>
            <a:r>
              <a:rPr lang="en-US" sz="1100" dirty="0">
                <a:latin typeface="Courier"/>
                <a:cs typeface="Courier"/>
              </a:rPr>
              <a:t> </a:t>
            </a:r>
            <a:r>
              <a:rPr lang="en-US" sz="1100" dirty="0" smtClean="0">
                <a:solidFill>
                  <a:srgbClr val="F7D58F"/>
                </a:solidFill>
                <a:latin typeface="Courier"/>
                <a:cs typeface="Courier"/>
              </a:rPr>
              <a:t>”NY"</a:t>
            </a:r>
            <a:r>
              <a:rPr lang="en-US" sz="1100" dirty="0">
                <a:solidFill>
                  <a:srgbClr val="FFFFFF"/>
                </a:solidFill>
                <a:latin typeface="Courier"/>
                <a:cs typeface="Courier"/>
              </a:rPr>
              <a:t>,</a:t>
            </a:r>
          </a:p>
          <a:p>
            <a:pPr marL="0" indent="0">
              <a:lnSpc>
                <a:spcPct val="100000"/>
              </a:lnSpc>
              <a:spcBef>
                <a:spcPts val="72"/>
              </a:spcBef>
              <a:buNone/>
            </a:pPr>
            <a:r>
              <a:rPr lang="en-US" sz="1100" dirty="0">
                <a:latin typeface="Courier"/>
                <a:cs typeface="Courier"/>
              </a:rPr>
              <a:t>        </a:t>
            </a:r>
            <a:r>
              <a:rPr lang="en-US" sz="1100" dirty="0">
                <a:solidFill>
                  <a:srgbClr val="FFFFFF"/>
                </a:solidFill>
                <a:latin typeface="Courier"/>
                <a:cs typeface="Courier"/>
              </a:rPr>
              <a:t>state:</a:t>
            </a:r>
            <a:r>
              <a:rPr lang="en-US" sz="1100" dirty="0">
                <a:latin typeface="Courier"/>
                <a:cs typeface="Courier"/>
              </a:rPr>
              <a:t> </a:t>
            </a:r>
            <a:r>
              <a:rPr lang="en-US" sz="1100" dirty="0" smtClean="0">
                <a:solidFill>
                  <a:srgbClr val="F7D58F"/>
                </a:solidFill>
                <a:latin typeface="Courier"/>
                <a:cs typeface="Courier"/>
              </a:rPr>
              <a:t>”NY"</a:t>
            </a:r>
            <a:r>
              <a:rPr lang="en-US" sz="1100" dirty="0">
                <a:solidFill>
                  <a:srgbClr val="FFFFFF"/>
                </a:solidFill>
                <a:latin typeface="Courier"/>
                <a:cs typeface="Courier"/>
              </a:rPr>
              <a:t>,</a:t>
            </a:r>
          </a:p>
          <a:p>
            <a:pPr marL="0" indent="0">
              <a:lnSpc>
                <a:spcPct val="100000"/>
              </a:lnSpc>
              <a:spcBef>
                <a:spcPts val="72"/>
              </a:spcBef>
              <a:buNone/>
            </a:pPr>
            <a:r>
              <a:rPr lang="en-US" sz="1100" dirty="0" smtClean="0">
                <a:solidFill>
                  <a:srgbClr val="FF6600"/>
                </a:solidFill>
                <a:latin typeface="Courier"/>
                <a:cs typeface="Courier"/>
              </a:rPr>
              <a:t>        country</a:t>
            </a:r>
            <a:r>
              <a:rPr lang="en-US" sz="1100" dirty="0">
                <a:solidFill>
                  <a:srgbClr val="FF6600"/>
                </a:solidFill>
                <a:latin typeface="Courier"/>
                <a:cs typeface="Courier"/>
              </a:rPr>
              <a:t>: </a:t>
            </a:r>
            <a:r>
              <a:rPr lang="en-US" sz="1100" dirty="0">
                <a:solidFill>
                  <a:srgbClr val="F7D58F"/>
                </a:solidFill>
                <a:latin typeface="Courier"/>
                <a:cs typeface="Courier"/>
              </a:rPr>
              <a:t>”USA</a:t>
            </a:r>
            <a:r>
              <a:rPr lang="en-US" sz="1100" dirty="0" smtClean="0">
                <a:solidFill>
                  <a:srgbClr val="F7D58F"/>
                </a:solidFill>
                <a:latin typeface="Courier"/>
                <a:cs typeface="Courier"/>
              </a:rPr>
              <a:t>”</a:t>
            </a:r>
            <a:endParaRPr lang="en-US" sz="1100" dirty="0">
              <a:solidFill>
                <a:srgbClr val="FF6600"/>
              </a:solidFill>
              <a:latin typeface="Courier"/>
              <a:cs typeface="Courier"/>
            </a:endParaRPr>
          </a:p>
          <a:p>
            <a:pPr marL="0" indent="0">
              <a:lnSpc>
                <a:spcPct val="100000"/>
              </a:lnSpc>
              <a:spcBef>
                <a:spcPts val="72"/>
              </a:spcBef>
              <a:buNone/>
            </a:pPr>
            <a:r>
              <a:rPr lang="en-US" sz="1100" dirty="0">
                <a:solidFill>
                  <a:srgbClr val="FFFFFF"/>
                </a:solidFill>
                <a:latin typeface="Courier"/>
                <a:cs typeface="Courier"/>
              </a:rPr>
              <a:t>    }</a:t>
            </a:r>
          </a:p>
          <a:p>
            <a:pPr marL="0" indent="0">
              <a:lnSpc>
                <a:spcPct val="100000"/>
              </a:lnSpc>
              <a:spcBef>
                <a:spcPts val="72"/>
              </a:spcBef>
              <a:buNone/>
            </a:pPr>
            <a:r>
              <a:rPr lang="en-US" sz="1100" dirty="0">
                <a:solidFill>
                  <a:srgbClr val="FFFFFF"/>
                </a:solidFill>
                <a:latin typeface="Courier"/>
                <a:cs typeface="Courier"/>
              </a:rPr>
              <a:t>}</a:t>
            </a:r>
            <a:br>
              <a:rPr lang="en-US" sz="1100" dirty="0">
                <a:solidFill>
                  <a:srgbClr val="FFFFFF"/>
                </a:solidFill>
                <a:latin typeface="Courier"/>
                <a:cs typeface="Courier"/>
              </a:rPr>
            </a:br>
            <a:r>
              <a:rPr lang="en-US" sz="1100" dirty="0">
                <a:solidFill>
                  <a:srgbClr val="FFFFFF"/>
                </a:solidFill>
                <a:latin typeface="Courier"/>
                <a:cs typeface="Courier"/>
              </a:rPr>
              <a:t>&gt; </a:t>
            </a:r>
            <a:r>
              <a:rPr lang="en-US" sz="1100" dirty="0" err="1" smtClean="0">
                <a:solidFill>
                  <a:srgbClr val="FFFFFF"/>
                </a:solidFill>
                <a:latin typeface="Courier"/>
                <a:cs typeface="Courier"/>
              </a:rPr>
              <a:t>db.patrons.find</a:t>
            </a:r>
            <a:r>
              <a:rPr lang="en-US" sz="1100" dirty="0">
                <a:solidFill>
                  <a:srgbClr val="FFFFFF"/>
                </a:solidFill>
                <a:latin typeface="Courier"/>
                <a:cs typeface="Courier"/>
              </a:rPr>
              <a:t>(</a:t>
            </a:r>
            <a:r>
              <a:rPr lang="en-US" sz="1100" dirty="0" smtClean="0">
                <a:solidFill>
                  <a:srgbClr val="FFFFFF"/>
                </a:solidFill>
                <a:latin typeface="Courier"/>
                <a:cs typeface="Courier"/>
              </a:rPr>
              <a:t>{},{</a:t>
            </a:r>
            <a:r>
              <a:rPr lang="en-US" sz="1100" dirty="0">
                <a:solidFill>
                  <a:srgbClr val="FFFFFF"/>
                </a:solidFill>
                <a:latin typeface="Courier"/>
                <a:cs typeface="Courier"/>
              </a:rPr>
              <a:t>“_id”: </a:t>
            </a:r>
            <a:r>
              <a:rPr lang="en-US" sz="1100" dirty="0" smtClean="0">
                <a:solidFill>
                  <a:srgbClr val="FFFFFF"/>
                </a:solidFill>
                <a:latin typeface="Courier"/>
                <a:cs typeface="Courier"/>
              </a:rPr>
              <a:t>1, </a:t>
            </a:r>
            <a:r>
              <a:rPr lang="en-US" sz="1100" dirty="0">
                <a:solidFill>
                  <a:srgbClr val="EE9C00"/>
                </a:solidFill>
                <a:latin typeface="Courier"/>
                <a:cs typeface="Courier"/>
              </a:rPr>
              <a:t>”address”:1</a:t>
            </a:r>
            <a:r>
              <a:rPr lang="en-US" sz="1100" dirty="0">
                <a:solidFill>
                  <a:srgbClr val="FFFFFF"/>
                </a:solidFill>
                <a:latin typeface="Courier"/>
                <a:cs typeface="Courier"/>
              </a:rPr>
              <a:t>})</a:t>
            </a:r>
          </a:p>
          <a:p>
            <a:pPr marL="0" indent="0">
              <a:lnSpc>
                <a:spcPct val="100000"/>
              </a:lnSpc>
              <a:spcBef>
                <a:spcPts val="72"/>
              </a:spcBef>
              <a:buNone/>
            </a:pPr>
            <a:r>
              <a:rPr lang="en-US" sz="1100" dirty="0" smtClean="0">
                <a:solidFill>
                  <a:srgbClr val="FFFFFF"/>
                </a:solidFill>
                <a:latin typeface="Courier"/>
                <a:cs typeface="Courier"/>
              </a:rPr>
              <a:t>{   _id: “</a:t>
            </a:r>
            <a:r>
              <a:rPr lang="en-US" sz="1100" dirty="0" err="1" smtClean="0">
                <a:solidFill>
                  <a:srgbClr val="FFFFFF"/>
                </a:solidFill>
                <a:latin typeface="Courier"/>
                <a:cs typeface="Courier"/>
              </a:rPr>
              <a:t>joe</a:t>
            </a:r>
            <a:r>
              <a:rPr lang="en-US" sz="1100" dirty="0" smtClean="0">
                <a:solidFill>
                  <a:srgbClr val="FFFFFF"/>
                </a:solidFill>
                <a:latin typeface="Courier"/>
                <a:cs typeface="Courier"/>
              </a:rPr>
              <a:t>”,</a:t>
            </a:r>
          </a:p>
          <a:p>
            <a:pPr marL="0" indent="0">
              <a:lnSpc>
                <a:spcPct val="100000"/>
              </a:lnSpc>
              <a:spcBef>
                <a:spcPts val="72"/>
              </a:spcBef>
              <a:buNone/>
            </a:pPr>
            <a:r>
              <a:rPr lang="en-US" sz="1100" dirty="0" smtClean="0">
                <a:solidFill>
                  <a:srgbClr val="FFFFFF"/>
                </a:solidFill>
                <a:latin typeface="Courier"/>
                <a:cs typeface="Courier"/>
              </a:rPr>
              <a:t>    </a:t>
            </a:r>
            <a:r>
              <a:rPr lang="en-US" sz="1100" dirty="0">
                <a:solidFill>
                  <a:srgbClr val="FFFFFF"/>
                </a:solidFill>
                <a:latin typeface="Courier"/>
                <a:cs typeface="Courier"/>
              </a:rPr>
              <a:t>address: {</a:t>
            </a:r>
          </a:p>
          <a:p>
            <a:pPr marL="0" indent="0">
              <a:lnSpc>
                <a:spcPct val="100000"/>
              </a:lnSpc>
              <a:spcBef>
                <a:spcPts val="72"/>
              </a:spcBef>
              <a:buNone/>
            </a:pPr>
            <a:r>
              <a:rPr lang="en-US" sz="1100" dirty="0">
                <a:latin typeface="Courier"/>
                <a:cs typeface="Courier"/>
              </a:rPr>
              <a:t>        </a:t>
            </a:r>
            <a:r>
              <a:rPr lang="en-US" sz="1100" dirty="0">
                <a:solidFill>
                  <a:srgbClr val="FFFFFF"/>
                </a:solidFill>
                <a:latin typeface="Courier"/>
                <a:cs typeface="Courier"/>
              </a:rPr>
              <a:t>street:</a:t>
            </a:r>
            <a:r>
              <a:rPr lang="en-US" sz="1100" dirty="0">
                <a:latin typeface="Courier"/>
                <a:cs typeface="Courier"/>
              </a:rPr>
              <a:t> </a:t>
            </a:r>
            <a:r>
              <a:rPr lang="en-US" sz="1100" dirty="0">
                <a:solidFill>
                  <a:srgbClr val="F7D58F"/>
                </a:solidFill>
                <a:latin typeface="Courier"/>
                <a:cs typeface="Courier"/>
              </a:rPr>
              <a:t>"123 Fake St. "</a:t>
            </a:r>
            <a:r>
              <a:rPr lang="en-US" sz="1100" dirty="0">
                <a:solidFill>
                  <a:srgbClr val="FFFFFF"/>
                </a:solidFill>
                <a:latin typeface="Courier"/>
                <a:cs typeface="Courier"/>
              </a:rPr>
              <a:t>,</a:t>
            </a:r>
          </a:p>
          <a:p>
            <a:pPr marL="0" indent="0">
              <a:lnSpc>
                <a:spcPct val="100000"/>
              </a:lnSpc>
              <a:spcBef>
                <a:spcPts val="72"/>
              </a:spcBef>
              <a:buNone/>
            </a:pPr>
            <a:r>
              <a:rPr lang="en-US" sz="1100" dirty="0">
                <a:latin typeface="Courier"/>
                <a:cs typeface="Courier"/>
              </a:rPr>
              <a:t>        </a:t>
            </a:r>
            <a:r>
              <a:rPr lang="en-US" sz="1100" dirty="0">
                <a:solidFill>
                  <a:srgbClr val="FFFFFF"/>
                </a:solidFill>
                <a:latin typeface="Courier"/>
                <a:cs typeface="Courier"/>
              </a:rPr>
              <a:t>city:</a:t>
            </a:r>
            <a:r>
              <a:rPr lang="en-US" sz="1100" dirty="0">
                <a:latin typeface="Courier"/>
                <a:cs typeface="Courier"/>
              </a:rPr>
              <a:t> </a:t>
            </a:r>
            <a:r>
              <a:rPr lang="en-US" sz="1100" dirty="0">
                <a:solidFill>
                  <a:srgbClr val="F7D58F"/>
                </a:solidFill>
                <a:latin typeface="Courier"/>
                <a:cs typeface="Courier"/>
              </a:rPr>
              <a:t>"</a:t>
            </a:r>
            <a:r>
              <a:rPr lang="en-US" sz="1100" dirty="0" err="1">
                <a:solidFill>
                  <a:srgbClr val="F7D58F"/>
                </a:solidFill>
                <a:latin typeface="Courier"/>
                <a:cs typeface="Courier"/>
              </a:rPr>
              <a:t>Faketon</a:t>
            </a:r>
            <a:r>
              <a:rPr lang="en-US" sz="1100" dirty="0">
                <a:solidFill>
                  <a:srgbClr val="F7D58F"/>
                </a:solidFill>
                <a:latin typeface="Courier"/>
                <a:cs typeface="Courier"/>
              </a:rPr>
              <a:t>"</a:t>
            </a:r>
            <a:r>
              <a:rPr lang="en-US" sz="1100" dirty="0">
                <a:solidFill>
                  <a:srgbClr val="FFFFFF"/>
                </a:solidFill>
                <a:latin typeface="Courier"/>
                <a:cs typeface="Courier"/>
              </a:rPr>
              <a:t>,</a:t>
            </a:r>
          </a:p>
          <a:p>
            <a:pPr marL="0" indent="0">
              <a:lnSpc>
                <a:spcPct val="100000"/>
              </a:lnSpc>
              <a:spcBef>
                <a:spcPts val="72"/>
              </a:spcBef>
              <a:buNone/>
            </a:pPr>
            <a:r>
              <a:rPr lang="en-US" sz="1100" dirty="0">
                <a:latin typeface="Courier"/>
                <a:cs typeface="Courier"/>
              </a:rPr>
              <a:t>        </a:t>
            </a:r>
            <a:r>
              <a:rPr lang="en-US" sz="1100" dirty="0">
                <a:solidFill>
                  <a:srgbClr val="FFFFFF"/>
                </a:solidFill>
                <a:latin typeface="Courier"/>
                <a:cs typeface="Courier"/>
              </a:rPr>
              <a:t>state:</a:t>
            </a:r>
            <a:r>
              <a:rPr lang="en-US" sz="1100" dirty="0">
                <a:latin typeface="Courier"/>
                <a:cs typeface="Courier"/>
              </a:rPr>
              <a:t> </a:t>
            </a:r>
            <a:r>
              <a:rPr lang="en-US" sz="1100" dirty="0">
                <a:solidFill>
                  <a:srgbClr val="F7D58F"/>
                </a:solidFill>
                <a:latin typeface="Courier"/>
                <a:cs typeface="Courier"/>
              </a:rPr>
              <a:t>"MA"</a:t>
            </a:r>
            <a:r>
              <a:rPr lang="en-US" sz="1100" dirty="0">
                <a:solidFill>
                  <a:srgbClr val="FFFFFF"/>
                </a:solidFill>
                <a:latin typeface="Courier"/>
                <a:cs typeface="Courier"/>
              </a:rPr>
              <a:t>,</a:t>
            </a:r>
          </a:p>
          <a:p>
            <a:pPr marL="0" indent="0">
              <a:spcBef>
                <a:spcPts val="72"/>
              </a:spcBef>
              <a:buNone/>
            </a:pPr>
            <a:r>
              <a:rPr lang="en-US" sz="1100" dirty="0">
                <a:latin typeface="Courier"/>
                <a:cs typeface="Courier"/>
              </a:rPr>
              <a:t>        </a:t>
            </a:r>
            <a:r>
              <a:rPr lang="en-US" sz="1100" dirty="0">
                <a:solidFill>
                  <a:srgbClr val="FFFFFF"/>
                </a:solidFill>
                <a:latin typeface="Courier"/>
                <a:cs typeface="Courier"/>
              </a:rPr>
              <a:t>zip: </a:t>
            </a:r>
            <a:r>
              <a:rPr lang="en-US" sz="1100" dirty="0">
                <a:solidFill>
                  <a:srgbClr val="F7D58F"/>
                </a:solidFill>
                <a:latin typeface="Courier"/>
                <a:cs typeface="Courier"/>
              </a:rPr>
              <a:t>“12345”</a:t>
            </a:r>
            <a:endParaRPr lang="en-US" sz="1100" dirty="0">
              <a:solidFill>
                <a:srgbClr val="AFD2E9"/>
              </a:solidFill>
              <a:latin typeface="Courier"/>
              <a:cs typeface="Courier"/>
            </a:endParaRPr>
          </a:p>
          <a:p>
            <a:pPr marL="0" indent="0">
              <a:lnSpc>
                <a:spcPct val="100000"/>
              </a:lnSpc>
              <a:spcBef>
                <a:spcPts val="72"/>
              </a:spcBef>
              <a:buNone/>
            </a:pPr>
            <a:r>
              <a:rPr lang="en-US" sz="1100" dirty="0" smtClean="0">
                <a:solidFill>
                  <a:srgbClr val="FFFFFF"/>
                </a:solidFill>
                <a:latin typeface="Courier"/>
                <a:cs typeface="Courier"/>
              </a:rPr>
              <a:t>    }</a:t>
            </a:r>
            <a:endParaRPr lang="en-US" sz="1100" dirty="0">
              <a:solidFill>
                <a:srgbClr val="FFFFFF"/>
              </a:solidFill>
              <a:latin typeface="Courier"/>
              <a:cs typeface="Courier"/>
            </a:endParaRPr>
          </a:p>
          <a:p>
            <a:pPr marL="0" indent="0">
              <a:lnSpc>
                <a:spcPct val="100000"/>
              </a:lnSpc>
              <a:spcBef>
                <a:spcPts val="72"/>
              </a:spcBef>
              <a:buNone/>
            </a:pPr>
            <a:r>
              <a:rPr lang="en-US" sz="1100" dirty="0" smtClean="0">
                <a:solidFill>
                  <a:srgbClr val="FFFFFF"/>
                </a:solidFill>
                <a:latin typeface="Courier"/>
                <a:cs typeface="Courier"/>
              </a:rPr>
              <a:t>}</a:t>
            </a:r>
          </a:p>
          <a:p>
            <a:pPr marL="0" indent="0">
              <a:lnSpc>
                <a:spcPct val="100000"/>
              </a:lnSpc>
              <a:spcBef>
                <a:spcPts val="72"/>
              </a:spcBef>
              <a:buNone/>
            </a:pPr>
            <a:r>
              <a:rPr lang="en-US" sz="1100" dirty="0" smtClean="0">
                <a:solidFill>
                  <a:srgbClr val="FFFFFF"/>
                </a:solidFill>
                <a:latin typeface="Courier"/>
                <a:cs typeface="Courier"/>
              </a:rPr>
              <a:t>{   _id:</a:t>
            </a:r>
            <a:r>
              <a:rPr lang="en-US" sz="1100" dirty="0" smtClean="0">
                <a:latin typeface="Courier"/>
                <a:cs typeface="Courier"/>
              </a:rPr>
              <a:t> </a:t>
            </a:r>
            <a:r>
              <a:rPr lang="en-US" sz="1100" dirty="0" smtClean="0">
                <a:solidFill>
                  <a:schemeClr val="accent2">
                    <a:lumMod val="75000"/>
                  </a:schemeClr>
                </a:solidFill>
                <a:latin typeface="Courier"/>
                <a:cs typeface="Courier"/>
              </a:rPr>
              <a:t>”bob"</a:t>
            </a:r>
            <a:r>
              <a:rPr lang="en-US" sz="1100" dirty="0">
                <a:solidFill>
                  <a:srgbClr val="FFFFFF"/>
                </a:solidFill>
                <a:latin typeface="Courier"/>
                <a:cs typeface="Courier"/>
              </a:rPr>
              <a:t>,</a:t>
            </a:r>
          </a:p>
          <a:p>
            <a:pPr marL="0" indent="0">
              <a:spcBef>
                <a:spcPts val="72"/>
              </a:spcBef>
              <a:buNone/>
            </a:pPr>
            <a:r>
              <a:rPr lang="en-US" sz="1100" dirty="0" smtClean="0">
                <a:solidFill>
                  <a:srgbClr val="FFFFFF"/>
                </a:solidFill>
                <a:latin typeface="Courier"/>
                <a:cs typeface="Courier"/>
              </a:rPr>
              <a:t>    address</a:t>
            </a:r>
            <a:r>
              <a:rPr lang="en-US" sz="1100" dirty="0">
                <a:solidFill>
                  <a:srgbClr val="FFFFFF"/>
                </a:solidFill>
                <a:latin typeface="Courier"/>
                <a:cs typeface="Courier"/>
              </a:rPr>
              <a:t>: {</a:t>
            </a:r>
          </a:p>
          <a:p>
            <a:pPr marL="0" indent="0">
              <a:lnSpc>
                <a:spcPct val="100000"/>
              </a:lnSpc>
              <a:spcBef>
                <a:spcPts val="72"/>
              </a:spcBef>
              <a:buNone/>
            </a:pPr>
            <a:r>
              <a:rPr lang="en-US" sz="1100" dirty="0">
                <a:latin typeface="Courier"/>
                <a:cs typeface="Courier"/>
              </a:rPr>
              <a:t>        </a:t>
            </a:r>
            <a:r>
              <a:rPr lang="en-US" sz="1100" dirty="0">
                <a:solidFill>
                  <a:srgbClr val="FFFFFF"/>
                </a:solidFill>
                <a:latin typeface="Courier"/>
                <a:cs typeface="Courier"/>
              </a:rPr>
              <a:t>street:</a:t>
            </a:r>
            <a:r>
              <a:rPr lang="en-US" sz="1100" dirty="0">
                <a:latin typeface="Courier"/>
                <a:cs typeface="Courier"/>
              </a:rPr>
              <a:t> </a:t>
            </a:r>
            <a:r>
              <a:rPr lang="en-US" sz="1100" dirty="0">
                <a:solidFill>
                  <a:srgbClr val="F7D58F"/>
                </a:solidFill>
                <a:latin typeface="Courier"/>
                <a:cs typeface="Courier"/>
              </a:rPr>
              <a:t>”139 W45 St. "</a:t>
            </a:r>
            <a:r>
              <a:rPr lang="en-US" sz="1100" dirty="0">
                <a:solidFill>
                  <a:srgbClr val="FFFFFF"/>
                </a:solidFill>
                <a:latin typeface="Courier"/>
                <a:cs typeface="Courier"/>
              </a:rPr>
              <a:t>,</a:t>
            </a:r>
          </a:p>
          <a:p>
            <a:pPr marL="0" indent="0">
              <a:lnSpc>
                <a:spcPct val="100000"/>
              </a:lnSpc>
              <a:spcBef>
                <a:spcPts val="72"/>
              </a:spcBef>
              <a:buNone/>
            </a:pPr>
            <a:r>
              <a:rPr lang="en-US" sz="1100" dirty="0">
                <a:latin typeface="Courier"/>
                <a:cs typeface="Courier"/>
              </a:rPr>
              <a:t>        </a:t>
            </a:r>
            <a:r>
              <a:rPr lang="en-US" sz="1100" dirty="0">
                <a:solidFill>
                  <a:srgbClr val="FFFFFF"/>
                </a:solidFill>
                <a:latin typeface="Courier"/>
                <a:cs typeface="Courier"/>
              </a:rPr>
              <a:t>city:</a:t>
            </a:r>
            <a:r>
              <a:rPr lang="en-US" sz="1100" dirty="0">
                <a:latin typeface="Courier"/>
                <a:cs typeface="Courier"/>
              </a:rPr>
              <a:t> </a:t>
            </a:r>
            <a:r>
              <a:rPr lang="en-US" sz="1100" dirty="0">
                <a:solidFill>
                  <a:srgbClr val="F7D58F"/>
                </a:solidFill>
                <a:latin typeface="Courier"/>
                <a:cs typeface="Courier"/>
              </a:rPr>
              <a:t>”NY"</a:t>
            </a:r>
            <a:r>
              <a:rPr lang="en-US" sz="1100" dirty="0">
                <a:solidFill>
                  <a:srgbClr val="FFFFFF"/>
                </a:solidFill>
                <a:latin typeface="Courier"/>
                <a:cs typeface="Courier"/>
              </a:rPr>
              <a:t>,</a:t>
            </a:r>
          </a:p>
          <a:p>
            <a:pPr marL="0" indent="0">
              <a:lnSpc>
                <a:spcPct val="100000"/>
              </a:lnSpc>
              <a:spcBef>
                <a:spcPts val="72"/>
              </a:spcBef>
              <a:buNone/>
            </a:pPr>
            <a:r>
              <a:rPr lang="en-US" sz="1100" dirty="0">
                <a:latin typeface="Courier"/>
                <a:cs typeface="Courier"/>
              </a:rPr>
              <a:t>        </a:t>
            </a:r>
            <a:r>
              <a:rPr lang="en-US" sz="1100" dirty="0">
                <a:solidFill>
                  <a:srgbClr val="FFFFFF"/>
                </a:solidFill>
                <a:latin typeface="Courier"/>
                <a:cs typeface="Courier"/>
              </a:rPr>
              <a:t>state:</a:t>
            </a:r>
            <a:r>
              <a:rPr lang="en-US" sz="1100" dirty="0">
                <a:latin typeface="Courier"/>
                <a:cs typeface="Courier"/>
              </a:rPr>
              <a:t> </a:t>
            </a:r>
            <a:r>
              <a:rPr lang="en-US" sz="1100" dirty="0">
                <a:solidFill>
                  <a:srgbClr val="F7D58F"/>
                </a:solidFill>
                <a:latin typeface="Courier"/>
                <a:cs typeface="Courier"/>
              </a:rPr>
              <a:t>”NY"</a:t>
            </a:r>
            <a:r>
              <a:rPr lang="en-US" sz="1100" dirty="0">
                <a:solidFill>
                  <a:srgbClr val="FFFFFF"/>
                </a:solidFill>
                <a:latin typeface="Courier"/>
                <a:cs typeface="Courier"/>
              </a:rPr>
              <a:t>,</a:t>
            </a:r>
          </a:p>
          <a:p>
            <a:pPr marL="0" indent="0">
              <a:lnSpc>
                <a:spcPct val="100000"/>
              </a:lnSpc>
              <a:spcBef>
                <a:spcPts val="72"/>
              </a:spcBef>
              <a:buNone/>
            </a:pPr>
            <a:r>
              <a:rPr lang="en-US" sz="1100" dirty="0" smtClean="0">
                <a:solidFill>
                  <a:srgbClr val="FF6600"/>
                </a:solidFill>
                <a:latin typeface="Courier"/>
                <a:cs typeface="Courier"/>
              </a:rPr>
              <a:t>        country</a:t>
            </a:r>
            <a:r>
              <a:rPr lang="en-US" sz="1100" dirty="0">
                <a:solidFill>
                  <a:srgbClr val="FF6600"/>
                </a:solidFill>
                <a:latin typeface="Courier"/>
                <a:cs typeface="Courier"/>
              </a:rPr>
              <a:t>: </a:t>
            </a:r>
            <a:r>
              <a:rPr lang="en-US" sz="1100" dirty="0" smtClean="0">
                <a:solidFill>
                  <a:srgbClr val="F7D58F"/>
                </a:solidFill>
                <a:latin typeface="Courier"/>
                <a:cs typeface="Courier"/>
              </a:rPr>
              <a:t>”USA” </a:t>
            </a:r>
          </a:p>
          <a:p>
            <a:pPr marL="0" indent="0">
              <a:lnSpc>
                <a:spcPct val="100000"/>
              </a:lnSpc>
              <a:spcBef>
                <a:spcPts val="72"/>
              </a:spcBef>
              <a:buNone/>
            </a:pPr>
            <a:r>
              <a:rPr lang="en-US" sz="1100" dirty="0" smtClean="0">
                <a:solidFill>
                  <a:srgbClr val="FFFFFF"/>
                </a:solidFill>
                <a:latin typeface="Courier"/>
                <a:cs typeface="Courier"/>
              </a:rPr>
              <a:t>    }</a:t>
            </a:r>
          </a:p>
          <a:p>
            <a:pPr marL="0" indent="0">
              <a:lnSpc>
                <a:spcPct val="100000"/>
              </a:lnSpc>
              <a:spcBef>
                <a:spcPts val="72"/>
              </a:spcBef>
              <a:buNone/>
            </a:pPr>
            <a:r>
              <a:rPr lang="en-US" sz="1100" dirty="0" smtClean="0">
                <a:solidFill>
                  <a:srgbClr val="FFFFFF"/>
                </a:solidFill>
                <a:latin typeface="Courier"/>
                <a:cs typeface="Courier"/>
              </a:rPr>
              <a:t>}</a:t>
            </a:r>
            <a:endParaRPr lang="en-US" sz="1100" dirty="0">
              <a:latin typeface="Courier"/>
              <a:cs typeface="Courier"/>
            </a:endParaRPr>
          </a:p>
        </p:txBody>
      </p:sp>
    </p:spTree>
    <p:extLst>
      <p:ext uri="{BB962C8B-B14F-4D97-AF65-F5344CB8AC3E}">
        <p14:creationId xmlns:p14="http://schemas.microsoft.com/office/powerpoint/2010/main" val="3796705157"/>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Substructure Amplifies Agility</a:t>
            </a:r>
            <a:endParaRPr lang="en-US" dirty="0"/>
          </a:p>
        </p:txBody>
      </p:sp>
      <p:sp>
        <p:nvSpPr>
          <p:cNvPr id="2" name="Content Placeholder 1"/>
          <p:cNvSpPr>
            <a:spLocks noGrp="1"/>
          </p:cNvSpPr>
          <p:nvPr>
            <p:ph idx="1"/>
          </p:nvPr>
        </p:nvSpPr>
        <p:spPr>
          <a:xfrm>
            <a:off x="457199" y="1347794"/>
            <a:ext cx="8229601" cy="4974166"/>
          </a:xfrm>
        </p:spPr>
        <p:txBody>
          <a:bodyPr/>
          <a:lstStyle/>
          <a:p>
            <a:endParaRPr lang="en-US" dirty="0"/>
          </a:p>
        </p:txBody>
      </p:sp>
      <p:sp>
        <p:nvSpPr>
          <p:cNvPr id="5" name="Rectangle 4"/>
          <p:cNvSpPr/>
          <p:nvPr/>
        </p:nvSpPr>
        <p:spPr>
          <a:xfrm>
            <a:off x="479778" y="124548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Content Placeholder 3"/>
          <p:cNvSpPr txBox="1">
            <a:spLocks/>
          </p:cNvSpPr>
          <p:nvPr/>
        </p:nvSpPr>
        <p:spPr>
          <a:xfrm>
            <a:off x="800100" y="1502664"/>
            <a:ext cx="7719710"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spcBef>
                <a:spcPts val="72"/>
              </a:spcBef>
              <a:buNone/>
            </a:pPr>
            <a:r>
              <a:rPr lang="en-US" dirty="0" smtClean="0">
                <a:solidFill>
                  <a:srgbClr val="FFFFFF"/>
                </a:solidFill>
                <a:latin typeface="Courier"/>
                <a:cs typeface="Courier"/>
              </a:rPr>
              <a:t>&gt; </a:t>
            </a:r>
            <a:r>
              <a:rPr lang="en-US" dirty="0" err="1" smtClean="0">
                <a:solidFill>
                  <a:srgbClr val="FFFFFF"/>
                </a:solidFill>
                <a:latin typeface="Courier"/>
                <a:cs typeface="Courier"/>
              </a:rPr>
              <a:t>addr</a:t>
            </a:r>
            <a:r>
              <a:rPr lang="en-US" dirty="0" smtClean="0">
                <a:solidFill>
                  <a:srgbClr val="FFFFFF"/>
                </a:solidFill>
                <a:latin typeface="Courier"/>
                <a:cs typeface="Courier"/>
              </a:rPr>
              <a:t> = </a:t>
            </a:r>
            <a:r>
              <a:rPr lang="en-US" dirty="0" err="1">
                <a:solidFill>
                  <a:srgbClr val="FFFFFF"/>
                </a:solidFill>
                <a:latin typeface="Courier"/>
                <a:cs typeface="Courier"/>
              </a:rPr>
              <a:t>db.patrons.find</a:t>
            </a:r>
            <a:r>
              <a:rPr lang="en-US" dirty="0">
                <a:solidFill>
                  <a:srgbClr val="FFFFFF"/>
                </a:solidFill>
                <a:latin typeface="Courier"/>
                <a:cs typeface="Courier"/>
              </a:rPr>
              <a:t>(</a:t>
            </a:r>
            <a:r>
              <a:rPr lang="en-US" dirty="0" smtClean="0">
                <a:solidFill>
                  <a:srgbClr val="FFFFFF"/>
                </a:solidFill>
                <a:latin typeface="Courier"/>
                <a:cs typeface="Courier"/>
              </a:rPr>
              <a:t>{_id :“bob”},{</a:t>
            </a:r>
            <a:r>
              <a:rPr lang="en-US" dirty="0">
                <a:solidFill>
                  <a:srgbClr val="FFFFFF"/>
                </a:solidFill>
                <a:latin typeface="Courier"/>
                <a:cs typeface="Courier"/>
              </a:rPr>
              <a:t>“_id”: 0</a:t>
            </a:r>
            <a:r>
              <a:rPr lang="en-US" dirty="0" smtClean="0">
                <a:solidFill>
                  <a:srgbClr val="FFFFFF"/>
                </a:solidFill>
                <a:latin typeface="Courier"/>
                <a:cs typeface="Courier"/>
              </a:rPr>
              <a:t>,”</a:t>
            </a:r>
            <a:r>
              <a:rPr lang="en-US" dirty="0">
                <a:solidFill>
                  <a:srgbClr val="FFFFFF"/>
                </a:solidFill>
                <a:latin typeface="Courier"/>
                <a:cs typeface="Courier"/>
              </a:rPr>
              <a:t>address”:1})</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address: {</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street:</a:t>
            </a:r>
            <a:r>
              <a:rPr lang="en-US" dirty="0">
                <a:latin typeface="Courier"/>
                <a:cs typeface="Courier"/>
              </a:rPr>
              <a:t> </a:t>
            </a:r>
            <a:r>
              <a:rPr lang="en-US" dirty="0" smtClean="0">
                <a:solidFill>
                  <a:srgbClr val="F7D58F"/>
                </a:solidFill>
                <a:latin typeface="Courier"/>
                <a:cs typeface="Courier"/>
              </a:rPr>
              <a:t>”139 W45 St</a:t>
            </a:r>
            <a:r>
              <a:rPr lang="en-US" dirty="0">
                <a:solidFill>
                  <a:srgbClr val="F7D58F"/>
                </a:solidFill>
                <a:latin typeface="Courier"/>
                <a:cs typeface="Courier"/>
              </a:rPr>
              <a:t>. "</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city:</a:t>
            </a:r>
            <a:r>
              <a:rPr lang="en-US" dirty="0">
                <a:latin typeface="Courier"/>
                <a:cs typeface="Courier"/>
              </a:rPr>
              <a:t> </a:t>
            </a:r>
            <a:r>
              <a:rPr lang="en-US" dirty="0" smtClean="0">
                <a:solidFill>
                  <a:srgbClr val="F7D58F"/>
                </a:solidFill>
                <a:latin typeface="Courier"/>
                <a:cs typeface="Courier"/>
              </a:rPr>
              <a:t>”NY"</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state:</a:t>
            </a:r>
            <a:r>
              <a:rPr lang="en-US" dirty="0">
                <a:latin typeface="Courier"/>
                <a:cs typeface="Courier"/>
              </a:rPr>
              <a:t> </a:t>
            </a:r>
            <a:r>
              <a:rPr lang="en-US" dirty="0" smtClean="0">
                <a:solidFill>
                  <a:srgbClr val="F7D58F"/>
                </a:solidFill>
                <a:latin typeface="Courier"/>
                <a:cs typeface="Courier"/>
              </a:rPr>
              <a:t>”NY"</a:t>
            </a:r>
            <a:r>
              <a:rPr lang="en-US" dirty="0" smtClean="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a:t>
            </a:r>
            <a:r>
              <a:rPr lang="en-US" dirty="0" smtClean="0">
                <a:solidFill>
                  <a:srgbClr val="FFFFFF"/>
                </a:solidFill>
                <a:latin typeface="Courier"/>
                <a:cs typeface="Courier"/>
              </a:rPr>
              <a:t>       </a:t>
            </a:r>
            <a:r>
              <a:rPr lang="en-US" dirty="0" smtClean="0">
                <a:solidFill>
                  <a:srgbClr val="FF6600"/>
                </a:solidFill>
                <a:latin typeface="Courier"/>
                <a:cs typeface="Courier"/>
              </a:rPr>
              <a:t>country</a:t>
            </a:r>
            <a:r>
              <a:rPr lang="en-US" dirty="0" smtClean="0">
                <a:solidFill>
                  <a:srgbClr val="FFFFFF"/>
                </a:solidFill>
                <a:latin typeface="Courier"/>
                <a:cs typeface="Courier"/>
              </a:rPr>
              <a:t>: </a:t>
            </a:r>
            <a:r>
              <a:rPr lang="en-US" dirty="0" smtClean="0">
                <a:solidFill>
                  <a:srgbClr val="F7D58F"/>
                </a:solidFill>
                <a:latin typeface="Courier"/>
                <a:cs typeface="Courier"/>
              </a:rPr>
              <a:t>”USA”</a:t>
            </a:r>
          </a:p>
          <a:p>
            <a:pPr marL="0" indent="0">
              <a:lnSpc>
                <a:spcPct val="100000"/>
              </a:lnSpc>
              <a:spcBef>
                <a:spcPts val="72"/>
              </a:spcBef>
              <a:buNone/>
            </a:pPr>
            <a:r>
              <a:rPr lang="en-US" dirty="0">
                <a:solidFill>
                  <a:srgbClr val="F7D58F"/>
                </a:solidFill>
                <a:latin typeface="Courier"/>
                <a:cs typeface="Courier"/>
              </a:rPr>
              <a:t> </a:t>
            </a:r>
            <a:r>
              <a:rPr lang="en-US" dirty="0" smtClean="0">
                <a:solidFill>
                  <a:srgbClr val="F7D58F"/>
                </a:solidFill>
                <a:latin typeface="Courier"/>
                <a:cs typeface="Courier"/>
              </a:rPr>
              <a:t>  </a:t>
            </a:r>
            <a:r>
              <a:rPr lang="en-US" dirty="0" smtClean="0">
                <a:solidFill>
                  <a:srgbClr val="FFFFFF"/>
                </a:solidFill>
                <a:latin typeface="Courier"/>
                <a:cs typeface="Courier"/>
              </a:rPr>
              <a:t>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endParaRPr lang="en-US" dirty="0" smtClean="0">
              <a:solidFill>
                <a:srgbClr val="FFFFFF"/>
              </a:solidFill>
              <a:latin typeface="Courier"/>
              <a:cs typeface="Courier"/>
            </a:endParaRPr>
          </a:p>
          <a:p>
            <a:pPr marL="0" indent="0">
              <a:lnSpc>
                <a:spcPct val="100000"/>
              </a:lnSpc>
              <a:spcBef>
                <a:spcPts val="72"/>
              </a:spcBef>
              <a:buNone/>
            </a:pPr>
            <a:endParaRPr lang="en-US" dirty="0" smtClean="0">
              <a:solidFill>
                <a:srgbClr val="FFFFFF"/>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 Pass the whole Map to this function:</a:t>
            </a:r>
          </a:p>
          <a:p>
            <a:pPr marL="0" indent="0">
              <a:lnSpc>
                <a:spcPct val="100000"/>
              </a:lnSpc>
              <a:spcBef>
                <a:spcPts val="72"/>
              </a:spcBef>
              <a:buNone/>
            </a:pPr>
            <a:r>
              <a:rPr lang="en-US" dirty="0" err="1" smtClean="0">
                <a:solidFill>
                  <a:srgbClr val="FFFFFF"/>
                </a:solidFill>
                <a:latin typeface="Courier"/>
                <a:cs typeface="Courier"/>
              </a:rPr>
              <a:t>doSomethingWithOneAddress</a:t>
            </a:r>
            <a:r>
              <a:rPr lang="en-US" dirty="0" smtClean="0">
                <a:solidFill>
                  <a:srgbClr val="FFFFFF"/>
                </a:solidFill>
                <a:latin typeface="Courier"/>
                <a:cs typeface="Courier"/>
              </a:rPr>
              <a:t>(</a:t>
            </a:r>
            <a:r>
              <a:rPr lang="en-US" dirty="0" err="1" smtClean="0">
                <a:solidFill>
                  <a:srgbClr val="FFFFFF"/>
                </a:solidFill>
                <a:latin typeface="Courier"/>
                <a:cs typeface="Courier"/>
              </a:rPr>
              <a:t>addr</a:t>
            </a:r>
            <a:r>
              <a:rPr lang="en-US" dirty="0" smtClean="0">
                <a:solidFill>
                  <a:srgbClr val="FFFFFF"/>
                </a:solidFill>
                <a:latin typeface="Courier"/>
                <a:cs typeface="Courier"/>
              </a:rPr>
              <a:t>);</a:t>
            </a:r>
          </a:p>
          <a:p>
            <a:pPr marL="0" indent="0">
              <a:spcBef>
                <a:spcPts val="72"/>
              </a:spcBef>
              <a:buNone/>
            </a:pPr>
            <a:endParaRPr lang="en-US" dirty="0" smtClean="0">
              <a:solidFill>
                <a:srgbClr val="FFFFFF"/>
              </a:solidFill>
              <a:latin typeface="Courier"/>
              <a:cs typeface="Courier"/>
            </a:endParaRPr>
          </a:p>
          <a:p>
            <a:pPr marL="0" indent="0">
              <a:spcBef>
                <a:spcPts val="72"/>
              </a:spcBef>
              <a:buNone/>
            </a:pPr>
            <a:endParaRPr lang="en-US" dirty="0" smtClean="0">
              <a:solidFill>
                <a:srgbClr val="FFFFFF"/>
              </a:solidFill>
              <a:latin typeface="Courier"/>
              <a:cs typeface="Courier"/>
            </a:endParaRPr>
          </a:p>
          <a:p>
            <a:pPr marL="0" indent="0">
              <a:spcBef>
                <a:spcPts val="72"/>
              </a:spcBef>
              <a:buNone/>
            </a:pPr>
            <a:r>
              <a:rPr lang="en-US" dirty="0" err="1" smtClean="0">
                <a:solidFill>
                  <a:srgbClr val="FFFFFF"/>
                </a:solidFill>
                <a:latin typeface="Courier"/>
                <a:cs typeface="Courier"/>
              </a:rPr>
              <a:t>doSomethingWithOneAddress</a:t>
            </a:r>
            <a:r>
              <a:rPr lang="en-US" dirty="0" smtClean="0">
                <a:solidFill>
                  <a:srgbClr val="FFFFFF"/>
                </a:solidFill>
                <a:latin typeface="Courier"/>
                <a:cs typeface="Courier"/>
              </a:rPr>
              <a:t>(Map </a:t>
            </a:r>
            <a:r>
              <a:rPr lang="en-US" dirty="0" err="1" smtClean="0">
                <a:solidFill>
                  <a:srgbClr val="FFFFFF"/>
                </a:solidFill>
                <a:latin typeface="Courier"/>
                <a:cs typeface="Courier"/>
              </a:rPr>
              <a:t>addr</a:t>
            </a:r>
            <a:r>
              <a:rPr lang="en-US" dirty="0" smtClean="0">
                <a:solidFill>
                  <a:srgbClr val="FFFFFF"/>
                </a:solidFill>
                <a:latin typeface="Courier"/>
                <a:cs typeface="Courier"/>
              </a:rPr>
              <a:t>)</a:t>
            </a:r>
          </a:p>
          <a:p>
            <a:pPr marL="0" indent="0">
              <a:spcBef>
                <a:spcPts val="72"/>
              </a:spcBef>
              <a:buNone/>
            </a:pPr>
            <a:r>
              <a:rPr lang="en-US" dirty="0" smtClean="0">
                <a:solidFill>
                  <a:srgbClr val="FFFFFF"/>
                </a:solidFill>
                <a:latin typeface="Courier"/>
                <a:cs typeface="Courier"/>
              </a:rPr>
              <a:t>{ // Look for state </a:t>
            </a:r>
            <a:r>
              <a:rPr lang="en-US" dirty="0" smtClean="0">
                <a:solidFill>
                  <a:srgbClr val="FF6600"/>
                </a:solidFill>
                <a:latin typeface="Courier"/>
                <a:cs typeface="Courier"/>
              </a:rPr>
              <a:t>and optional country </a:t>
            </a: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endParaRPr lang="en-US" dirty="0" smtClean="0">
              <a:solidFill>
                <a:srgbClr val="FFFFFF"/>
              </a:solidFill>
              <a:latin typeface="Courier"/>
              <a:cs typeface="Courier"/>
            </a:endParaRPr>
          </a:p>
        </p:txBody>
      </p:sp>
      <p:sp>
        <p:nvSpPr>
          <p:cNvPr id="7" name="Rectangle 6"/>
          <p:cNvSpPr/>
          <p:nvPr/>
        </p:nvSpPr>
        <p:spPr>
          <a:xfrm>
            <a:off x="6189500" y="2360828"/>
            <a:ext cx="2330310" cy="696761"/>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bg1"/>
                </a:solidFill>
              </a:rPr>
              <a:t>NO CHANGE</a:t>
            </a:r>
          </a:p>
          <a:p>
            <a:pPr algn="ctr"/>
            <a:r>
              <a:rPr lang="en-US" dirty="0" smtClean="0">
                <a:solidFill>
                  <a:schemeClr val="bg1"/>
                </a:solidFill>
              </a:rPr>
              <a:t>to queries</a:t>
            </a:r>
            <a:endParaRPr lang="en-US" dirty="0">
              <a:solidFill>
                <a:schemeClr val="bg1"/>
              </a:solidFill>
            </a:endParaRPr>
          </a:p>
        </p:txBody>
      </p:sp>
      <p:sp>
        <p:nvSpPr>
          <p:cNvPr id="9" name="Rectangle 8"/>
          <p:cNvSpPr/>
          <p:nvPr/>
        </p:nvSpPr>
        <p:spPr>
          <a:xfrm>
            <a:off x="6189500" y="5040671"/>
            <a:ext cx="2330310" cy="1010977"/>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chemeClr val="bg1"/>
                </a:solidFill>
              </a:rPr>
              <a:t>Only the single implementation that looks for country needs to change</a:t>
            </a:r>
            <a:endParaRPr lang="en-US" sz="1600" dirty="0">
              <a:solidFill>
                <a:schemeClr val="bg1"/>
              </a:solidFill>
            </a:endParaRPr>
          </a:p>
        </p:txBody>
      </p:sp>
      <p:cxnSp>
        <p:nvCxnSpPr>
          <p:cNvPr id="10" name="Straight Arrow Connector 9"/>
          <p:cNvCxnSpPr/>
          <p:nvPr/>
        </p:nvCxnSpPr>
        <p:spPr>
          <a:xfrm flipV="1">
            <a:off x="7348490" y="1837019"/>
            <a:ext cx="0" cy="49316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a:stCxn id="17" idx="1"/>
          </p:cNvCxnSpPr>
          <p:nvPr/>
        </p:nvCxnSpPr>
        <p:spPr>
          <a:xfrm flipH="1">
            <a:off x="4882554" y="4185519"/>
            <a:ext cx="1300781" cy="54881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a:off x="5301763" y="5498729"/>
            <a:ext cx="88773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183335" y="3680030"/>
            <a:ext cx="2330310" cy="1010977"/>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bg1"/>
                </a:solidFill>
              </a:rPr>
              <a:t>NO COMPILE-TIME DEPENDENCIES when passing Maps</a:t>
            </a:r>
            <a:endParaRPr lang="en-US" dirty="0">
              <a:solidFill>
                <a:schemeClr val="bg1"/>
              </a:solidFill>
            </a:endParaRPr>
          </a:p>
        </p:txBody>
      </p:sp>
    </p:spTree>
    <p:extLst>
      <p:ext uri="{BB962C8B-B14F-4D97-AF65-F5344CB8AC3E}">
        <p14:creationId xmlns:p14="http://schemas.microsoft.com/office/powerpoint/2010/main" val="318876762"/>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The Advantage over Rectangles</a:t>
            </a:r>
            <a:endParaRPr lang="en-US" dirty="0"/>
          </a:p>
        </p:txBody>
      </p:sp>
      <p:sp>
        <p:nvSpPr>
          <p:cNvPr id="2" name="Content Placeholder 1"/>
          <p:cNvSpPr>
            <a:spLocks noGrp="1"/>
          </p:cNvSpPr>
          <p:nvPr>
            <p:ph idx="1"/>
          </p:nvPr>
        </p:nvSpPr>
        <p:spPr>
          <a:xfrm>
            <a:off x="604154" y="1347794"/>
            <a:ext cx="8082646" cy="4974166"/>
          </a:xfrm>
        </p:spPr>
        <p:txBody>
          <a:bodyPr/>
          <a:lstStyle/>
          <a:p>
            <a:endParaRPr lang="en-US" dirty="0"/>
          </a:p>
        </p:txBody>
      </p:sp>
      <p:sp>
        <p:nvSpPr>
          <p:cNvPr id="5" name="Rectangle 4"/>
          <p:cNvSpPr/>
          <p:nvPr/>
        </p:nvSpPr>
        <p:spPr>
          <a:xfrm>
            <a:off x="479778" y="124548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Content Placeholder 3"/>
          <p:cNvSpPr txBox="1">
            <a:spLocks/>
          </p:cNvSpPr>
          <p:nvPr/>
        </p:nvSpPr>
        <p:spPr>
          <a:xfrm>
            <a:off x="800100" y="1502664"/>
            <a:ext cx="7719710"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spcBef>
                <a:spcPts val="72"/>
              </a:spcBef>
              <a:buNone/>
            </a:pPr>
            <a:r>
              <a:rPr lang="en-US" dirty="0" err="1" smtClean="0">
                <a:solidFill>
                  <a:srgbClr val="FFFFFF"/>
                </a:solidFill>
                <a:latin typeface="Courier"/>
                <a:cs typeface="Courier"/>
              </a:rPr>
              <a:t>resultSet</a:t>
            </a:r>
            <a:r>
              <a:rPr lang="en-US" dirty="0" smtClean="0">
                <a:solidFill>
                  <a:srgbClr val="FFFFFF"/>
                </a:solidFill>
                <a:latin typeface="Courier"/>
                <a:cs typeface="Courier"/>
              </a:rPr>
              <a:t> = select street, state, city, </a:t>
            </a:r>
            <a:r>
              <a:rPr lang="en-US" dirty="0" smtClean="0">
                <a:solidFill>
                  <a:srgbClr val="FF6600"/>
                </a:solidFill>
                <a:latin typeface="Courier"/>
                <a:cs typeface="Courier"/>
              </a:rPr>
              <a:t>country</a:t>
            </a:r>
            <a:r>
              <a:rPr lang="en-US" dirty="0" smtClean="0">
                <a:solidFill>
                  <a:srgbClr val="FFFFFF"/>
                </a:solidFill>
                <a:latin typeface="Courier"/>
                <a:cs typeface="Courier"/>
              </a:rPr>
              <a:t>, …</a:t>
            </a: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endParaRPr lang="en-US" dirty="0" smtClean="0">
              <a:solidFill>
                <a:srgbClr val="FFFFFF"/>
              </a:solidFill>
              <a:latin typeface="Courier"/>
              <a:cs typeface="Courier"/>
            </a:endParaRP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endParaRPr lang="en-US" dirty="0" smtClean="0">
              <a:solidFill>
                <a:srgbClr val="FFFFFF"/>
              </a:solidFill>
              <a:latin typeface="Courier"/>
              <a:cs typeface="Courier"/>
            </a:endParaRP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endParaRPr lang="en-US" dirty="0" smtClean="0">
              <a:solidFill>
                <a:srgbClr val="FFFFFF"/>
              </a:solidFill>
              <a:latin typeface="Courier"/>
              <a:cs typeface="Courier"/>
            </a:endParaRP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endParaRPr lang="en-US" dirty="0" smtClean="0">
              <a:solidFill>
                <a:srgbClr val="FFFFFF"/>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Map </a:t>
            </a:r>
            <a:r>
              <a:rPr lang="en-US" dirty="0" err="1" smtClean="0">
                <a:solidFill>
                  <a:srgbClr val="FFFFFF"/>
                </a:solidFill>
                <a:latin typeface="Courier"/>
                <a:cs typeface="Courier"/>
              </a:rPr>
              <a:t>addr</a:t>
            </a:r>
            <a:r>
              <a:rPr lang="en-US" dirty="0" smtClean="0">
                <a:solidFill>
                  <a:srgbClr val="FFFFFF"/>
                </a:solidFill>
                <a:latin typeface="Courier"/>
                <a:cs typeface="Courier"/>
              </a:rPr>
              <a:t> = </a:t>
            </a:r>
            <a:r>
              <a:rPr lang="en-US" dirty="0" err="1" smtClean="0">
                <a:solidFill>
                  <a:srgbClr val="FFFFFF"/>
                </a:solidFill>
                <a:latin typeface="Courier"/>
                <a:cs typeface="Courier"/>
              </a:rPr>
              <a:t>processIntoMap</a:t>
            </a:r>
            <a:r>
              <a:rPr lang="en-US" dirty="0" smtClean="0">
                <a:solidFill>
                  <a:srgbClr val="FFFFFF"/>
                </a:solidFill>
                <a:latin typeface="Courier"/>
                <a:cs typeface="Courier"/>
              </a:rPr>
              <a:t>(</a:t>
            </a:r>
            <a:r>
              <a:rPr lang="en-US" dirty="0" err="1" smtClean="0">
                <a:solidFill>
                  <a:srgbClr val="FFFFFF"/>
                </a:solidFill>
                <a:latin typeface="Courier"/>
                <a:cs typeface="Courier"/>
              </a:rPr>
              <a:t>resultSet</a:t>
            </a:r>
            <a:r>
              <a:rPr lang="en-US" dirty="0" smtClean="0">
                <a:solidFill>
                  <a:srgbClr val="FFFFFF"/>
                </a:solidFill>
                <a:latin typeface="Courier"/>
                <a:cs typeface="Courier"/>
              </a:rPr>
              <a:t>);</a:t>
            </a: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r>
              <a:rPr lang="en-US" dirty="0">
                <a:solidFill>
                  <a:srgbClr val="FFFFFF"/>
                </a:solidFill>
                <a:latin typeface="Courier"/>
                <a:cs typeface="Courier"/>
              </a:rPr>
              <a:t>// Pass the whole Map to this function:</a:t>
            </a:r>
          </a:p>
          <a:p>
            <a:pPr marL="0" indent="0">
              <a:lnSpc>
                <a:spcPct val="100000"/>
              </a:lnSpc>
              <a:spcBef>
                <a:spcPts val="72"/>
              </a:spcBef>
              <a:buNone/>
            </a:pPr>
            <a:r>
              <a:rPr lang="en-US" dirty="0" err="1">
                <a:solidFill>
                  <a:srgbClr val="FFFFFF"/>
                </a:solidFill>
                <a:latin typeface="Courier"/>
                <a:cs typeface="Courier"/>
              </a:rPr>
              <a:t>doSomethingWithOneAddress</a:t>
            </a:r>
            <a:r>
              <a:rPr lang="en-US" dirty="0">
                <a:solidFill>
                  <a:srgbClr val="FFFFFF"/>
                </a:solidFill>
                <a:latin typeface="Courier"/>
                <a:cs typeface="Courier"/>
              </a:rPr>
              <a:t>(</a:t>
            </a:r>
            <a:r>
              <a:rPr lang="en-US" dirty="0" err="1">
                <a:solidFill>
                  <a:srgbClr val="FFFFFF"/>
                </a:solidFill>
                <a:latin typeface="Courier"/>
                <a:cs typeface="Courier"/>
              </a:rPr>
              <a:t>addr</a:t>
            </a:r>
            <a:r>
              <a:rPr lang="en-US" dirty="0">
                <a:solidFill>
                  <a:srgbClr val="FFFFFF"/>
                </a:solidFill>
                <a:latin typeface="Courier"/>
                <a:cs typeface="Courier"/>
              </a:rPr>
              <a:t>);</a:t>
            </a:r>
          </a:p>
          <a:p>
            <a:pPr marL="0" indent="0">
              <a:spcBef>
                <a:spcPts val="72"/>
              </a:spcBef>
              <a:buNone/>
            </a:pPr>
            <a:endParaRPr lang="en-US" dirty="0">
              <a:solidFill>
                <a:srgbClr val="FFFFFF"/>
              </a:solidFill>
              <a:latin typeface="Courier"/>
              <a:cs typeface="Courier"/>
            </a:endParaRPr>
          </a:p>
          <a:p>
            <a:pPr marL="0" indent="0">
              <a:spcBef>
                <a:spcPts val="72"/>
              </a:spcBef>
              <a:buNone/>
            </a:pPr>
            <a:endParaRPr lang="en-US" dirty="0" smtClean="0">
              <a:solidFill>
                <a:srgbClr val="FFFFFF"/>
              </a:solidFill>
              <a:latin typeface="Courier"/>
              <a:cs typeface="Courier"/>
            </a:endParaRPr>
          </a:p>
          <a:p>
            <a:pPr marL="0" indent="0">
              <a:spcBef>
                <a:spcPts val="72"/>
              </a:spcBef>
              <a:buNone/>
            </a:pPr>
            <a:r>
              <a:rPr lang="en-US" dirty="0" err="1" smtClean="0">
                <a:solidFill>
                  <a:srgbClr val="FFFFFF"/>
                </a:solidFill>
                <a:latin typeface="Courier"/>
                <a:cs typeface="Courier"/>
              </a:rPr>
              <a:t>doSomethingWithOneAddress</a:t>
            </a:r>
            <a:r>
              <a:rPr lang="en-US" dirty="0">
                <a:solidFill>
                  <a:srgbClr val="FFFFFF"/>
                </a:solidFill>
                <a:latin typeface="Courier"/>
                <a:cs typeface="Courier"/>
              </a:rPr>
              <a:t>(Map </a:t>
            </a:r>
            <a:r>
              <a:rPr lang="en-US" dirty="0" err="1">
                <a:solidFill>
                  <a:srgbClr val="FFFFFF"/>
                </a:solidFill>
                <a:latin typeface="Courier"/>
                <a:cs typeface="Courier"/>
              </a:rPr>
              <a:t>addr</a:t>
            </a: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 // Look for state </a:t>
            </a:r>
            <a:r>
              <a:rPr lang="en-US" dirty="0">
                <a:solidFill>
                  <a:srgbClr val="FF6600"/>
                </a:solidFill>
                <a:latin typeface="Courier"/>
                <a:cs typeface="Courier"/>
              </a:rPr>
              <a:t>and </a:t>
            </a:r>
            <a:r>
              <a:rPr lang="en-US" dirty="0" smtClean="0">
                <a:solidFill>
                  <a:srgbClr val="FF6600"/>
                </a:solidFill>
                <a:latin typeface="Courier"/>
                <a:cs typeface="Courier"/>
              </a:rPr>
              <a:t>optional country </a:t>
            </a:r>
            <a:r>
              <a:rPr lang="en-US" dirty="0">
                <a:solidFill>
                  <a:srgbClr val="FFFFFF"/>
                </a:solidFill>
                <a:latin typeface="Courier"/>
                <a:cs typeface="Courier"/>
              </a:rPr>
              <a:t>}</a:t>
            </a: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endParaRPr lang="en-US" dirty="0" smtClean="0">
              <a:solidFill>
                <a:srgbClr val="FFFFFF"/>
              </a:solidFill>
              <a:latin typeface="Courier"/>
              <a:cs typeface="Courier"/>
            </a:endParaRP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endParaRPr lang="en-US" dirty="0">
              <a:solidFill>
                <a:srgbClr val="FFFFFF"/>
              </a:solidFill>
              <a:latin typeface="Courier"/>
              <a:cs typeface="Courier"/>
            </a:endParaRPr>
          </a:p>
        </p:txBody>
      </p:sp>
      <p:sp>
        <p:nvSpPr>
          <p:cNvPr id="12" name="Rectangle 11"/>
          <p:cNvSpPr/>
          <p:nvPr/>
        </p:nvSpPr>
        <p:spPr>
          <a:xfrm>
            <a:off x="6189500" y="2360828"/>
            <a:ext cx="2330310" cy="696761"/>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chemeClr val="tx1"/>
                </a:solidFill>
              </a:rPr>
              <a:t>Queries must change to pick up new columns</a:t>
            </a:r>
            <a:endParaRPr lang="en-US" sz="1600" dirty="0">
              <a:solidFill>
                <a:schemeClr val="tx1"/>
              </a:solidFill>
            </a:endParaRPr>
          </a:p>
        </p:txBody>
      </p:sp>
      <p:cxnSp>
        <p:nvCxnSpPr>
          <p:cNvPr id="13" name="Straight Arrow Connector 12"/>
          <p:cNvCxnSpPr/>
          <p:nvPr/>
        </p:nvCxnSpPr>
        <p:spPr>
          <a:xfrm flipH="1" flipV="1">
            <a:off x="6497742" y="1837019"/>
            <a:ext cx="850748" cy="49316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183335" y="3482766"/>
            <a:ext cx="2330310" cy="1010977"/>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chemeClr val="tx1"/>
                </a:solidFill>
              </a:rPr>
              <a:t>Compile-time dependency to process new columns to Map</a:t>
            </a:r>
            <a:endParaRPr lang="en-US" sz="1600" dirty="0">
              <a:solidFill>
                <a:schemeClr val="tx1"/>
              </a:solidFill>
            </a:endParaRPr>
          </a:p>
        </p:txBody>
      </p:sp>
      <p:cxnSp>
        <p:nvCxnSpPr>
          <p:cNvPr id="16" name="Straight Arrow Connector 15"/>
          <p:cNvCxnSpPr>
            <a:stCxn id="15" idx="1"/>
          </p:cNvCxnSpPr>
          <p:nvPr/>
        </p:nvCxnSpPr>
        <p:spPr>
          <a:xfrm flipH="1">
            <a:off x="5449720" y="3988255"/>
            <a:ext cx="73361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2655089"/>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Substructure Scales For Change</a:t>
            </a:r>
            <a:endParaRPr lang="en-US" dirty="0"/>
          </a:p>
        </p:txBody>
      </p:sp>
      <p:sp>
        <p:nvSpPr>
          <p:cNvPr id="2" name="Content Placeholder 1"/>
          <p:cNvSpPr>
            <a:spLocks noGrp="1"/>
          </p:cNvSpPr>
          <p:nvPr>
            <p:ph idx="1"/>
          </p:nvPr>
        </p:nvSpPr>
        <p:spPr>
          <a:xfrm>
            <a:off x="690462" y="1471084"/>
            <a:ext cx="7829348" cy="4693410"/>
          </a:xfrm>
        </p:spPr>
        <p:txBody>
          <a:bodyPr/>
          <a:lstStyle/>
          <a:p>
            <a:endParaRPr lang="en-US" dirty="0"/>
          </a:p>
        </p:txBody>
      </p:sp>
      <p:sp>
        <p:nvSpPr>
          <p:cNvPr id="5" name="Rectangle 4"/>
          <p:cNvSpPr/>
          <p:nvPr/>
        </p:nvSpPr>
        <p:spPr>
          <a:xfrm>
            <a:off x="477976" y="1227029"/>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smtClean="0"/>
          </a:p>
          <a:p>
            <a:pPr algn="ctr"/>
            <a:endParaRPr lang="en-US" dirty="0" smtClean="0">
              <a:solidFill>
                <a:srgbClr val="FFFFFF"/>
              </a:solidFill>
              <a:latin typeface="Courier"/>
              <a:cs typeface="Courier"/>
            </a:endParaRPr>
          </a:p>
        </p:txBody>
      </p:sp>
      <p:sp>
        <p:nvSpPr>
          <p:cNvPr id="6" name="Content Placeholder 3"/>
          <p:cNvSpPr txBox="1">
            <a:spLocks/>
          </p:cNvSpPr>
          <p:nvPr/>
        </p:nvSpPr>
        <p:spPr>
          <a:xfrm>
            <a:off x="800100" y="1625954"/>
            <a:ext cx="7719710"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spcBef>
                <a:spcPts val="72"/>
              </a:spcBef>
              <a:buNone/>
            </a:pPr>
            <a:r>
              <a:rPr lang="en-US" sz="2000" dirty="0" err="1" smtClean="0">
                <a:solidFill>
                  <a:srgbClr val="FFFFFF"/>
                </a:solidFill>
                <a:latin typeface="Courier"/>
                <a:cs typeface="Courier"/>
              </a:rPr>
              <a:t>MongoDB</a:t>
            </a:r>
            <a:endParaRPr lang="en-US" sz="2000" dirty="0" smtClean="0">
              <a:solidFill>
                <a:srgbClr val="FFFFFF"/>
              </a:solidFill>
              <a:latin typeface="Courier"/>
              <a:cs typeface="Courier"/>
            </a:endParaRPr>
          </a:p>
          <a:p>
            <a:pPr marL="0" indent="0">
              <a:lnSpc>
                <a:spcPct val="100000"/>
              </a:lnSpc>
              <a:spcBef>
                <a:spcPts val="72"/>
              </a:spcBef>
              <a:buNone/>
            </a:pPr>
            <a:endParaRPr lang="en-US" dirty="0" smtClean="0">
              <a:solidFill>
                <a:srgbClr val="FFFFFF"/>
              </a:solidFill>
              <a:latin typeface="Courier"/>
              <a:cs typeface="Courier"/>
            </a:endParaRPr>
          </a:p>
          <a:p>
            <a:pPr marL="0" indent="0">
              <a:lnSpc>
                <a:spcPct val="100000"/>
              </a:lnSpc>
              <a:spcBef>
                <a:spcPts val="72"/>
              </a:spcBef>
              <a:buNone/>
            </a:pPr>
            <a:r>
              <a:rPr lang="en-US" dirty="0" err="1" smtClean="0">
                <a:solidFill>
                  <a:srgbClr val="FFFFFF"/>
                </a:solidFill>
                <a:latin typeface="Courier"/>
                <a:cs typeface="Courier"/>
              </a:rPr>
              <a:t>db.patrons.find</a:t>
            </a:r>
            <a:r>
              <a:rPr lang="en-US" dirty="0">
                <a:solidFill>
                  <a:srgbClr val="FFFFFF"/>
                </a:solidFill>
                <a:latin typeface="Courier"/>
                <a:cs typeface="Courier"/>
              </a:rPr>
              <a:t>(</a:t>
            </a:r>
            <a:r>
              <a:rPr lang="en-US" dirty="0" smtClean="0">
                <a:solidFill>
                  <a:srgbClr val="FFFFFF"/>
                </a:solidFill>
                <a:latin typeface="Courier"/>
                <a:cs typeface="Courier"/>
              </a:rPr>
              <a:t>{},</a:t>
            </a:r>
            <a:br>
              <a:rPr lang="en-US" dirty="0" smtClean="0">
                <a:solidFill>
                  <a:srgbClr val="FFFFFF"/>
                </a:solidFill>
                <a:latin typeface="Courier"/>
                <a:cs typeface="Courier"/>
              </a:rPr>
            </a:br>
            <a:r>
              <a:rPr lang="en-US" dirty="0" smtClean="0">
                <a:solidFill>
                  <a:srgbClr val="FFFFFF"/>
                </a:solidFill>
                <a:latin typeface="Courier"/>
                <a:cs typeface="Courier"/>
              </a:rPr>
              <a:t>{”myAddress</a:t>
            </a:r>
            <a:r>
              <a:rPr lang="en-US" dirty="0">
                <a:solidFill>
                  <a:srgbClr val="FFFFFF"/>
                </a:solidFill>
                <a:latin typeface="Courier"/>
                <a:cs typeface="Courier"/>
              </a:rPr>
              <a:t>”:</a:t>
            </a:r>
            <a:r>
              <a:rPr lang="en-US" dirty="0" smtClean="0">
                <a:solidFill>
                  <a:srgbClr val="FFFFFF"/>
                </a:solidFill>
                <a:latin typeface="Courier"/>
                <a:cs typeface="Courier"/>
              </a:rPr>
              <a:t>1,”yourAddress”:1,”brokerAddress”:1,</a:t>
            </a:r>
          </a:p>
          <a:p>
            <a:pPr marL="0" indent="0">
              <a:lnSpc>
                <a:spcPct val="100000"/>
              </a:lnSpc>
              <a:spcBef>
                <a:spcPts val="72"/>
              </a:spcBef>
              <a:buNone/>
            </a:pPr>
            <a:r>
              <a:rPr lang="en-US" dirty="0" smtClean="0">
                <a:solidFill>
                  <a:srgbClr val="FFFFFF"/>
                </a:solidFill>
                <a:latin typeface="Courier"/>
                <a:cs typeface="Courier"/>
              </a:rPr>
              <a:t>“momsAddress”:1, …})</a:t>
            </a:r>
          </a:p>
          <a:p>
            <a:pPr>
              <a:lnSpc>
                <a:spcPct val="100000"/>
              </a:lnSpc>
              <a:spcBef>
                <a:spcPts val="72"/>
              </a:spcBef>
              <a:buFont typeface="Wingdings" charset="0"/>
              <a:buChar char="Ø"/>
            </a:pPr>
            <a:endParaRPr lang="en-US" dirty="0" smtClean="0">
              <a:solidFill>
                <a:srgbClr val="FFFFFF"/>
              </a:solidFill>
              <a:latin typeface="Courier"/>
              <a:cs typeface="Courier"/>
            </a:endParaRPr>
          </a:p>
          <a:p>
            <a:pPr marL="0" indent="0">
              <a:lnSpc>
                <a:spcPct val="100000"/>
              </a:lnSpc>
              <a:spcBef>
                <a:spcPts val="72"/>
              </a:spcBef>
              <a:buNone/>
            </a:pPr>
            <a:endParaRPr lang="en-US" dirty="0">
              <a:solidFill>
                <a:srgbClr val="FFFFFF"/>
              </a:solidFill>
              <a:latin typeface="Courier"/>
              <a:cs typeface="Courier"/>
            </a:endParaRPr>
          </a:p>
          <a:p>
            <a:pPr marL="0" indent="0">
              <a:spcBef>
                <a:spcPts val="72"/>
              </a:spcBef>
              <a:buNone/>
            </a:pPr>
            <a:endParaRPr lang="en-US" dirty="0" smtClean="0">
              <a:solidFill>
                <a:srgbClr val="FFFFFF"/>
              </a:solidFill>
              <a:latin typeface="Courier"/>
              <a:cs typeface="Courier"/>
            </a:endParaRPr>
          </a:p>
          <a:p>
            <a:pPr marL="0" indent="0">
              <a:spcBef>
                <a:spcPts val="72"/>
              </a:spcBef>
              <a:buNone/>
            </a:pPr>
            <a:r>
              <a:rPr lang="en-US" sz="2000" dirty="0" smtClean="0">
                <a:solidFill>
                  <a:srgbClr val="FFFFFF"/>
                </a:solidFill>
                <a:latin typeface="Courier"/>
                <a:cs typeface="Courier"/>
              </a:rPr>
              <a:t>Traditional SQL</a:t>
            </a:r>
          </a:p>
          <a:p>
            <a:pPr marL="0" indent="0">
              <a:spcBef>
                <a:spcPts val="72"/>
              </a:spcBef>
              <a:buNone/>
            </a:pPr>
            <a:r>
              <a:rPr lang="en-US" dirty="0">
                <a:solidFill>
                  <a:srgbClr val="FFFFFF"/>
                </a:solidFill>
                <a:latin typeface="Courier"/>
                <a:cs typeface="Courier"/>
              </a:rPr>
              <a:t/>
            </a:r>
            <a:br>
              <a:rPr lang="en-US" dirty="0">
                <a:solidFill>
                  <a:srgbClr val="FFFFFF"/>
                </a:solidFill>
                <a:latin typeface="Courier"/>
                <a:cs typeface="Courier"/>
              </a:rPr>
            </a:br>
            <a:r>
              <a:rPr lang="en-US" dirty="0" err="1">
                <a:solidFill>
                  <a:schemeClr val="bg1"/>
                </a:solidFill>
                <a:latin typeface="Courier"/>
                <a:cs typeface="Courier"/>
              </a:rPr>
              <a:t>resultSet</a:t>
            </a:r>
            <a:r>
              <a:rPr lang="en-US" dirty="0">
                <a:solidFill>
                  <a:schemeClr val="bg1"/>
                </a:solidFill>
                <a:latin typeface="Courier"/>
                <a:cs typeface="Courier"/>
              </a:rPr>
              <a:t> = select </a:t>
            </a:r>
            <a:r>
              <a:rPr lang="en-US" dirty="0" err="1">
                <a:solidFill>
                  <a:schemeClr val="bg1"/>
                </a:solidFill>
                <a:latin typeface="Courier"/>
                <a:cs typeface="Courier"/>
              </a:rPr>
              <a:t>mystreet</a:t>
            </a:r>
            <a:r>
              <a:rPr lang="en-US" dirty="0">
                <a:solidFill>
                  <a:schemeClr val="bg1"/>
                </a:solidFill>
                <a:latin typeface="Courier"/>
                <a:cs typeface="Courier"/>
              </a:rPr>
              <a:t>, </a:t>
            </a:r>
            <a:r>
              <a:rPr lang="en-US" dirty="0" err="1">
                <a:solidFill>
                  <a:schemeClr val="bg1"/>
                </a:solidFill>
                <a:latin typeface="Courier"/>
                <a:cs typeface="Courier"/>
              </a:rPr>
              <a:t>mystate</a:t>
            </a:r>
            <a:r>
              <a:rPr lang="en-US" dirty="0">
                <a:solidFill>
                  <a:schemeClr val="bg1"/>
                </a:solidFill>
                <a:latin typeface="Courier"/>
                <a:cs typeface="Courier"/>
              </a:rPr>
              <a:t>, </a:t>
            </a:r>
            <a:r>
              <a:rPr lang="en-US" dirty="0" err="1">
                <a:solidFill>
                  <a:schemeClr val="bg1"/>
                </a:solidFill>
                <a:latin typeface="Courier"/>
                <a:cs typeface="Courier"/>
              </a:rPr>
              <a:t>mycity</a:t>
            </a:r>
            <a:r>
              <a:rPr lang="en-US" dirty="0">
                <a:solidFill>
                  <a:schemeClr val="bg1"/>
                </a:solidFill>
                <a:latin typeface="Courier"/>
                <a:cs typeface="Courier"/>
              </a:rPr>
              <a:t>, </a:t>
            </a:r>
            <a:r>
              <a:rPr lang="en-US" dirty="0" err="1">
                <a:solidFill>
                  <a:srgbClr val="FF6600"/>
                </a:solidFill>
                <a:latin typeface="Courier"/>
                <a:cs typeface="Courier"/>
              </a:rPr>
              <a:t>mycountry</a:t>
            </a:r>
            <a:r>
              <a:rPr lang="en-US" dirty="0">
                <a:solidFill>
                  <a:schemeClr val="bg1"/>
                </a:solidFill>
                <a:latin typeface="Courier"/>
                <a:cs typeface="Courier"/>
              </a:rPr>
              <a:t>, </a:t>
            </a:r>
            <a:r>
              <a:rPr lang="en-US" dirty="0" err="1">
                <a:solidFill>
                  <a:schemeClr val="bg1"/>
                </a:solidFill>
                <a:latin typeface="Courier"/>
                <a:cs typeface="Courier"/>
              </a:rPr>
              <a:t>yourstreet</a:t>
            </a:r>
            <a:r>
              <a:rPr lang="en-US" dirty="0">
                <a:solidFill>
                  <a:schemeClr val="bg1"/>
                </a:solidFill>
                <a:latin typeface="Courier"/>
                <a:cs typeface="Courier"/>
              </a:rPr>
              <a:t>, </a:t>
            </a:r>
            <a:r>
              <a:rPr lang="en-US" dirty="0" err="1">
                <a:solidFill>
                  <a:schemeClr val="bg1"/>
                </a:solidFill>
                <a:latin typeface="Courier"/>
                <a:cs typeface="Courier"/>
              </a:rPr>
              <a:t>yourstate</a:t>
            </a:r>
            <a:r>
              <a:rPr lang="en-US" dirty="0">
                <a:solidFill>
                  <a:schemeClr val="bg1"/>
                </a:solidFill>
                <a:latin typeface="Courier"/>
                <a:cs typeface="Courier"/>
              </a:rPr>
              <a:t>, </a:t>
            </a:r>
            <a:r>
              <a:rPr lang="en-US" dirty="0" err="1">
                <a:solidFill>
                  <a:schemeClr val="bg1"/>
                </a:solidFill>
                <a:latin typeface="Courier"/>
                <a:cs typeface="Courier"/>
              </a:rPr>
              <a:t>yourcity</a:t>
            </a:r>
            <a:r>
              <a:rPr lang="en-US" dirty="0">
                <a:solidFill>
                  <a:schemeClr val="bg1"/>
                </a:solidFill>
                <a:latin typeface="Courier"/>
                <a:cs typeface="Courier"/>
              </a:rPr>
              <a:t>, </a:t>
            </a:r>
            <a:r>
              <a:rPr lang="en-US" dirty="0" err="1">
                <a:solidFill>
                  <a:srgbClr val="FF6600"/>
                </a:solidFill>
                <a:latin typeface="Courier"/>
                <a:cs typeface="Courier"/>
              </a:rPr>
              <a:t>yourcountry</a:t>
            </a:r>
            <a:r>
              <a:rPr lang="en-US" dirty="0">
                <a:solidFill>
                  <a:schemeClr val="bg1"/>
                </a:solidFill>
                <a:latin typeface="Courier"/>
                <a:cs typeface="Courier"/>
              </a:rPr>
              <a:t>, </a:t>
            </a:r>
            <a:r>
              <a:rPr lang="en-US" dirty="0" err="1">
                <a:solidFill>
                  <a:schemeClr val="bg1"/>
                </a:solidFill>
                <a:latin typeface="Courier"/>
                <a:cs typeface="Courier"/>
              </a:rPr>
              <a:t>brokerstreet</a:t>
            </a:r>
            <a:r>
              <a:rPr lang="en-US" dirty="0">
                <a:solidFill>
                  <a:schemeClr val="bg1"/>
                </a:solidFill>
                <a:latin typeface="Courier"/>
                <a:cs typeface="Courier"/>
              </a:rPr>
              <a:t>, </a:t>
            </a:r>
            <a:r>
              <a:rPr lang="en-US" dirty="0" err="1">
                <a:solidFill>
                  <a:schemeClr val="bg1"/>
                </a:solidFill>
                <a:latin typeface="Courier"/>
                <a:cs typeface="Courier"/>
              </a:rPr>
              <a:t>brokerstate</a:t>
            </a:r>
            <a:r>
              <a:rPr lang="en-US" dirty="0">
                <a:solidFill>
                  <a:schemeClr val="bg1"/>
                </a:solidFill>
                <a:latin typeface="Courier"/>
                <a:cs typeface="Courier"/>
              </a:rPr>
              <a:t>, </a:t>
            </a:r>
            <a:r>
              <a:rPr lang="en-US" dirty="0" err="1">
                <a:solidFill>
                  <a:schemeClr val="bg1"/>
                </a:solidFill>
                <a:latin typeface="Courier"/>
                <a:cs typeface="Courier"/>
              </a:rPr>
              <a:t>brokercity</a:t>
            </a:r>
            <a:r>
              <a:rPr lang="en-US" dirty="0">
                <a:solidFill>
                  <a:schemeClr val="bg1"/>
                </a:solidFill>
                <a:latin typeface="Courier"/>
                <a:cs typeface="Courier"/>
              </a:rPr>
              <a:t>, </a:t>
            </a:r>
            <a:r>
              <a:rPr lang="en-US" dirty="0" err="1">
                <a:solidFill>
                  <a:srgbClr val="FF6600"/>
                </a:solidFill>
                <a:latin typeface="Courier"/>
                <a:cs typeface="Courier"/>
              </a:rPr>
              <a:t>brokercountry</a:t>
            </a:r>
            <a:r>
              <a:rPr lang="en-US" dirty="0">
                <a:solidFill>
                  <a:schemeClr val="bg1"/>
                </a:solidFill>
                <a:latin typeface="Courier"/>
                <a:cs typeface="Courier"/>
              </a:rPr>
              <a:t>, </a:t>
            </a:r>
            <a:r>
              <a:rPr lang="en-US" dirty="0" err="1">
                <a:solidFill>
                  <a:schemeClr val="bg1"/>
                </a:solidFill>
                <a:latin typeface="Courier"/>
                <a:cs typeface="Courier"/>
              </a:rPr>
              <a:t>momsstreet</a:t>
            </a:r>
            <a:r>
              <a:rPr lang="en-US" dirty="0">
                <a:solidFill>
                  <a:schemeClr val="bg1"/>
                </a:solidFill>
                <a:latin typeface="Courier"/>
                <a:cs typeface="Courier"/>
              </a:rPr>
              <a:t>, </a:t>
            </a:r>
            <a:r>
              <a:rPr lang="en-US" dirty="0" err="1">
                <a:solidFill>
                  <a:schemeClr val="bg1"/>
                </a:solidFill>
                <a:latin typeface="Courier"/>
                <a:cs typeface="Courier"/>
              </a:rPr>
              <a:t>momsstate</a:t>
            </a:r>
            <a:r>
              <a:rPr lang="en-US" dirty="0">
                <a:solidFill>
                  <a:schemeClr val="bg1"/>
                </a:solidFill>
                <a:latin typeface="Courier"/>
                <a:cs typeface="Courier"/>
              </a:rPr>
              <a:t>, </a:t>
            </a:r>
            <a:r>
              <a:rPr lang="en-US" dirty="0" err="1">
                <a:solidFill>
                  <a:schemeClr val="bg1"/>
                </a:solidFill>
                <a:latin typeface="Courier"/>
                <a:cs typeface="Courier"/>
              </a:rPr>
              <a:t>momscity</a:t>
            </a:r>
            <a:r>
              <a:rPr lang="en-US" dirty="0">
                <a:solidFill>
                  <a:schemeClr val="bg1"/>
                </a:solidFill>
                <a:latin typeface="Courier"/>
                <a:cs typeface="Courier"/>
              </a:rPr>
              <a:t>, </a:t>
            </a:r>
            <a:r>
              <a:rPr lang="en-US" dirty="0" err="1" smtClean="0">
                <a:solidFill>
                  <a:srgbClr val="FF6600"/>
                </a:solidFill>
                <a:latin typeface="Courier"/>
                <a:cs typeface="Courier"/>
              </a:rPr>
              <a:t>momscountry</a:t>
            </a:r>
            <a:r>
              <a:rPr lang="en-US" dirty="0" smtClean="0">
                <a:solidFill>
                  <a:srgbClr val="FF6600"/>
                </a:solidFill>
                <a:latin typeface="Courier"/>
                <a:cs typeface="Courier"/>
              </a:rPr>
              <a:t>,</a:t>
            </a:r>
            <a:r>
              <a:rPr lang="en-US" dirty="0" smtClean="0">
                <a:solidFill>
                  <a:schemeClr val="bg1"/>
                </a:solidFill>
                <a:latin typeface="Courier"/>
                <a:cs typeface="Courier"/>
              </a:rPr>
              <a:t> …</a:t>
            </a:r>
            <a:endParaRPr lang="en-US" dirty="0">
              <a:solidFill>
                <a:schemeClr val="bg1"/>
              </a:solidFill>
              <a:latin typeface="Courier"/>
              <a:cs typeface="Courier"/>
            </a:endParaRPr>
          </a:p>
          <a:p>
            <a:pPr>
              <a:lnSpc>
                <a:spcPct val="100000"/>
              </a:lnSpc>
              <a:spcBef>
                <a:spcPts val="72"/>
              </a:spcBef>
              <a:buFont typeface="Wingdings" charset="0"/>
              <a:buChar char="Ø"/>
            </a:pPr>
            <a:endParaRPr lang="en-US" dirty="0">
              <a:solidFill>
                <a:srgbClr val="FFFFFF"/>
              </a:solidFill>
              <a:latin typeface="Courier"/>
              <a:cs typeface="Courier"/>
            </a:endParaRPr>
          </a:p>
        </p:txBody>
      </p:sp>
    </p:spTree>
    <p:extLst>
      <p:ext uri="{BB962C8B-B14F-4D97-AF65-F5344CB8AC3E}">
        <p14:creationId xmlns:p14="http://schemas.microsoft.com/office/powerpoint/2010/main" val="1147306411"/>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One-to-One Relationships</a:t>
            </a:r>
            <a:endParaRPr lang="en-US" dirty="0"/>
          </a:p>
        </p:txBody>
      </p:sp>
      <p:sp>
        <p:nvSpPr>
          <p:cNvPr id="6" name="Text Placeholder 5"/>
          <p:cNvSpPr>
            <a:spLocks noGrp="1"/>
          </p:cNvSpPr>
          <p:nvPr>
            <p:ph idx="1"/>
          </p:nvPr>
        </p:nvSpPr>
        <p:spPr/>
        <p:txBody>
          <a:bodyPr>
            <a:normAutofit/>
          </a:bodyPr>
          <a:lstStyle/>
          <a:p>
            <a:r>
              <a:rPr lang="en-US" sz="2800" dirty="0" smtClean="0"/>
              <a:t>“Belongs to” relationships are often embedded</a:t>
            </a:r>
          </a:p>
          <a:p>
            <a:r>
              <a:rPr lang="en-US" sz="2800" dirty="0" smtClean="0"/>
              <a:t>Holistic representation of entities with their embedded attributes and relationships</a:t>
            </a:r>
          </a:p>
          <a:p>
            <a:r>
              <a:rPr lang="en-US" sz="2800" dirty="0" smtClean="0"/>
              <a:t>Great read performance</a:t>
            </a:r>
          </a:p>
          <a:p>
            <a:endParaRPr lang="en-US" sz="2200" dirty="0"/>
          </a:p>
          <a:p>
            <a:pPr marL="0" indent="0">
              <a:buNone/>
            </a:pPr>
            <a:r>
              <a:rPr lang="en-US" sz="2800" b="1" dirty="0" smtClean="0"/>
              <a:t>Most important:   </a:t>
            </a:r>
          </a:p>
          <a:p>
            <a:r>
              <a:rPr lang="en-US" sz="2800" b="1" dirty="0" smtClean="0"/>
              <a:t>Keeps simple things simple</a:t>
            </a:r>
          </a:p>
          <a:p>
            <a:r>
              <a:rPr lang="en-US" sz="2800" b="1" dirty="0" smtClean="0"/>
              <a:t>Frees up time to tackle harder schema design issues</a:t>
            </a:r>
          </a:p>
          <a:p>
            <a:endParaRPr lang="en-US" sz="2400" b="1" dirty="0" smtClean="0"/>
          </a:p>
          <a:p>
            <a:endParaRPr lang="en-US" sz="2400" dirty="0"/>
          </a:p>
        </p:txBody>
      </p:sp>
    </p:spTree>
    <p:extLst>
      <p:ext uri="{BB962C8B-B14F-4D97-AF65-F5344CB8AC3E}">
        <p14:creationId xmlns:p14="http://schemas.microsoft.com/office/powerpoint/2010/main" val="1386893155"/>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57200" y="274638"/>
            <a:ext cx="8229600" cy="6178302"/>
          </a:xfrm>
          <a:prstGeom prst="rect">
            <a:avLst/>
          </a:prstGeom>
        </p:spPr>
        <p:txBody>
          <a:bodyPr anchor="ctr">
            <a:normAutofit/>
          </a:bodyPr>
          <a:lstStyle>
            <a:lvl1pPr algn="ctr" defTabSz="457200" rtl="0" eaLnBrk="1" latinLnBrk="0" hangingPunct="1">
              <a:spcBef>
                <a:spcPct val="0"/>
              </a:spcBef>
              <a:buNone/>
              <a:defRPr sz="3600" b="1" kern="1200" spc="-150">
                <a:solidFill>
                  <a:srgbClr val="242423"/>
                </a:solidFill>
                <a:latin typeface="Arial"/>
                <a:ea typeface="+mj-ea"/>
                <a:cs typeface="Arial"/>
              </a:defRPr>
            </a:lvl1pPr>
          </a:lstStyle>
          <a:p>
            <a:pPr algn="l"/>
            <a:r>
              <a:rPr lang="en-US" sz="4400" dirty="0" smtClean="0"/>
              <a:t>Question:</a:t>
            </a:r>
          </a:p>
          <a:p>
            <a:pPr algn="l"/>
            <a:r>
              <a:rPr lang="en-US" sz="4400" dirty="0" smtClean="0">
                <a:solidFill>
                  <a:srgbClr val="5B972B"/>
                </a:solidFill>
              </a:rPr>
              <a:t>What are a Patron’s Address</a:t>
            </a:r>
            <a:r>
              <a:rPr lang="en-US" sz="4400" dirty="0" smtClean="0">
                <a:solidFill>
                  <a:schemeClr val="tx1"/>
                </a:solidFill>
              </a:rPr>
              <a:t>es</a:t>
            </a:r>
            <a:r>
              <a:rPr lang="en-US" sz="4400" dirty="0" smtClean="0">
                <a:solidFill>
                  <a:srgbClr val="5B972B"/>
                </a:solidFill>
              </a:rPr>
              <a:t>?</a:t>
            </a:r>
            <a:endParaRPr lang="en-US" sz="4400" dirty="0">
              <a:solidFill>
                <a:srgbClr val="5B972B"/>
              </a:solidFill>
            </a:endParaRPr>
          </a:p>
        </p:txBody>
      </p:sp>
    </p:spTree>
    <p:extLst>
      <p:ext uri="{BB962C8B-B14F-4D97-AF65-F5344CB8AC3E}">
        <p14:creationId xmlns:p14="http://schemas.microsoft.com/office/powerpoint/2010/main" val="1671310382"/>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r>
              <a:rPr lang="en-US" dirty="0" smtClean="0"/>
              <a:t>A Patron and their Addresses</a:t>
            </a:r>
            <a:endParaRPr lang="en-US" dirty="0"/>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spcBef>
                <a:spcPts val="72"/>
              </a:spcBef>
              <a:buNone/>
            </a:pPr>
            <a:r>
              <a:rPr lang="en-US" dirty="0">
                <a:solidFill>
                  <a:srgbClr val="FFFFFF"/>
                </a:solidFill>
                <a:latin typeface="Courier"/>
                <a:cs typeface="Courier"/>
              </a:rPr>
              <a:t>&gt; </a:t>
            </a:r>
            <a:r>
              <a:rPr lang="en-US" dirty="0" err="1" smtClean="0">
                <a:solidFill>
                  <a:srgbClr val="FFFFFF"/>
                </a:solidFill>
                <a:latin typeface="Courier"/>
                <a:cs typeface="Courier"/>
              </a:rPr>
              <a:t>db.patrons.find</a:t>
            </a:r>
            <a:r>
              <a:rPr lang="en-US" dirty="0">
                <a:solidFill>
                  <a:srgbClr val="FFFFFF"/>
                </a:solidFill>
                <a:latin typeface="Courier"/>
                <a:cs typeface="Courier"/>
              </a:rPr>
              <a:t>({ _id :</a:t>
            </a:r>
            <a:r>
              <a:rPr lang="en-US" dirty="0">
                <a:latin typeface="Courier"/>
                <a:cs typeface="Courier"/>
              </a:rPr>
              <a:t> </a:t>
            </a:r>
            <a:r>
              <a:rPr lang="en-US" dirty="0">
                <a:solidFill>
                  <a:schemeClr val="accent2"/>
                </a:solidFill>
                <a:latin typeface="Courier"/>
                <a:cs typeface="Courier"/>
              </a:rPr>
              <a:t>“bob”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 _id: </a:t>
            </a:r>
            <a:r>
              <a:rPr lang="en-US" dirty="0">
                <a:solidFill>
                  <a:srgbClr val="749E49"/>
                </a:solidFill>
                <a:latin typeface="Courier"/>
                <a:cs typeface="Courier"/>
              </a:rPr>
              <a:t>“bob"</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name:</a:t>
            </a:r>
            <a:r>
              <a:rPr lang="en-US" dirty="0">
                <a:latin typeface="Courier"/>
                <a:cs typeface="Courier"/>
              </a:rPr>
              <a:t> </a:t>
            </a:r>
            <a:r>
              <a:rPr lang="en-US" dirty="0">
                <a:solidFill>
                  <a:srgbClr val="F7D58F"/>
                </a:solidFill>
                <a:latin typeface="Courier"/>
                <a:cs typeface="Courier"/>
              </a:rPr>
              <a:t>“Bob </a:t>
            </a:r>
            <a:r>
              <a:rPr lang="en-US" dirty="0" err="1">
                <a:solidFill>
                  <a:srgbClr val="F7D58F"/>
                </a:solidFill>
                <a:latin typeface="Courier"/>
                <a:cs typeface="Courier"/>
              </a:rPr>
              <a:t>Knowitall</a:t>
            </a:r>
            <a:r>
              <a:rPr lang="en-US" dirty="0">
                <a:solidFill>
                  <a:srgbClr val="F7D58F"/>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addresses: [</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{street: </a:t>
            </a:r>
            <a:r>
              <a:rPr lang="en-US" dirty="0">
                <a:solidFill>
                  <a:srgbClr val="F7D58F"/>
                </a:solidFill>
                <a:latin typeface="Courier"/>
                <a:cs typeface="Courier"/>
              </a:rPr>
              <a:t>"1 Vernon St."</a:t>
            </a:r>
            <a:r>
              <a:rPr lang="en-US" dirty="0">
                <a:solidFill>
                  <a:srgbClr val="FFFFFF"/>
                </a:solidFill>
                <a:latin typeface="Courier"/>
                <a:cs typeface="Courier"/>
              </a:rPr>
              <a:t>, city: </a:t>
            </a:r>
            <a:r>
              <a:rPr lang="en-US" dirty="0">
                <a:solidFill>
                  <a:srgbClr val="F7D58F"/>
                </a:solidFill>
                <a:latin typeface="Courier"/>
                <a:cs typeface="Courier"/>
              </a:rPr>
              <a:t>"Newton"</a:t>
            </a:r>
            <a:r>
              <a:rPr lang="en-US" dirty="0">
                <a:solidFill>
                  <a:srgbClr val="FFFFFF"/>
                </a:solidFill>
                <a:latin typeface="Courier"/>
                <a:cs typeface="Courier"/>
              </a:rPr>
              <a:t>, …},</a:t>
            </a:r>
          </a:p>
          <a:p>
            <a:pPr marL="0" indent="0">
              <a:lnSpc>
                <a:spcPct val="100000"/>
              </a:lnSpc>
              <a:spcBef>
                <a:spcPts val="72"/>
              </a:spcBef>
              <a:buNone/>
            </a:pPr>
            <a:r>
              <a:rPr lang="en-US" dirty="0">
                <a:solidFill>
                  <a:srgbClr val="FFFFFF"/>
                </a:solidFill>
                <a:latin typeface="Courier"/>
                <a:cs typeface="Courier"/>
              </a:rPr>
              <a:t>      {street: </a:t>
            </a:r>
            <a:r>
              <a:rPr lang="en-US" dirty="0">
                <a:solidFill>
                  <a:srgbClr val="F7D58F"/>
                </a:solidFill>
                <a:latin typeface="Courier"/>
                <a:cs typeface="Courier"/>
              </a:rPr>
              <a:t>"52 Main St."</a:t>
            </a:r>
            <a:r>
              <a:rPr lang="en-US" dirty="0">
                <a:solidFill>
                  <a:srgbClr val="FFFFFF"/>
                </a:solidFill>
                <a:latin typeface="Courier"/>
                <a:cs typeface="Courier"/>
              </a:rPr>
              <a:t>, city: </a:t>
            </a:r>
            <a:r>
              <a:rPr lang="en-US" dirty="0">
                <a:solidFill>
                  <a:srgbClr val="F7D58F"/>
                </a:solidFill>
                <a:latin typeface="Courier"/>
                <a:cs typeface="Courier"/>
              </a:rPr>
              <a:t>"Boston"</a:t>
            </a:r>
            <a:r>
              <a:rPr lang="en-US" dirty="0">
                <a:solidFill>
                  <a:srgbClr val="FFFFFF"/>
                </a:solidFill>
                <a:latin typeface="Courier"/>
                <a:cs typeface="Courier"/>
              </a:rPr>
              <a:t>, …</a:t>
            </a: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lnSpc>
                <a:spcPct val="100000"/>
              </a:lnSpc>
              <a:spcBef>
                <a:spcPts val="72"/>
              </a:spcBef>
              <a:buNone/>
            </a:pPr>
            <a:r>
              <a:rPr lang="en-US" dirty="0">
                <a:solidFill>
                  <a:srgbClr val="FFFFFF"/>
                </a:solidFill>
                <a:latin typeface="Courier"/>
                <a:cs typeface="Courier"/>
              </a:rPr>
              <a:t>    ]</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endParaRPr lang="en-US" dirty="0">
              <a:latin typeface="Courier"/>
              <a:cs typeface="Courier"/>
            </a:endParaRPr>
          </a:p>
        </p:txBody>
      </p:sp>
    </p:spTree>
    <p:extLst>
      <p:ext uri="{BB962C8B-B14F-4D97-AF65-F5344CB8AC3E}">
        <p14:creationId xmlns:p14="http://schemas.microsoft.com/office/powerpoint/2010/main" val="3678264463"/>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 Patron and their Addresses</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spcBef>
                <a:spcPts val="72"/>
              </a:spcBef>
              <a:buNone/>
            </a:pPr>
            <a:r>
              <a:rPr lang="en-US" dirty="0">
                <a:solidFill>
                  <a:srgbClr val="FFFFFF"/>
                </a:solidFill>
                <a:latin typeface="Courier"/>
                <a:cs typeface="Courier"/>
              </a:rPr>
              <a:t>&gt; </a:t>
            </a:r>
            <a:r>
              <a:rPr lang="en-US" dirty="0" err="1" smtClean="0">
                <a:solidFill>
                  <a:srgbClr val="FFFFFF"/>
                </a:solidFill>
                <a:latin typeface="Courier"/>
                <a:cs typeface="Courier"/>
              </a:rPr>
              <a:t>db.patrons.find</a:t>
            </a:r>
            <a:r>
              <a:rPr lang="en-US" dirty="0">
                <a:solidFill>
                  <a:srgbClr val="FFFFFF"/>
                </a:solidFill>
                <a:latin typeface="Courier"/>
                <a:cs typeface="Courier"/>
              </a:rPr>
              <a:t>({ _id : </a:t>
            </a:r>
            <a:r>
              <a:rPr lang="en-US" dirty="0">
                <a:solidFill>
                  <a:schemeClr val="accent2"/>
                </a:solidFill>
                <a:latin typeface="Courier"/>
                <a:cs typeface="Courier"/>
              </a:rPr>
              <a:t>“bob”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_id: </a:t>
            </a:r>
            <a:r>
              <a:rPr lang="en-US" dirty="0">
                <a:solidFill>
                  <a:srgbClr val="749E49"/>
                </a:solidFill>
                <a:latin typeface="Courier"/>
                <a:cs typeface="Courier"/>
              </a:rPr>
              <a:t>“bob"</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name:</a:t>
            </a:r>
            <a:r>
              <a:rPr lang="en-US" dirty="0">
                <a:latin typeface="Courier"/>
                <a:cs typeface="Courier"/>
              </a:rPr>
              <a:t> </a:t>
            </a:r>
            <a:r>
              <a:rPr lang="en-US" dirty="0">
                <a:solidFill>
                  <a:srgbClr val="F7D58F"/>
                </a:solidFill>
                <a:latin typeface="Courier"/>
                <a:cs typeface="Courier"/>
              </a:rPr>
              <a:t>“Bob </a:t>
            </a:r>
            <a:r>
              <a:rPr lang="en-US" dirty="0" err="1">
                <a:solidFill>
                  <a:srgbClr val="F7D58F"/>
                </a:solidFill>
                <a:latin typeface="Courier"/>
                <a:cs typeface="Courier"/>
              </a:rPr>
              <a:t>Knowitall</a:t>
            </a:r>
            <a:r>
              <a:rPr lang="en-US" dirty="0">
                <a:solidFill>
                  <a:srgbClr val="F7D58F"/>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6600"/>
                </a:solidFill>
                <a:latin typeface="Courier"/>
                <a:cs typeface="Courier"/>
              </a:rPr>
              <a:t>addresses</a:t>
            </a:r>
            <a:r>
              <a:rPr lang="en-US" dirty="0">
                <a:solidFill>
                  <a:srgbClr val="FFFFFF"/>
                </a:solidFill>
                <a:latin typeface="Courier"/>
                <a:cs typeface="Courier"/>
              </a:rPr>
              <a:t>: [</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{street: </a:t>
            </a:r>
            <a:r>
              <a:rPr lang="en-US" dirty="0">
                <a:solidFill>
                  <a:srgbClr val="F7D58F"/>
                </a:solidFill>
                <a:latin typeface="Courier"/>
                <a:cs typeface="Courier"/>
              </a:rPr>
              <a:t>"1 Vernon St."</a:t>
            </a:r>
            <a:r>
              <a:rPr lang="en-US" dirty="0">
                <a:solidFill>
                  <a:srgbClr val="FFFFFF"/>
                </a:solidFill>
                <a:latin typeface="Courier"/>
                <a:cs typeface="Courier"/>
              </a:rPr>
              <a:t>, city: </a:t>
            </a:r>
            <a:r>
              <a:rPr lang="en-US" dirty="0">
                <a:solidFill>
                  <a:srgbClr val="F7D58F"/>
                </a:solidFill>
                <a:latin typeface="Courier"/>
                <a:cs typeface="Courier"/>
              </a:rPr>
              <a:t>"Newton"</a:t>
            </a:r>
            <a:r>
              <a:rPr lang="en-US" dirty="0">
                <a:solidFill>
                  <a:srgbClr val="FFFFFF"/>
                </a:solidFill>
                <a:latin typeface="Courier"/>
                <a:cs typeface="Courier"/>
              </a:rPr>
              <a:t>, …},</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{street: </a:t>
            </a:r>
            <a:r>
              <a:rPr lang="en-US" dirty="0">
                <a:solidFill>
                  <a:srgbClr val="F7D58F"/>
                </a:solidFill>
                <a:latin typeface="Courier"/>
                <a:cs typeface="Courier"/>
              </a:rPr>
              <a:t>"52 Main St."</a:t>
            </a:r>
            <a:r>
              <a:rPr lang="en-US" dirty="0">
                <a:solidFill>
                  <a:srgbClr val="FFFFFF"/>
                </a:solidFill>
                <a:latin typeface="Courier"/>
                <a:cs typeface="Courier"/>
              </a:rPr>
              <a:t>, city: </a:t>
            </a:r>
            <a:r>
              <a:rPr lang="en-US" dirty="0">
                <a:solidFill>
                  <a:srgbClr val="F7D58F"/>
                </a:solidFill>
                <a:latin typeface="Courier"/>
                <a:cs typeface="Courier"/>
              </a:rPr>
              <a:t>"Boston"</a:t>
            </a:r>
            <a:r>
              <a:rPr lang="en-US" dirty="0">
                <a:solidFill>
                  <a:srgbClr val="FFFFFF"/>
                </a:solidFill>
                <a:latin typeface="Courier"/>
                <a:cs typeface="Courier"/>
              </a:rPr>
              <a:t>, …</a:t>
            </a: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lnSpc>
                <a:spcPct val="100000"/>
              </a:lnSpc>
              <a:spcBef>
                <a:spcPts val="72"/>
              </a:spcBef>
              <a:buNone/>
            </a:pPr>
            <a:r>
              <a:rPr lang="en-US" dirty="0">
                <a:solidFill>
                  <a:srgbClr val="FFFFFF"/>
                </a:solidFill>
                <a:latin typeface="Courier"/>
                <a:cs typeface="Courier"/>
              </a:rPr>
              <a:t>    ]</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endParaRPr lang="en-US" dirty="0">
              <a:latin typeface="Courier"/>
              <a:cs typeface="Courier"/>
            </a:endParaRPr>
          </a:p>
          <a:p>
            <a:pPr marL="0" indent="0">
              <a:lnSpc>
                <a:spcPct val="100000"/>
              </a:lnSpc>
              <a:spcBef>
                <a:spcPts val="72"/>
              </a:spcBef>
              <a:buNone/>
            </a:pPr>
            <a:r>
              <a:rPr lang="en-US" dirty="0">
                <a:solidFill>
                  <a:srgbClr val="FFFFFF"/>
                </a:solidFill>
                <a:latin typeface="Courier"/>
                <a:cs typeface="Courier"/>
              </a:rPr>
              <a:t>&gt; </a:t>
            </a:r>
            <a:r>
              <a:rPr lang="en-US" dirty="0" err="1" smtClean="0">
                <a:solidFill>
                  <a:srgbClr val="FFFFFF"/>
                </a:solidFill>
                <a:latin typeface="Courier"/>
                <a:cs typeface="Courier"/>
              </a:rPr>
              <a:t>db.patrons.find</a:t>
            </a:r>
            <a:r>
              <a:rPr lang="en-US" dirty="0">
                <a:solidFill>
                  <a:srgbClr val="FFFFFF"/>
                </a:solidFill>
                <a:latin typeface="Courier"/>
                <a:cs typeface="Courier"/>
              </a:rPr>
              <a:t>({ _id :</a:t>
            </a:r>
            <a:r>
              <a:rPr lang="en-US" dirty="0">
                <a:latin typeface="Courier"/>
                <a:cs typeface="Courier"/>
              </a:rPr>
              <a:t> </a:t>
            </a:r>
            <a:r>
              <a:rPr lang="en-US" dirty="0">
                <a:solidFill>
                  <a:schemeClr val="accent2"/>
                </a:solidFill>
                <a:latin typeface="Courier"/>
                <a:cs typeface="Courier"/>
              </a:rPr>
              <a:t>“</a:t>
            </a:r>
            <a:r>
              <a:rPr lang="en-US" dirty="0" err="1">
                <a:solidFill>
                  <a:schemeClr val="accent2"/>
                </a:solidFill>
                <a:latin typeface="Courier"/>
                <a:cs typeface="Courier"/>
              </a:rPr>
              <a:t>joe</a:t>
            </a:r>
            <a:r>
              <a:rPr lang="en-US" dirty="0">
                <a:solidFill>
                  <a:schemeClr val="accent2"/>
                </a:solidFill>
                <a:latin typeface="Courier"/>
                <a:cs typeface="Courier"/>
              </a:rPr>
              <a:t>”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_id: </a:t>
            </a:r>
            <a:r>
              <a:rPr lang="en-US" dirty="0">
                <a:solidFill>
                  <a:srgbClr val="749E49"/>
                </a:solidFill>
                <a:latin typeface="Courier"/>
                <a:cs typeface="Courier"/>
              </a:rPr>
              <a:t>"</a:t>
            </a:r>
            <a:r>
              <a:rPr lang="en-US" dirty="0" err="1">
                <a:solidFill>
                  <a:srgbClr val="749E49"/>
                </a:solidFill>
                <a:latin typeface="Courier"/>
                <a:cs typeface="Courier"/>
              </a:rPr>
              <a:t>joe</a:t>
            </a:r>
            <a:r>
              <a:rPr lang="en-US" dirty="0">
                <a:solidFill>
                  <a:srgbClr val="749E49"/>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name: </a:t>
            </a:r>
            <a:r>
              <a:rPr lang="en-US" dirty="0">
                <a:solidFill>
                  <a:srgbClr val="F7D58F"/>
                </a:solidFill>
                <a:latin typeface="Courier"/>
                <a:cs typeface="Courier"/>
              </a:rPr>
              <a:t>"Joe </a:t>
            </a:r>
            <a:r>
              <a:rPr lang="en-US" dirty="0" err="1">
                <a:solidFill>
                  <a:srgbClr val="F7D58F"/>
                </a:solidFill>
                <a:latin typeface="Courier"/>
                <a:cs typeface="Courier"/>
              </a:rPr>
              <a:t>Bookreader</a:t>
            </a:r>
            <a:r>
              <a:rPr lang="en-US" dirty="0">
                <a:solidFill>
                  <a:srgbClr val="F7D58F"/>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6600"/>
                </a:solidFill>
                <a:latin typeface="Courier"/>
                <a:cs typeface="Courier"/>
              </a:rPr>
              <a:t>address</a:t>
            </a:r>
            <a:r>
              <a:rPr lang="en-US" dirty="0">
                <a:solidFill>
                  <a:srgbClr val="FFFFFF"/>
                </a:solidFill>
                <a:latin typeface="Courier"/>
                <a:cs typeface="Courier"/>
              </a:rPr>
              <a:t>: { street: </a:t>
            </a:r>
            <a:r>
              <a:rPr lang="en-US" dirty="0">
                <a:solidFill>
                  <a:srgbClr val="F7D58F"/>
                </a:solidFill>
                <a:latin typeface="Courier"/>
                <a:cs typeface="Courier"/>
              </a:rPr>
              <a:t>"123 Fake St. "</a:t>
            </a:r>
            <a:r>
              <a:rPr lang="en-US" dirty="0">
                <a:solidFill>
                  <a:srgbClr val="FFFFFF"/>
                </a:solidFill>
                <a:latin typeface="Courier"/>
                <a:cs typeface="Courier"/>
              </a:rPr>
              <a:t>,  city: </a:t>
            </a:r>
            <a:r>
              <a:rPr lang="en-US" dirty="0">
                <a:solidFill>
                  <a:srgbClr val="F7D58F"/>
                </a:solidFill>
                <a:latin typeface="Courier"/>
                <a:cs typeface="Courier"/>
              </a:rPr>
              <a:t>"</a:t>
            </a:r>
            <a:r>
              <a:rPr lang="en-US" dirty="0" err="1">
                <a:solidFill>
                  <a:srgbClr val="F7D58F"/>
                </a:solidFill>
                <a:latin typeface="Courier"/>
                <a:cs typeface="Courier"/>
              </a:rPr>
              <a:t>Faketon</a:t>
            </a:r>
            <a:r>
              <a:rPr lang="en-US" dirty="0">
                <a:solidFill>
                  <a:srgbClr val="F7D58F"/>
                </a:solidFill>
                <a:latin typeface="Courier"/>
                <a:cs typeface="Courier"/>
              </a:rPr>
              <a:t>"</a:t>
            </a:r>
            <a:r>
              <a:rPr lang="en-US" dirty="0">
                <a:solidFill>
                  <a:srgbClr val="FFFFFF"/>
                </a:solidFill>
                <a:latin typeface="Courier"/>
                <a:cs typeface="Courier"/>
              </a:rPr>
              <a:t>, …}</a:t>
            </a:r>
          </a:p>
          <a:p>
            <a:pPr marL="0" indent="0">
              <a:lnSpc>
                <a:spcPct val="100000"/>
              </a:lnSpc>
              <a:spcBef>
                <a:spcPts val="72"/>
              </a:spcBef>
              <a:buNone/>
            </a:pPr>
            <a:r>
              <a:rPr lang="en-US" dirty="0">
                <a:solidFill>
                  <a:srgbClr val="FFFFFF"/>
                </a:solidFill>
                <a:latin typeface="Courier"/>
                <a:cs typeface="Courier"/>
              </a:rPr>
              <a:t>}</a:t>
            </a:r>
          </a:p>
        </p:txBody>
      </p:sp>
    </p:spTree>
    <p:extLst>
      <p:ext uri="{BB962C8B-B14F-4D97-AF65-F5344CB8AC3E}">
        <p14:creationId xmlns:p14="http://schemas.microsoft.com/office/powerpoint/2010/main" val="1310429852"/>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Migration Options</a:t>
            </a:r>
            <a:endParaRPr lang="en-US" dirty="0"/>
          </a:p>
        </p:txBody>
      </p:sp>
      <p:sp>
        <p:nvSpPr>
          <p:cNvPr id="4" name="Text Placeholder 3"/>
          <p:cNvSpPr>
            <a:spLocks noGrp="1"/>
          </p:cNvSpPr>
          <p:nvPr>
            <p:ph idx="1"/>
          </p:nvPr>
        </p:nvSpPr>
        <p:spPr/>
        <p:txBody>
          <a:bodyPr>
            <a:normAutofit/>
          </a:bodyPr>
          <a:lstStyle/>
          <a:p>
            <a:r>
              <a:rPr lang="en-US" sz="2400" dirty="0" smtClean="0">
                <a:solidFill>
                  <a:schemeClr val="tx1"/>
                </a:solidFill>
              </a:rPr>
              <a:t>Migrate all documents when the schema changes.</a:t>
            </a:r>
          </a:p>
          <a:p>
            <a:r>
              <a:rPr lang="en-US" sz="2400" dirty="0" smtClean="0">
                <a:solidFill>
                  <a:schemeClr val="tx1"/>
                </a:solidFill>
              </a:rPr>
              <a:t>Migrate On-Demand</a:t>
            </a:r>
          </a:p>
          <a:p>
            <a:pPr lvl="1"/>
            <a:r>
              <a:rPr lang="en-US" sz="2400" dirty="0" smtClean="0">
                <a:solidFill>
                  <a:schemeClr val="tx1"/>
                </a:solidFill>
              </a:rPr>
              <a:t>As we pull up a patron’s document, we make the change.</a:t>
            </a:r>
          </a:p>
          <a:p>
            <a:pPr lvl="1"/>
            <a:r>
              <a:rPr lang="en-US" sz="2400" dirty="0" smtClean="0">
                <a:solidFill>
                  <a:schemeClr val="tx1"/>
                </a:solidFill>
              </a:rPr>
              <a:t>Any patrons that never come into the library never get updated.</a:t>
            </a:r>
          </a:p>
          <a:p>
            <a:r>
              <a:rPr lang="en-US" sz="2400" dirty="0" smtClean="0">
                <a:solidFill>
                  <a:schemeClr val="tx1"/>
                </a:solidFill>
              </a:rPr>
              <a:t>Leave it alone</a:t>
            </a:r>
          </a:p>
          <a:p>
            <a:pPr lvl="1"/>
            <a:r>
              <a:rPr lang="en-US" sz="2400" dirty="0" smtClean="0">
                <a:solidFill>
                  <a:schemeClr val="tx1"/>
                </a:solidFill>
              </a:rPr>
              <a:t>The code layer knows about both address and addresses</a:t>
            </a:r>
          </a:p>
          <a:p>
            <a:pPr marL="457200" lvl="1" indent="0">
              <a:buNone/>
            </a:pPr>
            <a:endParaRPr lang="en-US" sz="2400" dirty="0">
              <a:solidFill>
                <a:schemeClr val="tx1"/>
              </a:solidFill>
            </a:endParaRPr>
          </a:p>
        </p:txBody>
      </p:sp>
    </p:spTree>
    <p:extLst>
      <p:ext uri="{BB962C8B-B14F-4D97-AF65-F5344CB8AC3E}">
        <p14:creationId xmlns:p14="http://schemas.microsoft.com/office/powerpoint/2010/main" val="2909372059"/>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Letting The Code Deal With Documents</a:t>
            </a:r>
            <a:endParaRPr lang="en-US" dirty="0"/>
          </a:p>
        </p:txBody>
      </p:sp>
      <p:sp>
        <p:nvSpPr>
          <p:cNvPr id="2" name="Content Placeholder 1"/>
          <p:cNvSpPr>
            <a:spLocks noGrp="1"/>
          </p:cNvSpPr>
          <p:nvPr>
            <p:ph idx="1"/>
          </p:nvPr>
        </p:nvSpPr>
        <p:spPr/>
        <p:txBody>
          <a:bodyPr/>
          <a:lstStyle/>
          <a:p>
            <a:endParaRPr lang="en-US"/>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Content Placeholder 3"/>
          <p:cNvSpPr txBox="1">
            <a:spLocks/>
          </p:cNvSpPr>
          <p:nvPr/>
        </p:nvSpPr>
        <p:spPr>
          <a:xfrm>
            <a:off x="800100" y="1625953"/>
            <a:ext cx="7567789" cy="4624843"/>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spcBef>
                <a:spcPts val="72"/>
              </a:spcBef>
              <a:buNone/>
            </a:pPr>
            <a:r>
              <a:rPr lang="en-US" dirty="0" smtClean="0">
                <a:solidFill>
                  <a:srgbClr val="FFFFFF"/>
                </a:solidFill>
                <a:latin typeface="Courier"/>
                <a:cs typeface="Courier"/>
              </a:rPr>
              <a:t>Map d = </a:t>
            </a:r>
            <a:r>
              <a:rPr lang="en-US" dirty="0" err="1" smtClean="0">
                <a:solidFill>
                  <a:srgbClr val="FFFFFF"/>
                </a:solidFill>
                <a:latin typeface="Courier"/>
                <a:cs typeface="Courier"/>
              </a:rPr>
              <a:t>collection.find</a:t>
            </a:r>
            <a:r>
              <a:rPr lang="en-US" dirty="0" smtClean="0">
                <a:solidFill>
                  <a:srgbClr val="FFFFFF"/>
                </a:solidFill>
                <a:latin typeface="Courier"/>
                <a:cs typeface="Courier"/>
              </a:rPr>
              <a:t>(new </a:t>
            </a:r>
            <a:r>
              <a:rPr lang="en-US" dirty="0" err="1" smtClean="0">
                <a:solidFill>
                  <a:srgbClr val="FFFFFF"/>
                </a:solidFill>
                <a:latin typeface="Courier"/>
                <a:cs typeface="Courier"/>
              </a:rPr>
              <a:t>BasicDBObject</a:t>
            </a:r>
            <a:r>
              <a:rPr lang="en-US" dirty="0" smtClean="0">
                <a:solidFill>
                  <a:srgbClr val="FFFFFF"/>
                </a:solidFill>
                <a:latin typeface="Courier"/>
                <a:cs typeface="Courier"/>
              </a:rPr>
              <a:t>(</a:t>
            </a:r>
            <a:r>
              <a:rPr lang="en-US" dirty="0" smtClean="0">
                <a:solidFill>
                  <a:srgbClr val="F7D58F"/>
                </a:solidFill>
                <a:latin typeface="Courier"/>
                <a:cs typeface="Courier"/>
              </a:rPr>
              <a:t>”_</a:t>
            </a:r>
            <a:r>
              <a:rPr lang="en-US" dirty="0" err="1" smtClean="0">
                <a:solidFill>
                  <a:srgbClr val="F7D58F"/>
                </a:solidFill>
                <a:latin typeface="Courier"/>
                <a:cs typeface="Courier"/>
              </a:rPr>
              <a:t>id”</a:t>
            </a:r>
            <a:r>
              <a:rPr lang="en-US" dirty="0" err="1" smtClean="0">
                <a:solidFill>
                  <a:srgbClr val="FFFFFF"/>
                </a:solidFill>
                <a:latin typeface="Courier"/>
                <a:cs typeface="Courier"/>
              </a:rPr>
              <a:t>,</a:t>
            </a:r>
            <a:r>
              <a:rPr lang="en-US" dirty="0" err="1" smtClean="0">
                <a:solidFill>
                  <a:srgbClr val="F7D58F"/>
                </a:solidFill>
                <a:latin typeface="Courier"/>
                <a:cs typeface="Courier"/>
              </a:rPr>
              <a:t>”bob</a:t>
            </a:r>
            <a:r>
              <a:rPr lang="en-US" dirty="0" smtClean="0">
                <a:solidFill>
                  <a:srgbClr val="F7D58F"/>
                </a:solidFill>
                <a:latin typeface="Courier"/>
                <a:cs typeface="Courier"/>
              </a:rPr>
              <a:t>”</a:t>
            </a:r>
            <a:r>
              <a:rPr lang="en-US" dirty="0" smtClean="0">
                <a:solidFill>
                  <a:srgbClr val="FFFFFF"/>
                </a:solidFill>
                <a:latin typeface="Courier"/>
                <a:cs typeface="Courier"/>
              </a:rPr>
              <a:t>));</a:t>
            </a:r>
          </a:p>
          <a:p>
            <a:pPr marL="0" indent="0">
              <a:lnSpc>
                <a:spcPct val="100000"/>
              </a:lnSpc>
              <a:spcBef>
                <a:spcPts val="72"/>
              </a:spcBef>
              <a:buNone/>
            </a:pPr>
            <a:endParaRPr lang="en-US" dirty="0" smtClean="0">
              <a:solidFill>
                <a:srgbClr val="FFFFFF"/>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 Contract: Return either a List of addresses or a null</a:t>
            </a:r>
          </a:p>
          <a:p>
            <a:pPr marL="0" indent="0">
              <a:lnSpc>
                <a:spcPct val="100000"/>
              </a:lnSpc>
              <a:spcBef>
                <a:spcPts val="72"/>
              </a:spcBef>
              <a:buNone/>
            </a:pPr>
            <a:r>
              <a:rPr lang="en-US" dirty="0" smtClean="0">
                <a:solidFill>
                  <a:srgbClr val="FFFFFF"/>
                </a:solidFill>
                <a:latin typeface="Courier"/>
                <a:cs typeface="Courier"/>
              </a:rPr>
              <a:t>// if no addresses exist</a:t>
            </a:r>
          </a:p>
          <a:p>
            <a:pPr marL="0" indent="0">
              <a:lnSpc>
                <a:spcPct val="100000"/>
              </a:lnSpc>
              <a:spcBef>
                <a:spcPts val="72"/>
              </a:spcBef>
              <a:buNone/>
            </a:pPr>
            <a:endParaRPr lang="en-US" dirty="0" smtClean="0">
              <a:solidFill>
                <a:srgbClr val="FFFFFF"/>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 Try to get the new “version 2” shape:</a:t>
            </a:r>
          </a:p>
          <a:p>
            <a:pPr marL="0" indent="0">
              <a:lnSpc>
                <a:spcPct val="100000"/>
              </a:lnSpc>
              <a:spcBef>
                <a:spcPts val="72"/>
              </a:spcBef>
              <a:buNone/>
            </a:pPr>
            <a:r>
              <a:rPr lang="en-US" dirty="0" smtClean="0">
                <a:solidFill>
                  <a:srgbClr val="FFFFFF"/>
                </a:solidFill>
                <a:latin typeface="Courier"/>
                <a:cs typeface="Courier"/>
              </a:rPr>
              <a:t>List </a:t>
            </a:r>
            <a:r>
              <a:rPr lang="en-US" dirty="0" err="1" smtClean="0">
                <a:solidFill>
                  <a:srgbClr val="FFFFFF"/>
                </a:solidFill>
                <a:latin typeface="Courier"/>
                <a:cs typeface="Courier"/>
              </a:rPr>
              <a:t>addrl</a:t>
            </a:r>
            <a:r>
              <a:rPr lang="en-US" dirty="0" smtClean="0">
                <a:solidFill>
                  <a:srgbClr val="FFFFFF"/>
                </a:solidFill>
                <a:latin typeface="Courier"/>
                <a:cs typeface="Courier"/>
              </a:rPr>
              <a:t> </a:t>
            </a:r>
            <a:r>
              <a:rPr lang="en-US" dirty="0">
                <a:solidFill>
                  <a:srgbClr val="FFFFFF"/>
                </a:solidFill>
                <a:latin typeface="Courier"/>
                <a:cs typeface="Courier"/>
              </a:rPr>
              <a:t>= (</a:t>
            </a:r>
            <a:r>
              <a:rPr lang="en-US" dirty="0" smtClean="0">
                <a:solidFill>
                  <a:srgbClr val="FFFFFF"/>
                </a:solidFill>
                <a:latin typeface="Courier"/>
                <a:cs typeface="Courier"/>
              </a:rPr>
              <a:t>List) </a:t>
            </a:r>
            <a:r>
              <a:rPr lang="en-US" dirty="0" err="1">
                <a:solidFill>
                  <a:srgbClr val="FFFFFF"/>
                </a:solidFill>
                <a:latin typeface="Courier"/>
                <a:cs typeface="Courier"/>
              </a:rPr>
              <a:t>d.get</a:t>
            </a:r>
            <a:r>
              <a:rPr lang="en-US" dirty="0">
                <a:solidFill>
                  <a:srgbClr val="FFFFFF"/>
                </a:solidFill>
                <a:latin typeface="Courier"/>
                <a:cs typeface="Courier"/>
              </a:rPr>
              <a:t>(</a:t>
            </a:r>
            <a:r>
              <a:rPr lang="en-US" dirty="0">
                <a:solidFill>
                  <a:srgbClr val="F7D58F"/>
                </a:solidFill>
                <a:latin typeface="Courier"/>
                <a:cs typeface="Courier"/>
              </a:rPr>
              <a:t>”addresses”</a:t>
            </a:r>
            <a:r>
              <a:rPr lang="en-US" dirty="0">
                <a:solidFill>
                  <a:srgbClr val="FFFFFF"/>
                </a:solidFill>
                <a:latin typeface="Courier"/>
                <a:cs typeface="Courier"/>
              </a:rPr>
              <a:t>)</a:t>
            </a:r>
            <a:r>
              <a:rPr lang="en-US" dirty="0" smtClean="0">
                <a:solidFill>
                  <a:srgbClr val="FFFFFF"/>
                </a:solidFill>
                <a:latin typeface="Courier"/>
                <a:cs typeface="Courier"/>
              </a:rPr>
              <a:t>;</a:t>
            </a: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 If not there, try to get the old one:</a:t>
            </a:r>
            <a:endParaRPr lang="en-US" dirty="0">
              <a:solidFill>
                <a:srgbClr val="FFFFFF"/>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if(</a:t>
            </a:r>
            <a:r>
              <a:rPr lang="en-US" dirty="0" err="1" smtClean="0">
                <a:solidFill>
                  <a:srgbClr val="FFFFFF"/>
                </a:solidFill>
                <a:latin typeface="Courier"/>
                <a:cs typeface="Courier"/>
              </a:rPr>
              <a:t>addrl</a:t>
            </a:r>
            <a:r>
              <a:rPr lang="en-US" dirty="0" smtClean="0">
                <a:solidFill>
                  <a:srgbClr val="FFFFFF"/>
                </a:solidFill>
                <a:latin typeface="Courier"/>
                <a:cs typeface="Courier"/>
              </a:rPr>
              <a:t> == null) {</a:t>
            </a:r>
          </a:p>
          <a:p>
            <a:pPr marL="0" indent="0">
              <a:lnSpc>
                <a:spcPct val="100000"/>
              </a:lnSpc>
              <a:spcBef>
                <a:spcPts val="72"/>
              </a:spcBef>
              <a:buNone/>
            </a:pPr>
            <a:r>
              <a:rPr lang="en-US" dirty="0">
                <a:solidFill>
                  <a:srgbClr val="FFFFFF"/>
                </a:solidFill>
                <a:latin typeface="Courier"/>
                <a:cs typeface="Courier"/>
              </a:rPr>
              <a:t> </a:t>
            </a:r>
            <a:r>
              <a:rPr lang="en-US" dirty="0" smtClean="0">
                <a:solidFill>
                  <a:srgbClr val="FFFFFF"/>
                </a:solidFill>
                <a:latin typeface="Courier"/>
                <a:cs typeface="Courier"/>
              </a:rPr>
              <a:t> Map </a:t>
            </a:r>
            <a:r>
              <a:rPr lang="en-US" dirty="0" err="1" smtClean="0">
                <a:solidFill>
                  <a:srgbClr val="FFFFFF"/>
                </a:solidFill>
                <a:latin typeface="Courier"/>
                <a:cs typeface="Courier"/>
              </a:rPr>
              <a:t>oneAddr</a:t>
            </a:r>
            <a:r>
              <a:rPr lang="en-US" dirty="0" smtClean="0">
                <a:solidFill>
                  <a:srgbClr val="FFFFFF"/>
                </a:solidFill>
                <a:latin typeface="Courier"/>
                <a:cs typeface="Courier"/>
              </a:rPr>
              <a:t> = (Map) </a:t>
            </a:r>
            <a:r>
              <a:rPr lang="en-US" dirty="0" err="1" smtClean="0">
                <a:solidFill>
                  <a:srgbClr val="FFFFFF"/>
                </a:solidFill>
                <a:latin typeface="Courier"/>
                <a:cs typeface="Courier"/>
              </a:rPr>
              <a:t>d.get</a:t>
            </a:r>
            <a:r>
              <a:rPr lang="en-US" dirty="0" smtClean="0">
                <a:solidFill>
                  <a:srgbClr val="FFFFFF"/>
                </a:solidFill>
                <a:latin typeface="Courier"/>
                <a:cs typeface="Courier"/>
              </a:rPr>
              <a:t>(</a:t>
            </a:r>
            <a:r>
              <a:rPr lang="en-US" dirty="0" smtClean="0">
                <a:solidFill>
                  <a:srgbClr val="F7D58F"/>
                </a:solidFill>
                <a:latin typeface="Courier"/>
                <a:cs typeface="Courier"/>
              </a:rPr>
              <a:t>”address”</a:t>
            </a:r>
            <a:r>
              <a:rPr lang="en-US" dirty="0" smtClean="0">
                <a:solidFill>
                  <a:srgbClr val="FFFFFF"/>
                </a:solidFill>
                <a:latin typeface="Courier"/>
                <a:cs typeface="Courier"/>
              </a:rPr>
              <a:t>);</a:t>
            </a:r>
          </a:p>
          <a:p>
            <a:pPr marL="0" indent="0">
              <a:lnSpc>
                <a:spcPct val="100000"/>
              </a:lnSpc>
              <a:spcBef>
                <a:spcPts val="72"/>
              </a:spcBef>
              <a:buNone/>
            </a:pPr>
            <a:r>
              <a:rPr lang="en-US" dirty="0" smtClean="0">
                <a:solidFill>
                  <a:srgbClr val="FFFFFF"/>
                </a:solidFill>
                <a:latin typeface="Courier"/>
                <a:cs typeface="Courier"/>
              </a:rPr>
              <a:t>  if(</a:t>
            </a:r>
            <a:r>
              <a:rPr lang="en-US" dirty="0" err="1" smtClean="0">
                <a:solidFill>
                  <a:srgbClr val="FFFFFF"/>
                </a:solidFill>
                <a:latin typeface="Courier"/>
                <a:cs typeface="Courier"/>
              </a:rPr>
              <a:t>oneAddr</a:t>
            </a:r>
            <a:r>
              <a:rPr lang="en-US" dirty="0" smtClean="0">
                <a:solidFill>
                  <a:srgbClr val="FFFFFF"/>
                </a:solidFill>
                <a:latin typeface="Courier"/>
                <a:cs typeface="Courier"/>
              </a:rPr>
              <a:t> != null) {</a:t>
            </a:r>
          </a:p>
          <a:p>
            <a:pPr marL="0" indent="0">
              <a:lnSpc>
                <a:spcPct val="100000"/>
              </a:lnSpc>
              <a:spcBef>
                <a:spcPts val="72"/>
              </a:spcBef>
              <a:buNone/>
            </a:pPr>
            <a:r>
              <a:rPr lang="en-US" dirty="0" smtClean="0">
                <a:solidFill>
                  <a:srgbClr val="FFFFFF"/>
                </a:solidFill>
                <a:latin typeface="Courier"/>
                <a:cs typeface="Courier"/>
              </a:rPr>
              <a:t>    </a:t>
            </a:r>
            <a:r>
              <a:rPr lang="en-US" dirty="0" err="1" smtClean="0">
                <a:solidFill>
                  <a:srgbClr val="FFFFFF"/>
                </a:solidFill>
                <a:latin typeface="Courier"/>
                <a:cs typeface="Courier"/>
              </a:rPr>
              <a:t>addrl</a:t>
            </a:r>
            <a:r>
              <a:rPr lang="en-US" dirty="0" smtClean="0">
                <a:solidFill>
                  <a:srgbClr val="FFFFFF"/>
                </a:solidFill>
                <a:latin typeface="Courier"/>
                <a:cs typeface="Courier"/>
              </a:rPr>
              <a:t> = new List();</a:t>
            </a:r>
          </a:p>
          <a:p>
            <a:pPr marL="0" indent="0">
              <a:lnSpc>
                <a:spcPct val="100000"/>
              </a:lnSpc>
              <a:spcBef>
                <a:spcPts val="72"/>
              </a:spcBef>
              <a:buNone/>
            </a:pPr>
            <a:r>
              <a:rPr lang="en-US" dirty="0">
                <a:solidFill>
                  <a:srgbClr val="FFFFFF"/>
                </a:solidFill>
                <a:latin typeface="Courier"/>
                <a:cs typeface="Courier"/>
              </a:rPr>
              <a:t> </a:t>
            </a:r>
            <a:r>
              <a:rPr lang="en-US" dirty="0" smtClean="0">
                <a:solidFill>
                  <a:srgbClr val="FFFFFF"/>
                </a:solidFill>
                <a:latin typeface="Courier"/>
                <a:cs typeface="Courier"/>
              </a:rPr>
              <a:t>   </a:t>
            </a:r>
            <a:r>
              <a:rPr lang="en-US" dirty="0" err="1" smtClean="0">
                <a:solidFill>
                  <a:srgbClr val="FFFFFF"/>
                </a:solidFill>
                <a:latin typeface="Courier"/>
                <a:cs typeface="Courier"/>
              </a:rPr>
              <a:t>addrl.append</a:t>
            </a:r>
            <a:r>
              <a:rPr lang="en-US" dirty="0" smtClean="0">
                <a:solidFill>
                  <a:srgbClr val="FFFFFF"/>
                </a:solidFill>
                <a:latin typeface="Courier"/>
                <a:cs typeface="Courier"/>
              </a:rPr>
              <a:t>(</a:t>
            </a:r>
            <a:r>
              <a:rPr lang="en-US" dirty="0" err="1" smtClean="0">
                <a:solidFill>
                  <a:srgbClr val="FFFFFF"/>
                </a:solidFill>
                <a:latin typeface="Courier"/>
                <a:cs typeface="Courier"/>
              </a:rPr>
              <a:t>oneAddr</a:t>
            </a:r>
            <a:r>
              <a:rPr lang="en-US" dirty="0" smtClean="0">
                <a:solidFill>
                  <a:srgbClr val="FFFFFF"/>
                </a:solidFill>
                <a:latin typeface="Courier"/>
                <a:cs typeface="Courier"/>
              </a:rPr>
              <a:t>);	</a:t>
            </a:r>
          </a:p>
          <a:p>
            <a:pPr marL="0" indent="0">
              <a:lnSpc>
                <a:spcPct val="100000"/>
              </a:lnSpc>
              <a:spcBef>
                <a:spcPts val="72"/>
              </a:spcBef>
              <a:buNone/>
            </a:pPr>
            <a:r>
              <a:rPr lang="en-US" dirty="0" smtClean="0">
                <a:solidFill>
                  <a:srgbClr val="FFFFFF"/>
                </a:solidFill>
                <a:latin typeface="Courier"/>
                <a:cs typeface="Courier"/>
              </a:rPr>
              <a:t>  }</a:t>
            </a:r>
          </a:p>
          <a:p>
            <a:pPr marL="0" indent="0">
              <a:lnSpc>
                <a:spcPct val="100000"/>
              </a:lnSpc>
              <a:spcBef>
                <a:spcPts val="72"/>
              </a:spcBef>
              <a:buNone/>
            </a:pPr>
            <a:r>
              <a:rPr lang="en-US" dirty="0">
                <a:solidFill>
                  <a:srgbClr val="FFFFFF"/>
                </a:solidFill>
                <a:latin typeface="Courier"/>
                <a:cs typeface="Courier"/>
              </a:rPr>
              <a:t>}</a:t>
            </a:r>
            <a:r>
              <a:rPr lang="en-US" dirty="0" smtClean="0">
                <a:solidFill>
                  <a:srgbClr val="FFFFFF"/>
                </a:solidFill>
                <a:latin typeface="Courier"/>
                <a:cs typeface="Courier"/>
              </a:rPr>
              <a:t>  </a:t>
            </a: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 </a:t>
            </a:r>
            <a:r>
              <a:rPr lang="en-US" dirty="0" err="1" smtClean="0">
                <a:solidFill>
                  <a:srgbClr val="FFFFFF"/>
                </a:solidFill>
                <a:latin typeface="Courier"/>
                <a:cs typeface="Courier"/>
              </a:rPr>
              <a:t>addrl</a:t>
            </a:r>
            <a:r>
              <a:rPr lang="en-US" dirty="0" smtClean="0">
                <a:solidFill>
                  <a:srgbClr val="FFFFFF"/>
                </a:solidFill>
                <a:latin typeface="Courier"/>
                <a:cs typeface="Courier"/>
              </a:rPr>
              <a:t> either exists with 1 or more items or is null</a:t>
            </a:r>
            <a:endParaRPr lang="en-US" dirty="0">
              <a:solidFill>
                <a:srgbClr val="FFFFFF"/>
              </a:solidFill>
              <a:latin typeface="Courier"/>
              <a:cs typeface="Courier"/>
            </a:endParaRPr>
          </a:p>
        </p:txBody>
      </p:sp>
    </p:spTree>
    <p:extLst>
      <p:ext uri="{BB962C8B-B14F-4D97-AF65-F5344CB8AC3E}">
        <p14:creationId xmlns:p14="http://schemas.microsoft.com/office/powerpoint/2010/main" val="329329659"/>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7200" y="274638"/>
            <a:ext cx="8229600" cy="6178302"/>
          </a:xfrm>
          <a:prstGeom prst="rect">
            <a:avLst/>
          </a:prstGeom>
        </p:spPr>
        <p:txBody>
          <a:bodyPr anchor="ctr">
            <a:normAutofit/>
          </a:bodyPr>
          <a:lstStyle>
            <a:lvl1pPr algn="ctr" defTabSz="457200" rtl="0" eaLnBrk="1" latinLnBrk="0" hangingPunct="1">
              <a:spcBef>
                <a:spcPct val="0"/>
              </a:spcBef>
              <a:buNone/>
              <a:defRPr sz="3600" b="1" kern="1200" spc="-150">
                <a:solidFill>
                  <a:srgbClr val="242423"/>
                </a:solidFill>
                <a:latin typeface="Arial"/>
                <a:ea typeface="+mj-ea"/>
                <a:cs typeface="Arial"/>
              </a:defRPr>
            </a:lvl1pPr>
          </a:lstStyle>
          <a:p>
            <a:pPr algn="l"/>
            <a:r>
              <a:rPr lang="en-US" sz="4400" dirty="0" smtClean="0"/>
              <a:t>Question:</a:t>
            </a:r>
          </a:p>
          <a:p>
            <a:pPr algn="l"/>
            <a:r>
              <a:rPr lang="en-US" sz="4400" dirty="0" smtClean="0">
                <a:solidFill>
                  <a:srgbClr val="5B972B"/>
                </a:solidFill>
              </a:rPr>
              <a:t>Who is the publisher of this book?</a:t>
            </a:r>
            <a:endParaRPr lang="en-US" sz="4400" dirty="0">
              <a:solidFill>
                <a:srgbClr val="5B972B"/>
              </a:solidFill>
            </a:endParaRPr>
          </a:p>
        </p:txBody>
      </p:sp>
    </p:spTree>
    <p:extLst>
      <p:ext uri="{BB962C8B-B14F-4D97-AF65-F5344CB8AC3E}">
        <p14:creationId xmlns:p14="http://schemas.microsoft.com/office/powerpoint/2010/main" val="1468459789"/>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Book</a:t>
            </a:r>
            <a:endParaRPr lang="en-US" dirty="0"/>
          </a:p>
        </p:txBody>
      </p:sp>
      <p:sp>
        <p:nvSpPr>
          <p:cNvPr id="4" name="Text Placeholder 3"/>
          <p:cNvSpPr>
            <a:spLocks noGrp="1"/>
          </p:cNvSpPr>
          <p:nvPr>
            <p:ph idx="1"/>
          </p:nvPr>
        </p:nvSpPr>
        <p:spPr/>
        <p:txBody>
          <a:bodyPr/>
          <a:lstStyle/>
          <a:p>
            <a:pPr>
              <a:lnSpc>
                <a:spcPct val="100000"/>
              </a:lnSpc>
              <a:spcBef>
                <a:spcPts val="72"/>
              </a:spcBef>
            </a:pPr>
            <a:r>
              <a:rPr lang="en-US" sz="2000" dirty="0" err="1" smtClean="0"/>
              <a:t>MongoDB</a:t>
            </a:r>
            <a:r>
              <a:rPr lang="en-US" sz="2000" dirty="0"/>
              <a:t>: The Definitive Guide,</a:t>
            </a:r>
          </a:p>
          <a:p>
            <a:pPr>
              <a:lnSpc>
                <a:spcPct val="100000"/>
              </a:lnSpc>
              <a:spcBef>
                <a:spcPts val="72"/>
              </a:spcBef>
            </a:pPr>
            <a:r>
              <a:rPr lang="en-US" sz="2000" dirty="0"/>
              <a:t>By Kristina </a:t>
            </a:r>
            <a:r>
              <a:rPr lang="en-US" sz="2000" dirty="0" err="1"/>
              <a:t>Chodorow</a:t>
            </a:r>
            <a:r>
              <a:rPr lang="en-US" sz="2000" dirty="0"/>
              <a:t> and Mike </a:t>
            </a:r>
            <a:r>
              <a:rPr lang="en-US" sz="2000" dirty="0" err="1"/>
              <a:t>Dirolf</a:t>
            </a:r>
            <a:endParaRPr lang="en-US" sz="2000" dirty="0"/>
          </a:p>
          <a:p>
            <a:pPr>
              <a:lnSpc>
                <a:spcPct val="100000"/>
              </a:lnSpc>
              <a:spcBef>
                <a:spcPts val="72"/>
              </a:spcBef>
            </a:pPr>
            <a:r>
              <a:rPr lang="en-US" sz="2000" dirty="0"/>
              <a:t>Published: 9/24/2010</a:t>
            </a:r>
          </a:p>
          <a:p>
            <a:pPr>
              <a:lnSpc>
                <a:spcPct val="100000"/>
              </a:lnSpc>
              <a:spcBef>
                <a:spcPts val="72"/>
              </a:spcBef>
            </a:pPr>
            <a:r>
              <a:rPr lang="en-US" sz="2000" dirty="0"/>
              <a:t>Pages: 216</a:t>
            </a:r>
          </a:p>
          <a:p>
            <a:pPr>
              <a:lnSpc>
                <a:spcPct val="100000"/>
              </a:lnSpc>
              <a:spcBef>
                <a:spcPts val="72"/>
              </a:spcBef>
            </a:pPr>
            <a:r>
              <a:rPr lang="en-US" sz="2000" dirty="0"/>
              <a:t>Language: </a:t>
            </a:r>
            <a:r>
              <a:rPr lang="en-US" sz="2000" dirty="0" smtClean="0"/>
              <a:t>English</a:t>
            </a:r>
          </a:p>
          <a:p>
            <a:pPr>
              <a:lnSpc>
                <a:spcPct val="100000"/>
              </a:lnSpc>
              <a:spcBef>
                <a:spcPts val="72"/>
              </a:spcBef>
            </a:pPr>
            <a:endParaRPr lang="en-US" sz="2000" dirty="0"/>
          </a:p>
          <a:p>
            <a:pPr>
              <a:lnSpc>
                <a:spcPct val="100000"/>
              </a:lnSpc>
              <a:spcBef>
                <a:spcPts val="72"/>
              </a:spcBef>
            </a:pPr>
            <a:r>
              <a:rPr lang="en-US" sz="2000" dirty="0"/>
              <a:t>Publisher: O’Reilly Media, CA</a:t>
            </a:r>
          </a:p>
          <a:p>
            <a:pPr>
              <a:lnSpc>
                <a:spcPct val="100000"/>
              </a:lnSpc>
            </a:pPr>
            <a:endParaRPr lang="en-US" sz="2000" dirty="0"/>
          </a:p>
        </p:txBody>
      </p:sp>
      <p:pic>
        <p:nvPicPr>
          <p:cNvPr id="5" name="Picture 4"/>
          <p:cNvPicPr>
            <a:picLocks noChangeAspect="1"/>
          </p:cNvPicPr>
          <p:nvPr/>
        </p:nvPicPr>
        <p:blipFill rotWithShape="1">
          <a:blip r:embed="rId3"/>
          <a:srcRect l="11785" r="12489"/>
          <a:stretch/>
        </p:blipFill>
        <p:spPr>
          <a:xfrm>
            <a:off x="5394119" y="1187832"/>
            <a:ext cx="3339075" cy="4409440"/>
          </a:xfrm>
          <a:prstGeom prst="rect">
            <a:avLst/>
          </a:prstGeom>
        </p:spPr>
      </p:pic>
    </p:spTree>
    <p:extLst>
      <p:ext uri="{BB962C8B-B14F-4D97-AF65-F5344CB8AC3E}">
        <p14:creationId xmlns:p14="http://schemas.microsoft.com/office/powerpoint/2010/main" val="167581087"/>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Book with Embedded Publisher</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en-US" dirty="0">
                <a:solidFill>
                  <a:srgbClr val="FFFFFF"/>
                </a:solidFill>
                <a:latin typeface="Courier"/>
                <a:cs typeface="Courier"/>
              </a:rPr>
              <a:t>&gt; book = </a:t>
            </a:r>
            <a:r>
              <a:rPr lang="en-US" dirty="0" err="1">
                <a:solidFill>
                  <a:srgbClr val="FFFFFF"/>
                </a:solidFill>
                <a:latin typeface="Courier"/>
                <a:cs typeface="Courier"/>
              </a:rPr>
              <a:t>db.books.find</a:t>
            </a:r>
            <a:r>
              <a:rPr lang="en-US" dirty="0">
                <a:solidFill>
                  <a:srgbClr val="FFFFFF"/>
                </a:solidFill>
                <a:latin typeface="Courier"/>
                <a:cs typeface="Courier"/>
              </a:rPr>
              <a:t>({ _id :</a:t>
            </a:r>
            <a:r>
              <a:rPr lang="en-US" dirty="0">
                <a:latin typeface="Courier"/>
                <a:cs typeface="Courier"/>
              </a:rPr>
              <a:t> </a:t>
            </a:r>
            <a:r>
              <a:rPr lang="en-US" dirty="0">
                <a:solidFill>
                  <a:srgbClr val="8EB85E"/>
                </a:solidFill>
                <a:latin typeface="Courier"/>
                <a:cs typeface="Courier"/>
              </a:rPr>
              <a:t>“123”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_id:</a:t>
            </a:r>
            <a:r>
              <a:rPr lang="en-US" dirty="0">
                <a:latin typeface="Courier"/>
                <a:cs typeface="Courier"/>
              </a:rPr>
              <a:t> </a:t>
            </a:r>
            <a:r>
              <a:rPr lang="en-US" dirty="0">
                <a:solidFill>
                  <a:srgbClr val="8EB85E"/>
                </a:solidFill>
                <a:latin typeface="Courier"/>
                <a:cs typeface="Courier"/>
              </a:rPr>
              <a:t>“123”</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title:</a:t>
            </a:r>
            <a:r>
              <a:rPr lang="en-US" dirty="0">
                <a:latin typeface="Courier"/>
                <a:cs typeface="Courier"/>
              </a:rPr>
              <a:t> </a:t>
            </a:r>
            <a:r>
              <a:rPr lang="en-US" dirty="0">
                <a:solidFill>
                  <a:srgbClr val="F7D58F"/>
                </a:solidFill>
                <a:latin typeface="Courier"/>
                <a:cs typeface="Courier"/>
              </a:rPr>
              <a:t>"MongoDB: The Definitive Guide"</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authors: [ </a:t>
            </a:r>
            <a:r>
              <a:rPr lang="en-US" dirty="0">
                <a:solidFill>
                  <a:srgbClr val="F7D58F"/>
                </a:solidFill>
                <a:latin typeface="Courier"/>
                <a:cs typeface="Courier"/>
              </a:rPr>
              <a:t>"Kristina </a:t>
            </a:r>
            <a:r>
              <a:rPr lang="en-US" dirty="0" err="1">
                <a:solidFill>
                  <a:srgbClr val="F7D58F"/>
                </a:solidFill>
                <a:latin typeface="Courier"/>
                <a:cs typeface="Courier"/>
              </a:rPr>
              <a:t>Chodorow</a:t>
            </a:r>
            <a:r>
              <a:rPr lang="en-US" dirty="0">
                <a:solidFill>
                  <a:srgbClr val="F7D58F"/>
                </a:solidFill>
                <a:latin typeface="Courier"/>
                <a:cs typeface="Courier"/>
              </a:rPr>
              <a:t>"</a:t>
            </a:r>
            <a:r>
              <a:rPr lang="en-US" dirty="0">
                <a:solidFill>
                  <a:srgbClr val="FFFFFF"/>
                </a:solidFill>
                <a:latin typeface="Courier"/>
                <a:cs typeface="Courier"/>
              </a:rPr>
              <a:t>,</a:t>
            </a:r>
            <a:r>
              <a:rPr lang="en-US" dirty="0">
                <a:latin typeface="Courier"/>
                <a:cs typeface="Courier"/>
              </a:rPr>
              <a:t> </a:t>
            </a:r>
            <a:r>
              <a:rPr lang="en-US" dirty="0">
                <a:solidFill>
                  <a:srgbClr val="F7D58F"/>
                </a:solidFill>
                <a:latin typeface="Courier"/>
                <a:cs typeface="Courier"/>
              </a:rPr>
              <a:t>"Mike </a:t>
            </a:r>
            <a:r>
              <a:rPr lang="en-US" dirty="0" err="1">
                <a:solidFill>
                  <a:srgbClr val="F7D58F"/>
                </a:solidFill>
                <a:latin typeface="Courier"/>
                <a:cs typeface="Courier"/>
              </a:rPr>
              <a:t>Dirolf</a:t>
            </a:r>
            <a:r>
              <a:rPr lang="en-US" dirty="0">
                <a:solidFill>
                  <a:srgbClr val="F7D58F"/>
                </a:solidFill>
                <a:latin typeface="Courier"/>
                <a:cs typeface="Courier"/>
              </a:rPr>
              <a:t>" </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err="1">
                <a:solidFill>
                  <a:srgbClr val="FFFFFF"/>
                </a:solidFill>
                <a:latin typeface="Courier"/>
                <a:cs typeface="Courier"/>
              </a:rPr>
              <a:t>published_date</a:t>
            </a:r>
            <a:r>
              <a:rPr lang="en-US" dirty="0">
                <a:solidFill>
                  <a:srgbClr val="FFFFFF"/>
                </a:solidFill>
                <a:latin typeface="Courier"/>
                <a:cs typeface="Courier"/>
              </a:rPr>
              <a:t>: </a:t>
            </a:r>
            <a:r>
              <a:rPr lang="en-US" dirty="0" err="1">
                <a:solidFill>
                  <a:srgbClr val="FFFFFF"/>
                </a:solidFill>
                <a:latin typeface="Courier"/>
                <a:cs typeface="Courier"/>
              </a:rPr>
              <a:t>ISODate</a:t>
            </a:r>
            <a:r>
              <a:rPr lang="en-US" dirty="0" smtClean="0">
                <a:solidFill>
                  <a:srgbClr val="FFFFFF"/>
                </a:solidFill>
                <a:latin typeface="Courier"/>
                <a:cs typeface="Courier"/>
              </a:rPr>
              <a:t>(</a:t>
            </a:r>
            <a:r>
              <a:rPr lang="en-US" dirty="0" smtClean="0">
                <a:solidFill>
                  <a:srgbClr val="F7D58F"/>
                </a:solidFill>
                <a:latin typeface="Courier"/>
                <a:cs typeface="Courier"/>
              </a:rPr>
              <a:t>”2010-09-24”</a:t>
            </a:r>
            <a:r>
              <a:rPr lang="en-US" dirty="0" smtClean="0">
                <a:solidFill>
                  <a:srgbClr val="FFFFFF"/>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pages: 216,</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language:</a:t>
            </a:r>
            <a:r>
              <a:rPr lang="en-US" dirty="0">
                <a:latin typeface="Courier"/>
                <a:cs typeface="Courier"/>
              </a:rPr>
              <a:t> </a:t>
            </a:r>
            <a:r>
              <a:rPr lang="en-US" dirty="0">
                <a:solidFill>
                  <a:srgbClr val="F7D58F"/>
                </a:solidFill>
                <a:latin typeface="Courier"/>
                <a:cs typeface="Courier"/>
              </a:rPr>
              <a:t>"English"</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publisher: {</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name:</a:t>
            </a:r>
            <a:r>
              <a:rPr lang="en-US" dirty="0">
                <a:latin typeface="Courier"/>
                <a:cs typeface="Courier"/>
              </a:rPr>
              <a:t> </a:t>
            </a:r>
            <a:r>
              <a:rPr lang="en-US" dirty="0">
                <a:solidFill>
                  <a:srgbClr val="F7D58F"/>
                </a:solidFill>
                <a:latin typeface="Courier"/>
                <a:cs typeface="Courier"/>
              </a:rPr>
              <a:t>"O’Reilly Media"</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smtClean="0">
                <a:latin typeface="Courier"/>
                <a:cs typeface="Courier"/>
              </a:rPr>
              <a:t> </a:t>
            </a:r>
            <a:r>
              <a:rPr lang="en-US" dirty="0">
                <a:solidFill>
                  <a:srgbClr val="FFFFFF"/>
                </a:solidFill>
                <a:latin typeface="Courier"/>
                <a:cs typeface="Courier"/>
              </a:rPr>
              <a:t>founded:</a:t>
            </a:r>
            <a:r>
              <a:rPr lang="en-US" dirty="0">
                <a:latin typeface="Courier"/>
                <a:cs typeface="Courier"/>
              </a:rPr>
              <a:t> </a:t>
            </a:r>
            <a:r>
              <a:rPr lang="en-US" dirty="0" smtClean="0">
                <a:solidFill>
                  <a:srgbClr val="FFFFFF"/>
                </a:solidFill>
                <a:latin typeface="Courier"/>
                <a:cs typeface="Courier"/>
              </a:rPr>
              <a:t>1980,</a:t>
            </a:r>
            <a:endParaRPr lang="en-US" dirty="0">
              <a:solidFill>
                <a:srgbClr val="FFFFFF"/>
              </a:solidFill>
              <a:latin typeface="Courier"/>
              <a:cs typeface="Courier"/>
            </a:endParaRPr>
          </a:p>
          <a:p>
            <a:pPr marL="0" indent="0">
              <a:spcBef>
                <a:spcPts val="72"/>
              </a:spcBef>
              <a:buNone/>
            </a:pPr>
            <a:r>
              <a:rPr lang="en-US" dirty="0" smtClean="0">
                <a:latin typeface="Courier"/>
                <a:cs typeface="Courier"/>
              </a:rPr>
              <a:t>       </a:t>
            </a:r>
            <a:r>
              <a:rPr lang="en-US" dirty="0" smtClean="0">
                <a:solidFill>
                  <a:schemeClr val="bg1"/>
                </a:solidFill>
                <a:latin typeface="Courier"/>
                <a:cs typeface="Courier"/>
              </a:rPr>
              <a:t> </a:t>
            </a:r>
            <a:r>
              <a:rPr lang="en-US" dirty="0">
                <a:solidFill>
                  <a:srgbClr val="FFFFFF"/>
                </a:solidFill>
                <a:latin typeface="Courier"/>
                <a:cs typeface="Courier"/>
              </a:rPr>
              <a:t>locations: [</a:t>
            </a:r>
            <a:r>
              <a:rPr lang="en-US" dirty="0">
                <a:solidFill>
                  <a:srgbClr val="F7D58F"/>
                </a:solidFill>
                <a:latin typeface="Courier"/>
                <a:cs typeface="Courier"/>
              </a:rPr>
              <a:t>"CA”, ”NY”</a:t>
            </a:r>
            <a:r>
              <a:rPr lang="en-US" dirty="0">
                <a:solidFill>
                  <a:srgbClr val="FFFFFF"/>
                </a:solidFill>
                <a:latin typeface="Courier"/>
                <a:cs typeface="Courier"/>
              </a:rPr>
              <a:t> ]</a:t>
            </a:r>
            <a:endParaRPr lang="en-US" dirty="0">
              <a:latin typeface="Courier"/>
              <a:cs typeface="Courier"/>
            </a:endParaRPr>
          </a:p>
          <a:p>
            <a:pPr marL="0" indent="0">
              <a:lnSpc>
                <a:spcPct val="100000"/>
              </a:lnSpc>
              <a:spcBef>
                <a:spcPts val="72"/>
              </a:spcBef>
              <a:buNone/>
            </a:pPr>
            <a:r>
              <a:rPr lang="en-US" dirty="0" smtClean="0">
                <a:solidFill>
                  <a:schemeClr val="bg1"/>
                </a:solidFill>
                <a:latin typeface="Courier"/>
                <a:cs typeface="Courier"/>
              </a:rPr>
              <a:t>    }</a:t>
            </a:r>
            <a:endParaRPr lang="en-US" dirty="0">
              <a:solidFill>
                <a:schemeClr val="bg1"/>
              </a:solidFill>
              <a:latin typeface="Courier"/>
              <a:cs typeface="Courier"/>
            </a:endParaRPr>
          </a:p>
          <a:p>
            <a:pPr marL="0" indent="0">
              <a:lnSpc>
                <a:spcPct val="100000"/>
              </a:lnSpc>
              <a:spcBef>
                <a:spcPts val="72"/>
              </a:spcBef>
              <a:buNone/>
            </a:pPr>
            <a:r>
              <a:rPr lang="en-US" dirty="0">
                <a:solidFill>
                  <a:schemeClr val="bg1"/>
                </a:solidFill>
                <a:latin typeface="Courier"/>
                <a:cs typeface="Courier"/>
              </a:rPr>
              <a:t>}</a:t>
            </a:r>
          </a:p>
          <a:p>
            <a:pPr marL="0" indent="0">
              <a:buNone/>
            </a:pPr>
            <a:endParaRPr lang="en-US" dirty="0">
              <a:latin typeface="Courier"/>
              <a:cs typeface="Courier"/>
            </a:endParaRPr>
          </a:p>
        </p:txBody>
      </p:sp>
    </p:spTree>
    <p:extLst>
      <p:ext uri="{BB962C8B-B14F-4D97-AF65-F5344CB8AC3E}">
        <p14:creationId xmlns:p14="http://schemas.microsoft.com/office/powerpoint/2010/main" val="525627799"/>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Don’t Forget the Substructure!</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en-US" dirty="0">
                <a:solidFill>
                  <a:srgbClr val="FFFFFF"/>
                </a:solidFill>
                <a:latin typeface="Courier"/>
                <a:cs typeface="Courier"/>
              </a:rPr>
              <a:t>&gt; book = </a:t>
            </a:r>
            <a:r>
              <a:rPr lang="en-US" dirty="0" err="1">
                <a:solidFill>
                  <a:srgbClr val="FFFFFF"/>
                </a:solidFill>
                <a:latin typeface="Courier"/>
                <a:cs typeface="Courier"/>
              </a:rPr>
              <a:t>db.books.find</a:t>
            </a:r>
            <a:r>
              <a:rPr lang="en-US" dirty="0">
                <a:solidFill>
                  <a:srgbClr val="FFFFFF"/>
                </a:solidFill>
                <a:latin typeface="Courier"/>
                <a:cs typeface="Courier"/>
              </a:rPr>
              <a:t>({ _id :</a:t>
            </a:r>
            <a:r>
              <a:rPr lang="en-US" dirty="0">
                <a:latin typeface="Courier"/>
                <a:cs typeface="Courier"/>
              </a:rPr>
              <a:t> </a:t>
            </a:r>
            <a:r>
              <a:rPr lang="en-US" dirty="0">
                <a:solidFill>
                  <a:schemeClr val="accent2"/>
                </a:solidFill>
                <a:latin typeface="Courier"/>
                <a:cs typeface="Courier"/>
              </a:rPr>
              <a:t>“123”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_id:</a:t>
            </a:r>
            <a:r>
              <a:rPr lang="en-US" dirty="0">
                <a:latin typeface="Courier"/>
                <a:cs typeface="Courier"/>
              </a:rPr>
              <a:t> </a:t>
            </a:r>
            <a:r>
              <a:rPr lang="en-US" dirty="0">
                <a:solidFill>
                  <a:srgbClr val="8EB85E"/>
                </a:solidFill>
                <a:latin typeface="Courier"/>
                <a:cs typeface="Courier"/>
              </a:rPr>
              <a:t>“123”</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title:</a:t>
            </a:r>
            <a:r>
              <a:rPr lang="en-US" dirty="0">
                <a:latin typeface="Courier"/>
                <a:cs typeface="Courier"/>
              </a:rPr>
              <a:t> </a:t>
            </a:r>
            <a:r>
              <a:rPr lang="en-US" dirty="0">
                <a:solidFill>
                  <a:srgbClr val="F7D58F"/>
                </a:solidFill>
                <a:latin typeface="Courier"/>
                <a:cs typeface="Courier"/>
              </a:rPr>
              <a:t>"MongoDB: The Definitive Guide"</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authors: </a:t>
            </a:r>
            <a:r>
              <a:rPr lang="en-US" dirty="0" smtClean="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a:t>
            </a:r>
            <a:r>
              <a:rPr lang="en-US" dirty="0" smtClean="0">
                <a:solidFill>
                  <a:srgbClr val="FFFFFF"/>
                </a:solidFill>
                <a:latin typeface="Courier"/>
                <a:cs typeface="Courier"/>
              </a:rPr>
              <a:t>       { first: </a:t>
            </a:r>
            <a:r>
              <a:rPr lang="en-US" dirty="0" smtClean="0">
                <a:solidFill>
                  <a:srgbClr val="F7D58F"/>
                </a:solidFill>
                <a:latin typeface="Courier"/>
                <a:cs typeface="Courier"/>
              </a:rPr>
              <a:t>"Kristina”, </a:t>
            </a:r>
            <a:r>
              <a:rPr lang="en-US" dirty="0" smtClean="0">
                <a:solidFill>
                  <a:srgbClr val="FFFFFF"/>
                </a:solidFill>
                <a:latin typeface="Courier"/>
                <a:cs typeface="Courier"/>
              </a:rPr>
              <a:t>last: </a:t>
            </a:r>
            <a:r>
              <a:rPr lang="en-US" dirty="0" smtClean="0">
                <a:solidFill>
                  <a:srgbClr val="F7D58F"/>
                </a:solidFill>
                <a:latin typeface="Courier"/>
                <a:cs typeface="Courier"/>
              </a:rPr>
              <a:t>“</a:t>
            </a:r>
            <a:r>
              <a:rPr lang="en-US" dirty="0" err="1" smtClean="0">
                <a:solidFill>
                  <a:srgbClr val="F7D58F"/>
                </a:solidFill>
                <a:latin typeface="Courier"/>
                <a:cs typeface="Courier"/>
              </a:rPr>
              <a:t>Chodorow</a:t>
            </a:r>
            <a:r>
              <a:rPr lang="en-US" dirty="0" smtClean="0">
                <a:solidFill>
                  <a:srgbClr val="F7D58F"/>
                </a:solidFill>
                <a:latin typeface="Courier"/>
                <a:cs typeface="Courier"/>
              </a:rPr>
              <a:t>”</a:t>
            </a:r>
            <a:r>
              <a:rPr lang="en-US" dirty="0">
                <a:solidFill>
                  <a:srgbClr val="FFFFFF"/>
                </a:solidFill>
                <a:latin typeface="Courier"/>
                <a:cs typeface="Courier"/>
              </a:rPr>
              <a:t> </a:t>
            </a:r>
            <a:r>
              <a:rPr lang="en-US" dirty="0" smtClean="0">
                <a:solidFill>
                  <a:srgbClr val="FFFFFF"/>
                </a:solidFill>
                <a:latin typeface="Courier"/>
                <a:cs typeface="Courier"/>
              </a:rPr>
              <a:t>},</a:t>
            </a:r>
          </a:p>
          <a:p>
            <a:pPr marL="0" indent="0">
              <a:lnSpc>
                <a:spcPct val="100000"/>
              </a:lnSpc>
              <a:spcBef>
                <a:spcPts val="72"/>
              </a:spcBef>
              <a:buNone/>
            </a:pPr>
            <a:r>
              <a:rPr lang="en-US" dirty="0" smtClean="0">
                <a:solidFill>
                  <a:srgbClr val="FFFFFF"/>
                </a:solidFill>
                <a:latin typeface="Courier"/>
                <a:cs typeface="Courier"/>
              </a:rPr>
              <a:t>        { </a:t>
            </a:r>
            <a:r>
              <a:rPr lang="en-US" dirty="0">
                <a:solidFill>
                  <a:srgbClr val="FFFFFF"/>
                </a:solidFill>
                <a:latin typeface="Courier"/>
                <a:cs typeface="Courier"/>
              </a:rPr>
              <a:t>first: </a:t>
            </a:r>
            <a:r>
              <a:rPr lang="en-US" dirty="0" smtClean="0">
                <a:solidFill>
                  <a:srgbClr val="F7D58F"/>
                </a:solidFill>
                <a:latin typeface="Courier"/>
                <a:cs typeface="Courier"/>
              </a:rPr>
              <a:t>”Mike”</a:t>
            </a:r>
            <a:r>
              <a:rPr lang="en-US" dirty="0">
                <a:solidFill>
                  <a:srgbClr val="F7D58F"/>
                </a:solidFill>
                <a:latin typeface="Courier"/>
                <a:cs typeface="Courier"/>
              </a:rPr>
              <a:t>, </a:t>
            </a:r>
            <a:r>
              <a:rPr lang="en-US" dirty="0">
                <a:solidFill>
                  <a:srgbClr val="FFFFFF"/>
                </a:solidFill>
                <a:latin typeface="Courier"/>
                <a:cs typeface="Courier"/>
              </a:rPr>
              <a:t>last: </a:t>
            </a:r>
            <a:r>
              <a:rPr lang="en-US" dirty="0" smtClean="0">
                <a:solidFill>
                  <a:srgbClr val="F7D58F"/>
                </a:solidFill>
                <a:latin typeface="Courier"/>
                <a:cs typeface="Courier"/>
              </a:rPr>
              <a:t>“</a:t>
            </a:r>
            <a:r>
              <a:rPr lang="en-US" dirty="0" err="1" smtClean="0">
                <a:solidFill>
                  <a:srgbClr val="F7D58F"/>
                </a:solidFill>
                <a:latin typeface="Courier"/>
                <a:cs typeface="Courier"/>
              </a:rPr>
              <a:t>Dirolf</a:t>
            </a:r>
            <a:r>
              <a:rPr lang="en-US" dirty="0" smtClean="0">
                <a:solidFill>
                  <a:srgbClr val="F7D58F"/>
                </a:solidFill>
                <a:latin typeface="Courier"/>
                <a:cs typeface="Courier"/>
              </a:rPr>
              <a:t>”</a:t>
            </a:r>
            <a:r>
              <a:rPr lang="en-US" dirty="0" smtClean="0">
                <a:solidFill>
                  <a:srgbClr val="FFFFFF"/>
                </a:solidFill>
                <a:latin typeface="Courier"/>
                <a:cs typeface="Courier"/>
              </a:rPr>
              <a:t> }</a:t>
            </a:r>
            <a:endParaRPr lang="en-US" dirty="0">
              <a:latin typeface="Courier"/>
              <a:cs typeface="Courier"/>
            </a:endParaRPr>
          </a:p>
          <a:p>
            <a:pPr marL="0" indent="0">
              <a:lnSpc>
                <a:spcPct val="100000"/>
              </a:lnSpc>
              <a:spcBef>
                <a:spcPts val="72"/>
              </a:spcBef>
              <a:buNone/>
            </a:pPr>
            <a:r>
              <a:rPr lang="en-US" dirty="0" smtClean="0">
                <a:solidFill>
                  <a:srgbClr val="F7D58F"/>
                </a:solidFill>
                <a:latin typeface="Courier"/>
                <a:cs typeface="Courier"/>
              </a:rPr>
              <a:t>    </a:t>
            </a:r>
            <a:r>
              <a:rPr lang="en-US" dirty="0" smtClean="0">
                <a:solidFill>
                  <a:srgbClr val="FFFFFF"/>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err="1">
                <a:solidFill>
                  <a:srgbClr val="FFFFFF"/>
                </a:solidFill>
                <a:latin typeface="Courier"/>
                <a:cs typeface="Courier"/>
              </a:rPr>
              <a:t>published_date</a:t>
            </a:r>
            <a:r>
              <a:rPr lang="en-US" dirty="0">
                <a:solidFill>
                  <a:srgbClr val="FFFFFF"/>
                </a:solidFill>
                <a:latin typeface="Courier"/>
                <a:cs typeface="Courier"/>
              </a:rPr>
              <a:t>: </a:t>
            </a:r>
            <a:r>
              <a:rPr lang="en-US" dirty="0" err="1">
                <a:solidFill>
                  <a:srgbClr val="FFFFFF"/>
                </a:solidFill>
                <a:latin typeface="Courier"/>
                <a:cs typeface="Courier"/>
              </a:rPr>
              <a:t>ISODate</a:t>
            </a:r>
            <a:r>
              <a:rPr lang="en-US" dirty="0" smtClean="0">
                <a:solidFill>
                  <a:srgbClr val="FFFFFF"/>
                </a:solidFill>
                <a:latin typeface="Courier"/>
                <a:cs typeface="Courier"/>
              </a:rPr>
              <a:t>(</a:t>
            </a:r>
            <a:r>
              <a:rPr lang="en-US" dirty="0" smtClean="0">
                <a:solidFill>
                  <a:srgbClr val="F7D58F"/>
                </a:solidFill>
                <a:latin typeface="Courier"/>
                <a:cs typeface="Courier"/>
              </a:rPr>
              <a:t>”2010-09-24”</a:t>
            </a:r>
            <a:r>
              <a:rPr lang="en-US" dirty="0" smtClean="0">
                <a:solidFill>
                  <a:srgbClr val="FFFFFF"/>
                </a:solidFill>
                <a:latin typeface="Courier"/>
                <a:cs typeface="Courier"/>
              </a:rPr>
              <a:t>)</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pages: 216,</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language:</a:t>
            </a:r>
            <a:r>
              <a:rPr lang="en-US" dirty="0">
                <a:latin typeface="Courier"/>
                <a:cs typeface="Courier"/>
              </a:rPr>
              <a:t> </a:t>
            </a:r>
            <a:r>
              <a:rPr lang="en-US" dirty="0">
                <a:solidFill>
                  <a:srgbClr val="F7D58F"/>
                </a:solidFill>
                <a:latin typeface="Courier"/>
                <a:cs typeface="Courier"/>
              </a:rPr>
              <a:t>"English"</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publisher: {</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name:</a:t>
            </a:r>
            <a:r>
              <a:rPr lang="en-US" dirty="0">
                <a:latin typeface="Courier"/>
                <a:cs typeface="Courier"/>
              </a:rPr>
              <a:t> </a:t>
            </a:r>
            <a:r>
              <a:rPr lang="en-US" dirty="0">
                <a:solidFill>
                  <a:srgbClr val="F7D58F"/>
                </a:solidFill>
                <a:latin typeface="Courier"/>
                <a:cs typeface="Courier"/>
              </a:rPr>
              <a:t>"O’Reilly Media"</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smtClean="0">
                <a:latin typeface="Courier"/>
                <a:cs typeface="Courier"/>
              </a:rPr>
              <a:t> </a:t>
            </a:r>
            <a:r>
              <a:rPr lang="en-US" dirty="0">
                <a:solidFill>
                  <a:srgbClr val="FFFFFF"/>
                </a:solidFill>
                <a:latin typeface="Courier"/>
                <a:cs typeface="Courier"/>
              </a:rPr>
              <a:t>founded:</a:t>
            </a:r>
            <a:r>
              <a:rPr lang="en-US" dirty="0">
                <a:latin typeface="Courier"/>
                <a:cs typeface="Courier"/>
              </a:rPr>
              <a:t> </a:t>
            </a:r>
            <a:r>
              <a:rPr lang="en-US" dirty="0" smtClean="0">
                <a:solidFill>
                  <a:srgbClr val="FFFFFF"/>
                </a:solidFill>
                <a:latin typeface="Courier"/>
                <a:cs typeface="Courier"/>
              </a:rPr>
              <a:t>1980,</a:t>
            </a:r>
            <a:endParaRPr lang="en-US" dirty="0">
              <a:solidFill>
                <a:srgbClr val="FFFFFF"/>
              </a:solidFill>
              <a:latin typeface="Courier"/>
              <a:cs typeface="Courier"/>
            </a:endParaRPr>
          </a:p>
          <a:p>
            <a:pPr marL="0" indent="0">
              <a:spcBef>
                <a:spcPts val="72"/>
              </a:spcBef>
              <a:buNone/>
            </a:pPr>
            <a:r>
              <a:rPr lang="en-US" dirty="0" smtClean="0">
                <a:latin typeface="Courier"/>
                <a:cs typeface="Courier"/>
              </a:rPr>
              <a:t>       </a:t>
            </a:r>
            <a:r>
              <a:rPr lang="en-US" dirty="0" smtClean="0">
                <a:solidFill>
                  <a:schemeClr val="bg1"/>
                </a:solidFill>
                <a:latin typeface="Courier"/>
                <a:cs typeface="Courier"/>
              </a:rPr>
              <a:t> </a:t>
            </a:r>
            <a:r>
              <a:rPr lang="en-US" dirty="0">
                <a:solidFill>
                  <a:srgbClr val="FFFFFF"/>
                </a:solidFill>
                <a:latin typeface="Courier"/>
                <a:cs typeface="Courier"/>
              </a:rPr>
              <a:t>locations: [</a:t>
            </a:r>
            <a:r>
              <a:rPr lang="en-US" dirty="0">
                <a:solidFill>
                  <a:srgbClr val="F7D58F"/>
                </a:solidFill>
                <a:latin typeface="Courier"/>
                <a:cs typeface="Courier"/>
              </a:rPr>
              <a:t>"CA”, ”NY”</a:t>
            </a:r>
            <a:r>
              <a:rPr lang="en-US" dirty="0">
                <a:solidFill>
                  <a:srgbClr val="FFFFFF"/>
                </a:solidFill>
                <a:latin typeface="Courier"/>
                <a:cs typeface="Courier"/>
              </a:rPr>
              <a:t> ]</a:t>
            </a:r>
            <a:endParaRPr lang="en-US" dirty="0">
              <a:latin typeface="Courier"/>
              <a:cs typeface="Courier"/>
            </a:endParaRPr>
          </a:p>
          <a:p>
            <a:pPr marL="0" indent="0">
              <a:lnSpc>
                <a:spcPct val="100000"/>
              </a:lnSpc>
              <a:spcBef>
                <a:spcPts val="72"/>
              </a:spcBef>
              <a:buNone/>
            </a:pPr>
            <a:r>
              <a:rPr lang="en-US" dirty="0" smtClean="0">
                <a:solidFill>
                  <a:schemeClr val="bg1"/>
                </a:solidFill>
                <a:latin typeface="Courier"/>
                <a:cs typeface="Courier"/>
              </a:rPr>
              <a:t>    }</a:t>
            </a:r>
            <a:endParaRPr lang="en-US" dirty="0">
              <a:solidFill>
                <a:schemeClr val="bg1"/>
              </a:solidFill>
              <a:latin typeface="Courier"/>
              <a:cs typeface="Courier"/>
            </a:endParaRPr>
          </a:p>
          <a:p>
            <a:pPr marL="0" indent="0">
              <a:lnSpc>
                <a:spcPct val="100000"/>
              </a:lnSpc>
              <a:spcBef>
                <a:spcPts val="72"/>
              </a:spcBef>
              <a:buNone/>
            </a:pPr>
            <a:r>
              <a:rPr lang="en-US" dirty="0">
                <a:solidFill>
                  <a:schemeClr val="bg1"/>
                </a:solidFill>
                <a:latin typeface="Courier"/>
                <a:cs typeface="Courier"/>
              </a:rPr>
              <a:t>}</a:t>
            </a:r>
          </a:p>
          <a:p>
            <a:pPr marL="0" indent="0">
              <a:buNone/>
            </a:pPr>
            <a:endParaRPr lang="en-US" dirty="0">
              <a:latin typeface="Courier"/>
              <a:cs typeface="Courier"/>
            </a:endParaRPr>
          </a:p>
        </p:txBody>
      </p:sp>
    </p:spTree>
    <p:extLst>
      <p:ext uri="{BB962C8B-B14F-4D97-AF65-F5344CB8AC3E}">
        <p14:creationId xmlns:p14="http://schemas.microsoft.com/office/powerpoint/2010/main" val="1911215027"/>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One-To-Many Using Embedding</a:t>
            </a:r>
            <a:endParaRPr lang="en-US" dirty="0"/>
          </a:p>
        </p:txBody>
      </p:sp>
      <p:sp>
        <p:nvSpPr>
          <p:cNvPr id="4" name="Text Placeholder 3"/>
          <p:cNvSpPr>
            <a:spLocks noGrp="1"/>
          </p:cNvSpPr>
          <p:nvPr>
            <p:ph idx="1"/>
          </p:nvPr>
        </p:nvSpPr>
        <p:spPr/>
        <p:txBody>
          <a:bodyPr>
            <a:normAutofit/>
          </a:bodyPr>
          <a:lstStyle/>
          <a:p>
            <a:r>
              <a:rPr lang="en-US" sz="2400" dirty="0" smtClean="0"/>
              <a:t>Optimized for read performance of Books</a:t>
            </a:r>
          </a:p>
          <a:p>
            <a:r>
              <a:rPr lang="en-US" sz="2400" dirty="0" smtClean="0"/>
              <a:t>We accept data duplication</a:t>
            </a:r>
          </a:p>
          <a:p>
            <a:r>
              <a:rPr lang="en-US" sz="2400" dirty="0" smtClean="0"/>
              <a:t>An index on “</a:t>
            </a:r>
            <a:r>
              <a:rPr lang="en-US" sz="2400" dirty="0" err="1" smtClean="0"/>
              <a:t>publisher.name</a:t>
            </a:r>
            <a:r>
              <a:rPr lang="en-US" sz="2400" dirty="0" smtClean="0"/>
              <a:t>” provides:</a:t>
            </a:r>
          </a:p>
          <a:p>
            <a:pPr lvl="1"/>
            <a:r>
              <a:rPr lang="en-US" sz="2400" dirty="0" smtClean="0"/>
              <a:t>Efficient lookup of all books for given publisher name</a:t>
            </a:r>
          </a:p>
          <a:p>
            <a:pPr lvl="1"/>
            <a:r>
              <a:rPr lang="en-US" sz="2400" dirty="0" smtClean="0"/>
              <a:t>Efficient way to find all publisher names (distinct) </a:t>
            </a:r>
          </a:p>
          <a:p>
            <a:r>
              <a:rPr lang="en-US" sz="2400" dirty="0" smtClean="0"/>
              <a:t>Does not automatically mean there is no “master” Publisher collection (from which data is copied when creating a new Book)</a:t>
            </a:r>
          </a:p>
          <a:p>
            <a:endParaRPr lang="en-US" sz="2000" dirty="0" smtClean="0"/>
          </a:p>
        </p:txBody>
      </p:sp>
    </p:spTree>
    <p:extLst>
      <p:ext uri="{BB962C8B-B14F-4D97-AF65-F5344CB8AC3E}">
        <p14:creationId xmlns:p14="http://schemas.microsoft.com/office/powerpoint/2010/main" val="2297841953"/>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Publishers as a Separate Entity</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rgbClr val="FFFFFF"/>
                </a:solidFill>
                <a:latin typeface="Courier"/>
                <a:cs typeface="Courier"/>
              </a:rPr>
              <a:t>&gt; publishers = </a:t>
            </a:r>
            <a:r>
              <a:rPr lang="en-US" dirty="0" err="1">
                <a:solidFill>
                  <a:srgbClr val="FFFFFF"/>
                </a:solidFill>
                <a:latin typeface="Courier"/>
                <a:cs typeface="Courier"/>
              </a:rPr>
              <a:t>db.publishers.find</a:t>
            </a: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    _id:</a:t>
            </a:r>
            <a:r>
              <a:rPr lang="en-US" dirty="0">
                <a:latin typeface="Courier"/>
                <a:cs typeface="Courier"/>
              </a:rPr>
              <a:t> </a:t>
            </a:r>
            <a:r>
              <a:rPr lang="en-US" dirty="0">
                <a:solidFill>
                  <a:schemeClr val="accent1">
                    <a:lumMod val="75000"/>
                  </a:schemeClr>
                </a:solidFill>
                <a:latin typeface="Courier"/>
                <a:cs typeface="Courier"/>
              </a:rPr>
              <a:t>“</a:t>
            </a:r>
            <a:r>
              <a:rPr lang="en-US" dirty="0" err="1">
                <a:solidFill>
                  <a:schemeClr val="accent1">
                    <a:lumMod val="75000"/>
                  </a:schemeClr>
                </a:solidFill>
                <a:latin typeface="Courier"/>
                <a:cs typeface="Courier"/>
              </a:rPr>
              <a:t>oreilly</a:t>
            </a:r>
            <a:r>
              <a:rPr lang="en-US" dirty="0">
                <a:solidFill>
                  <a:schemeClr val="accent1">
                    <a:lumMod val="75000"/>
                  </a:schemeClr>
                </a:solidFill>
                <a:latin typeface="Courier"/>
                <a:cs typeface="Courier"/>
              </a:rPr>
              <a:t>”</a:t>
            </a:r>
            <a:r>
              <a:rPr lang="en-US" dirty="0">
                <a:solidFill>
                  <a:srgbClr val="FFFFFF"/>
                </a:solidFill>
                <a:latin typeface="Courier"/>
                <a:cs typeface="Courier"/>
              </a:rPr>
              <a:t>,</a:t>
            </a:r>
          </a:p>
          <a:p>
            <a:pPr marL="0" indent="0">
              <a:spcBef>
                <a:spcPts val="72"/>
              </a:spcBef>
              <a:buNone/>
            </a:pPr>
            <a:r>
              <a:rPr lang="en-US" dirty="0">
                <a:latin typeface="Courier"/>
                <a:cs typeface="Courier"/>
              </a:rPr>
              <a:t>    </a:t>
            </a:r>
            <a:r>
              <a:rPr lang="en-US" dirty="0">
                <a:solidFill>
                  <a:srgbClr val="FFFFFF"/>
                </a:solidFill>
                <a:latin typeface="Courier"/>
                <a:cs typeface="Courier"/>
              </a:rPr>
              <a:t>name:</a:t>
            </a:r>
            <a:r>
              <a:rPr lang="en-US" dirty="0">
                <a:latin typeface="Courier"/>
                <a:cs typeface="Courier"/>
              </a:rPr>
              <a:t> </a:t>
            </a:r>
            <a:r>
              <a:rPr lang="en-US" dirty="0">
                <a:solidFill>
                  <a:srgbClr val="F7D58F"/>
                </a:solidFill>
                <a:latin typeface="Courier"/>
                <a:cs typeface="Courier"/>
              </a:rPr>
              <a:t>"O’Reilly Media"</a:t>
            </a:r>
            <a:r>
              <a:rPr lang="en-US" dirty="0">
                <a:solidFill>
                  <a:srgbClr val="FFFFFF"/>
                </a:solidFill>
                <a:latin typeface="Courier"/>
                <a:cs typeface="Courier"/>
              </a:rPr>
              <a:t>,</a:t>
            </a:r>
          </a:p>
          <a:p>
            <a:pPr marL="0" indent="0">
              <a:spcBef>
                <a:spcPts val="72"/>
              </a:spcBef>
              <a:buNone/>
            </a:pPr>
            <a:r>
              <a:rPr lang="en-US" dirty="0">
                <a:latin typeface="Courier"/>
                <a:cs typeface="Courier"/>
              </a:rPr>
              <a:t>    </a:t>
            </a:r>
            <a:r>
              <a:rPr lang="en-US" dirty="0">
                <a:solidFill>
                  <a:srgbClr val="FFFFFF"/>
                </a:solidFill>
                <a:latin typeface="Courier"/>
                <a:cs typeface="Courier"/>
              </a:rPr>
              <a:t>founded:</a:t>
            </a:r>
            <a:r>
              <a:rPr lang="en-US" dirty="0">
                <a:latin typeface="Courier"/>
                <a:cs typeface="Courier"/>
              </a:rPr>
              <a:t> </a:t>
            </a:r>
            <a:r>
              <a:rPr lang="en-US" dirty="0" smtClean="0">
                <a:solidFill>
                  <a:schemeClr val="bg1"/>
                </a:solidFill>
                <a:latin typeface="Courier"/>
                <a:cs typeface="Courier"/>
              </a:rPr>
              <a:t>1980</a:t>
            </a: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spcBef>
                <a:spcPts val="72"/>
              </a:spcBef>
              <a:buNone/>
            </a:pPr>
            <a:r>
              <a:rPr lang="en-US" dirty="0">
                <a:latin typeface="Courier"/>
                <a:cs typeface="Courier"/>
              </a:rPr>
              <a:t>    </a:t>
            </a:r>
            <a:r>
              <a:rPr lang="en-US" dirty="0">
                <a:solidFill>
                  <a:srgbClr val="FFFFFF"/>
                </a:solidFill>
                <a:latin typeface="Courier"/>
                <a:cs typeface="Courier"/>
              </a:rPr>
              <a:t>locations: [</a:t>
            </a:r>
            <a:r>
              <a:rPr lang="en-US" dirty="0">
                <a:solidFill>
                  <a:srgbClr val="F7D58F"/>
                </a:solidFill>
                <a:latin typeface="Courier"/>
                <a:cs typeface="Courier"/>
              </a:rPr>
              <a:t>"CA”, ”NY”</a:t>
            </a:r>
            <a:r>
              <a:rPr lang="en-US" dirty="0">
                <a:solidFill>
                  <a:srgbClr val="FFFFFF"/>
                </a:solidFill>
                <a:latin typeface="Courier"/>
                <a:cs typeface="Courier"/>
              </a:rPr>
              <a:t> ]</a:t>
            </a:r>
            <a:endParaRPr lang="en-US" dirty="0">
              <a:latin typeface="Courier"/>
              <a:cs typeface="Courier"/>
            </a:endParaRPr>
          </a:p>
          <a:p>
            <a:pPr marL="0" indent="0">
              <a:spcBef>
                <a:spcPts val="72"/>
              </a:spcBef>
              <a:buNone/>
            </a:pP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spcBef>
                <a:spcPts val="72"/>
              </a:spcBef>
              <a:buNone/>
            </a:pP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    _id: </a:t>
            </a:r>
            <a:r>
              <a:rPr lang="en-US" dirty="0">
                <a:solidFill>
                  <a:srgbClr val="8EB85E"/>
                </a:solidFill>
                <a:latin typeface="Courier"/>
                <a:cs typeface="Courier"/>
              </a:rPr>
              <a:t>“penguin”</a:t>
            </a:r>
            <a:r>
              <a:rPr lang="en-US" dirty="0">
                <a:solidFill>
                  <a:srgbClr val="FFFFFF"/>
                </a:solidFill>
                <a:latin typeface="Courier"/>
                <a:cs typeface="Courier"/>
              </a:rPr>
              <a:t>,</a:t>
            </a:r>
          </a:p>
          <a:p>
            <a:pPr marL="0" indent="0">
              <a:spcBef>
                <a:spcPts val="72"/>
              </a:spcBef>
              <a:buNone/>
            </a:pPr>
            <a:r>
              <a:rPr lang="en-US" dirty="0">
                <a:latin typeface="Courier"/>
                <a:cs typeface="Courier"/>
              </a:rPr>
              <a:t>    </a:t>
            </a:r>
            <a:r>
              <a:rPr lang="en-US" dirty="0">
                <a:solidFill>
                  <a:srgbClr val="FFFFFF"/>
                </a:solidFill>
                <a:latin typeface="Courier"/>
                <a:cs typeface="Courier"/>
              </a:rPr>
              <a:t>name</a:t>
            </a:r>
            <a:r>
              <a:rPr lang="en-US" dirty="0" smtClean="0">
                <a:solidFill>
                  <a:srgbClr val="FFFFFF"/>
                </a:solidFill>
                <a:latin typeface="Courier"/>
                <a:cs typeface="Courier"/>
              </a:rPr>
              <a:t>: </a:t>
            </a:r>
            <a:r>
              <a:rPr lang="en-US" dirty="0" smtClean="0">
                <a:solidFill>
                  <a:srgbClr val="F7D58F"/>
                </a:solidFill>
                <a:latin typeface="Courier"/>
                <a:cs typeface="Courier"/>
              </a:rPr>
              <a:t>”Penguin”</a:t>
            </a: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spcBef>
                <a:spcPts val="72"/>
              </a:spcBef>
              <a:buNone/>
            </a:pPr>
            <a:r>
              <a:rPr lang="en-US" dirty="0">
                <a:latin typeface="Courier"/>
                <a:cs typeface="Courier"/>
              </a:rPr>
              <a:t>    </a:t>
            </a:r>
            <a:r>
              <a:rPr lang="en-US" dirty="0">
                <a:solidFill>
                  <a:srgbClr val="FFFFFF"/>
                </a:solidFill>
                <a:latin typeface="Courier"/>
                <a:cs typeface="Courier"/>
              </a:rPr>
              <a:t>founded:</a:t>
            </a:r>
            <a:r>
              <a:rPr lang="en-US" dirty="0">
                <a:latin typeface="Courier"/>
                <a:cs typeface="Courier"/>
              </a:rPr>
              <a:t> </a:t>
            </a:r>
            <a:r>
              <a:rPr lang="en-US" dirty="0" smtClean="0">
                <a:solidFill>
                  <a:srgbClr val="FFFFFF"/>
                </a:solidFill>
                <a:latin typeface="Courier"/>
                <a:cs typeface="Courier"/>
              </a:rPr>
              <a:t>1983,</a:t>
            </a:r>
            <a:endParaRPr lang="en-US" dirty="0">
              <a:solidFill>
                <a:srgbClr val="FFFFFF"/>
              </a:solidFill>
              <a:latin typeface="Courier"/>
              <a:cs typeface="Courier"/>
            </a:endParaRPr>
          </a:p>
          <a:p>
            <a:pPr marL="0" indent="0">
              <a:spcBef>
                <a:spcPts val="72"/>
              </a:spcBef>
              <a:buNone/>
            </a:pPr>
            <a:r>
              <a:rPr lang="en-US" dirty="0">
                <a:latin typeface="Courier"/>
                <a:cs typeface="Courier"/>
              </a:rPr>
              <a:t>    </a:t>
            </a:r>
            <a:r>
              <a:rPr lang="en-US" dirty="0">
                <a:solidFill>
                  <a:srgbClr val="FFFFFF"/>
                </a:solidFill>
                <a:latin typeface="Courier"/>
                <a:cs typeface="Courier"/>
              </a:rPr>
              <a:t>locations: </a:t>
            </a:r>
            <a:r>
              <a:rPr lang="en-US" dirty="0" smtClean="0">
                <a:solidFill>
                  <a:srgbClr val="FFFFFF"/>
                </a:solidFill>
                <a:latin typeface="Courier"/>
                <a:cs typeface="Courier"/>
              </a:rPr>
              <a:t>[ </a:t>
            </a:r>
            <a:r>
              <a:rPr lang="en-US" dirty="0" smtClean="0">
                <a:solidFill>
                  <a:srgbClr val="F7D58F"/>
                </a:solidFill>
                <a:latin typeface="Courier"/>
                <a:cs typeface="Courier"/>
              </a:rPr>
              <a:t>”IL”</a:t>
            </a:r>
            <a:r>
              <a:rPr lang="en-US" dirty="0" smtClean="0">
                <a:solidFill>
                  <a:srgbClr val="FFFFFF"/>
                </a:solidFill>
                <a:latin typeface="Courier"/>
                <a:cs typeface="Courier"/>
              </a:rPr>
              <a:t> </a:t>
            </a:r>
            <a:r>
              <a:rPr lang="en-US" dirty="0">
                <a:solidFill>
                  <a:srgbClr val="FFFFFF"/>
                </a:solidFill>
                <a:latin typeface="Courier"/>
                <a:cs typeface="Courier"/>
              </a:rPr>
              <a:t>]</a:t>
            </a:r>
            <a:endParaRPr lang="en-US" dirty="0">
              <a:latin typeface="Courier"/>
              <a:cs typeface="Courier"/>
            </a:endParaRPr>
          </a:p>
          <a:p>
            <a:pPr marL="0" indent="0">
              <a:spcBef>
                <a:spcPts val="72"/>
              </a:spcBef>
              <a:buNone/>
            </a:pPr>
            <a:r>
              <a:rPr lang="en-US" dirty="0" smtClean="0">
                <a:solidFill>
                  <a:srgbClr val="FFFFFF"/>
                </a:solidFill>
                <a:latin typeface="Courier"/>
                <a:cs typeface="Courier"/>
              </a:rPr>
              <a:t>}</a:t>
            </a:r>
            <a:endParaRPr lang="en-US" dirty="0">
              <a:solidFill>
                <a:srgbClr val="FFFFFF"/>
              </a:solidFill>
              <a:latin typeface="Courier"/>
              <a:cs typeface="Courier"/>
            </a:endParaRPr>
          </a:p>
        </p:txBody>
      </p:sp>
    </p:spTree>
    <p:extLst>
      <p:ext uri="{BB962C8B-B14F-4D97-AF65-F5344CB8AC3E}">
        <p14:creationId xmlns:p14="http://schemas.microsoft.com/office/powerpoint/2010/main" val="4122934417"/>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Single Book with Linked Publisher</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rgbClr val="FFFFFF"/>
                </a:solidFill>
                <a:latin typeface="Courier"/>
                <a:cs typeface="Courier"/>
              </a:rPr>
              <a:t>&gt; book = </a:t>
            </a:r>
            <a:r>
              <a:rPr lang="en-US" dirty="0" err="1">
                <a:solidFill>
                  <a:srgbClr val="FFFFFF"/>
                </a:solidFill>
                <a:latin typeface="Courier"/>
                <a:cs typeface="Courier"/>
              </a:rPr>
              <a:t>db.books.find</a:t>
            </a:r>
            <a:r>
              <a:rPr lang="en-US" dirty="0">
                <a:solidFill>
                  <a:srgbClr val="FFFFFF"/>
                </a:solidFill>
                <a:latin typeface="Courier"/>
                <a:cs typeface="Courier"/>
              </a:rPr>
              <a:t>({ _id: </a:t>
            </a:r>
            <a:r>
              <a:rPr lang="en-US" dirty="0">
                <a:solidFill>
                  <a:schemeClr val="accent2"/>
                </a:solidFill>
                <a:latin typeface="Courier"/>
                <a:cs typeface="Courier"/>
              </a:rPr>
              <a:t>“123” </a:t>
            </a: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    _id: </a:t>
            </a:r>
            <a:r>
              <a:rPr lang="en-US" dirty="0">
                <a:solidFill>
                  <a:srgbClr val="8EB85E"/>
                </a:solidFill>
                <a:latin typeface="Courier"/>
                <a:cs typeface="Courier"/>
              </a:rPr>
              <a:t>“123”</a:t>
            </a:r>
            <a:r>
              <a:rPr lang="en-US" dirty="0">
                <a:solidFill>
                  <a:srgbClr val="F7D58F"/>
                </a:solidFill>
                <a:latin typeface="Courier"/>
                <a:cs typeface="Courier"/>
              </a:rPr>
              <a:t>,</a:t>
            </a:r>
          </a:p>
          <a:p>
            <a:pPr marL="0" indent="0">
              <a:spcBef>
                <a:spcPts val="72"/>
              </a:spcBef>
              <a:buNone/>
            </a:pPr>
            <a:r>
              <a:rPr lang="en-US" dirty="0">
                <a:latin typeface="Courier"/>
                <a:cs typeface="Courier"/>
              </a:rPr>
              <a:t>    </a:t>
            </a:r>
            <a:r>
              <a:rPr lang="en-US" dirty="0" err="1">
                <a:solidFill>
                  <a:srgbClr val="FFFFFF"/>
                </a:solidFill>
                <a:latin typeface="Courier"/>
                <a:cs typeface="Courier"/>
              </a:rPr>
              <a:t>publisher_id</a:t>
            </a:r>
            <a:r>
              <a:rPr lang="en-US" dirty="0">
                <a:solidFill>
                  <a:srgbClr val="FFFFFF"/>
                </a:solidFill>
                <a:latin typeface="Courier"/>
                <a:cs typeface="Courier"/>
              </a:rPr>
              <a:t>:</a:t>
            </a:r>
            <a:r>
              <a:rPr lang="en-US" dirty="0">
                <a:latin typeface="Courier"/>
                <a:cs typeface="Courier"/>
              </a:rPr>
              <a:t> </a:t>
            </a:r>
            <a:r>
              <a:rPr lang="en-US" dirty="0">
                <a:solidFill>
                  <a:srgbClr val="FF6600"/>
                </a:solidFill>
                <a:latin typeface="Courier"/>
                <a:cs typeface="Courier"/>
              </a:rPr>
              <a:t>“</a:t>
            </a:r>
            <a:r>
              <a:rPr lang="en-US" dirty="0" err="1">
                <a:solidFill>
                  <a:srgbClr val="FF6600"/>
                </a:solidFill>
                <a:latin typeface="Courier"/>
                <a:cs typeface="Courier"/>
              </a:rPr>
              <a:t>oreilly</a:t>
            </a:r>
            <a:r>
              <a:rPr lang="en-US" dirty="0">
                <a:solidFill>
                  <a:srgbClr val="FF6600"/>
                </a:solidFill>
                <a:latin typeface="Courier"/>
                <a:cs typeface="Courier"/>
              </a:rPr>
              <a:t>”</a:t>
            </a:r>
            <a:r>
              <a:rPr lang="en-US" dirty="0">
                <a:solidFill>
                  <a:schemeClr val="bg1"/>
                </a:solidFill>
                <a:latin typeface="Courier"/>
                <a:cs typeface="Courier"/>
              </a:rPr>
              <a:t>,</a:t>
            </a:r>
          </a:p>
          <a:p>
            <a:pPr marL="0" indent="0">
              <a:spcBef>
                <a:spcPts val="72"/>
              </a:spcBef>
              <a:buNone/>
            </a:pPr>
            <a:r>
              <a:rPr lang="en-US" dirty="0">
                <a:latin typeface="Courier"/>
                <a:cs typeface="Courier"/>
              </a:rPr>
              <a:t>    </a:t>
            </a:r>
            <a:r>
              <a:rPr lang="en-US" dirty="0">
                <a:solidFill>
                  <a:srgbClr val="FFFFFF"/>
                </a:solidFill>
                <a:latin typeface="Courier"/>
                <a:cs typeface="Courier"/>
              </a:rPr>
              <a:t>title: </a:t>
            </a:r>
            <a:r>
              <a:rPr lang="en-US" dirty="0">
                <a:solidFill>
                  <a:srgbClr val="F7D58F"/>
                </a:solidFill>
                <a:latin typeface="Courier"/>
                <a:cs typeface="Courier"/>
              </a:rPr>
              <a:t>"MongoDB: The Definitive Guide"</a:t>
            </a:r>
            <a:r>
              <a:rPr lang="en-US" dirty="0">
                <a:solidFill>
                  <a:srgbClr val="FFFFFF"/>
                </a:solidFill>
                <a:latin typeface="Courier"/>
                <a:cs typeface="Courier"/>
              </a:rPr>
              <a:t>,</a:t>
            </a:r>
          </a:p>
          <a:p>
            <a:pPr marL="0" indent="0">
              <a:spcBef>
                <a:spcPts val="72"/>
              </a:spcBef>
              <a:buNone/>
            </a:pPr>
            <a:r>
              <a:rPr lang="en-US" dirty="0" smtClean="0">
                <a:solidFill>
                  <a:srgbClr val="FFFFFF"/>
                </a:solidFill>
                <a:latin typeface="Courier"/>
                <a:cs typeface="Courier"/>
              </a:rPr>
              <a:t>    …</a:t>
            </a:r>
          </a:p>
          <a:p>
            <a:pPr marL="0" indent="0">
              <a:spcBef>
                <a:spcPts val="72"/>
              </a:spcBef>
              <a:buNone/>
            </a:pP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spcBef>
                <a:spcPts val="72"/>
              </a:spcBef>
              <a:buNone/>
            </a:pPr>
            <a:endParaRPr lang="en-US" dirty="0">
              <a:solidFill>
                <a:srgbClr val="FFFFFF"/>
              </a:solidFill>
              <a:latin typeface="Courier"/>
              <a:cs typeface="Courier"/>
            </a:endParaRPr>
          </a:p>
          <a:p>
            <a:pPr marL="0" indent="0">
              <a:buNone/>
            </a:pPr>
            <a:r>
              <a:rPr lang="en-US" dirty="0">
                <a:solidFill>
                  <a:srgbClr val="FFFFFF"/>
                </a:solidFill>
                <a:latin typeface="Courier"/>
                <a:cs typeface="Courier"/>
              </a:rPr>
              <a:t>&gt; </a:t>
            </a:r>
            <a:r>
              <a:rPr lang="en-US" dirty="0" err="1">
                <a:solidFill>
                  <a:srgbClr val="FFFFFF"/>
                </a:solidFill>
                <a:latin typeface="Courier"/>
                <a:cs typeface="Courier"/>
              </a:rPr>
              <a:t>db.publishers.find</a:t>
            </a:r>
            <a:r>
              <a:rPr lang="en-US" dirty="0">
                <a:solidFill>
                  <a:srgbClr val="FFFFFF"/>
                </a:solidFill>
                <a:latin typeface="Courier"/>
                <a:cs typeface="Courier"/>
              </a:rPr>
              <a:t>({ _id : </a:t>
            </a:r>
            <a:r>
              <a:rPr lang="en-US" dirty="0" err="1">
                <a:solidFill>
                  <a:srgbClr val="FFFFFF"/>
                </a:solidFill>
                <a:latin typeface="Courier"/>
                <a:cs typeface="Courier"/>
              </a:rPr>
              <a:t>book.publisher_id</a:t>
            </a:r>
            <a:r>
              <a:rPr lang="en-US" dirty="0">
                <a:solidFill>
                  <a:srgbClr val="FFFFFF"/>
                </a:solidFill>
                <a:latin typeface="Courier"/>
                <a:cs typeface="Courier"/>
              </a:rPr>
              <a:t> })</a:t>
            </a:r>
          </a:p>
          <a:p>
            <a:pPr marL="0" indent="0">
              <a:spcBef>
                <a:spcPts val="72"/>
              </a:spcBef>
              <a:buNone/>
            </a:pP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    _id:</a:t>
            </a:r>
            <a:r>
              <a:rPr lang="en-US" dirty="0">
                <a:latin typeface="Courier"/>
                <a:cs typeface="Courier"/>
              </a:rPr>
              <a:t> </a:t>
            </a:r>
            <a:r>
              <a:rPr lang="en-US" dirty="0">
                <a:solidFill>
                  <a:srgbClr val="FF6600"/>
                </a:solidFill>
                <a:latin typeface="Courier"/>
                <a:cs typeface="Courier"/>
              </a:rPr>
              <a:t>“</a:t>
            </a:r>
            <a:r>
              <a:rPr lang="en-US" dirty="0" err="1">
                <a:solidFill>
                  <a:srgbClr val="FF6600"/>
                </a:solidFill>
                <a:latin typeface="Courier"/>
                <a:cs typeface="Courier"/>
              </a:rPr>
              <a:t>oreilly</a:t>
            </a:r>
            <a:r>
              <a:rPr lang="en-US" dirty="0">
                <a:solidFill>
                  <a:srgbClr val="FF6600"/>
                </a:solidFill>
                <a:latin typeface="Courier"/>
                <a:cs typeface="Courier"/>
              </a:rPr>
              <a:t>”</a:t>
            </a:r>
            <a:r>
              <a:rPr lang="en-US" dirty="0">
                <a:solidFill>
                  <a:srgbClr val="FFFFFF"/>
                </a:solidFill>
                <a:latin typeface="Courier"/>
                <a:cs typeface="Courier"/>
              </a:rPr>
              <a:t>,</a:t>
            </a:r>
          </a:p>
          <a:p>
            <a:pPr marL="0" indent="0">
              <a:spcBef>
                <a:spcPts val="72"/>
              </a:spcBef>
              <a:buNone/>
            </a:pPr>
            <a:r>
              <a:rPr lang="en-US" dirty="0">
                <a:latin typeface="Courier"/>
                <a:cs typeface="Courier"/>
              </a:rPr>
              <a:t>    </a:t>
            </a:r>
            <a:r>
              <a:rPr lang="en-US" dirty="0">
                <a:solidFill>
                  <a:srgbClr val="FFFFFF"/>
                </a:solidFill>
                <a:latin typeface="Courier"/>
                <a:cs typeface="Courier"/>
              </a:rPr>
              <a:t>name:</a:t>
            </a:r>
            <a:r>
              <a:rPr lang="en-US" dirty="0">
                <a:latin typeface="Courier"/>
                <a:cs typeface="Courier"/>
              </a:rPr>
              <a:t> </a:t>
            </a:r>
            <a:r>
              <a:rPr lang="en-US" dirty="0">
                <a:solidFill>
                  <a:srgbClr val="F7D58F"/>
                </a:solidFill>
                <a:latin typeface="Courier"/>
                <a:cs typeface="Courier"/>
              </a:rPr>
              <a:t>"O’Reilly Media"</a:t>
            </a:r>
            <a:r>
              <a:rPr lang="en-US" dirty="0">
                <a:solidFill>
                  <a:srgbClr val="FFFFFF"/>
                </a:solidFill>
                <a:latin typeface="Courier"/>
                <a:cs typeface="Courier"/>
              </a:rPr>
              <a:t>,</a:t>
            </a:r>
          </a:p>
          <a:p>
            <a:pPr marL="0" indent="0">
              <a:spcBef>
                <a:spcPts val="72"/>
              </a:spcBef>
              <a:buNone/>
            </a:pPr>
            <a:r>
              <a:rPr lang="en-US" dirty="0">
                <a:latin typeface="Courier"/>
                <a:cs typeface="Courier"/>
              </a:rPr>
              <a:t>    </a:t>
            </a:r>
            <a:r>
              <a:rPr lang="en-US" dirty="0">
                <a:solidFill>
                  <a:srgbClr val="FFFFFF"/>
                </a:solidFill>
                <a:latin typeface="Courier"/>
                <a:cs typeface="Courier"/>
              </a:rPr>
              <a:t>founded:</a:t>
            </a:r>
            <a:r>
              <a:rPr lang="en-US" dirty="0">
                <a:latin typeface="Courier"/>
                <a:cs typeface="Courier"/>
              </a:rPr>
              <a:t> </a:t>
            </a:r>
            <a:r>
              <a:rPr lang="en-US" dirty="0">
                <a:solidFill>
                  <a:srgbClr val="FFFFFF"/>
                </a:solidFill>
                <a:latin typeface="Courier"/>
                <a:cs typeface="Courier"/>
              </a:rPr>
              <a:t>1980,</a:t>
            </a:r>
          </a:p>
          <a:p>
            <a:pPr marL="0" indent="0">
              <a:spcBef>
                <a:spcPts val="72"/>
              </a:spcBef>
              <a:buNone/>
            </a:pPr>
            <a:r>
              <a:rPr lang="en-US" dirty="0">
                <a:latin typeface="Courier"/>
                <a:cs typeface="Courier"/>
              </a:rPr>
              <a:t>    </a:t>
            </a:r>
            <a:r>
              <a:rPr lang="en-US" dirty="0">
                <a:solidFill>
                  <a:srgbClr val="FFFFFF"/>
                </a:solidFill>
                <a:latin typeface="Courier"/>
                <a:cs typeface="Courier"/>
              </a:rPr>
              <a:t>locations: [</a:t>
            </a:r>
            <a:r>
              <a:rPr lang="en-US" dirty="0">
                <a:solidFill>
                  <a:srgbClr val="F7D58F"/>
                </a:solidFill>
                <a:latin typeface="Courier"/>
                <a:cs typeface="Courier"/>
              </a:rPr>
              <a:t>"CA”, ”NY”</a:t>
            </a:r>
            <a:r>
              <a:rPr lang="en-US" dirty="0">
                <a:solidFill>
                  <a:srgbClr val="FFFFFF"/>
                </a:solidFill>
                <a:latin typeface="Courier"/>
                <a:cs typeface="Courier"/>
              </a:rPr>
              <a:t> ]</a:t>
            </a:r>
            <a:endParaRPr lang="en-US" dirty="0">
              <a:latin typeface="Courier"/>
              <a:cs typeface="Courier"/>
            </a:endParaRPr>
          </a:p>
          <a:p>
            <a:pPr marL="0" indent="0">
              <a:spcBef>
                <a:spcPts val="72"/>
              </a:spcBef>
              <a:buNone/>
            </a:pPr>
            <a:r>
              <a:rPr lang="en-US" dirty="0" smtClean="0">
                <a:solidFill>
                  <a:srgbClr val="FFFFFF"/>
                </a:solidFill>
                <a:latin typeface="Courier"/>
                <a:cs typeface="Courier"/>
              </a:rPr>
              <a:t>}</a:t>
            </a:r>
            <a:endParaRPr lang="en-US" dirty="0">
              <a:solidFill>
                <a:srgbClr val="FFFFFF"/>
              </a:solidFill>
              <a:latin typeface="Courier"/>
              <a:cs typeface="Courier"/>
            </a:endParaRPr>
          </a:p>
        </p:txBody>
      </p:sp>
    </p:spTree>
    <p:extLst>
      <p:ext uri="{BB962C8B-B14F-4D97-AF65-F5344CB8AC3E}">
        <p14:creationId xmlns:p14="http://schemas.microsoft.com/office/powerpoint/2010/main" val="3592393230"/>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Multiple Books with Linked Publisher</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err="1">
                <a:solidFill>
                  <a:srgbClr val="FFFFFF"/>
                </a:solidFill>
                <a:latin typeface="Courier"/>
                <a:cs typeface="Courier"/>
              </a:rPr>
              <a:t>db.books.find</a:t>
            </a:r>
            <a:r>
              <a:rPr lang="en-US" dirty="0">
                <a:solidFill>
                  <a:srgbClr val="FFFFFF"/>
                </a:solidFill>
                <a:latin typeface="Courier"/>
                <a:cs typeface="Courier"/>
              </a:rPr>
              <a:t>({ </a:t>
            </a:r>
            <a:r>
              <a:rPr lang="en-US" dirty="0" smtClean="0">
                <a:solidFill>
                  <a:srgbClr val="FFFFFF"/>
                </a:solidFill>
                <a:latin typeface="Courier"/>
                <a:cs typeface="Courier"/>
              </a:rPr>
              <a:t>pages: {$gt:100}} </a:t>
            </a:r>
            <a:r>
              <a:rPr lang="en-US" dirty="0">
                <a:solidFill>
                  <a:srgbClr val="FFFFFF"/>
                </a:solidFill>
                <a:latin typeface="Courier"/>
                <a:cs typeface="Courier"/>
              </a:rPr>
              <a:t>).</a:t>
            </a:r>
            <a:r>
              <a:rPr lang="en-US" dirty="0" err="1">
                <a:solidFill>
                  <a:srgbClr val="FFFFFF"/>
                </a:solidFill>
                <a:latin typeface="Courier"/>
                <a:cs typeface="Courier"/>
              </a:rPr>
              <a:t>forEach</a:t>
            </a:r>
            <a:r>
              <a:rPr lang="en-US" dirty="0">
                <a:solidFill>
                  <a:srgbClr val="FFFFFF"/>
                </a:solidFill>
                <a:latin typeface="Courier"/>
                <a:cs typeface="Courier"/>
              </a:rPr>
              <a:t>(function</a:t>
            </a:r>
            <a:r>
              <a:rPr lang="en-US" dirty="0" smtClean="0">
                <a:solidFill>
                  <a:srgbClr val="FFFFFF"/>
                </a:solidFill>
                <a:latin typeface="Courier"/>
                <a:cs typeface="Courier"/>
              </a:rPr>
              <a:t>(book) </a:t>
            </a:r>
            <a:r>
              <a:rPr lang="en-US" dirty="0">
                <a:solidFill>
                  <a:srgbClr val="FFFFFF"/>
                </a:solidFill>
                <a:latin typeface="Courier"/>
                <a:cs typeface="Courier"/>
              </a:rPr>
              <a:t>{</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 Do whatever you need with the book document, but</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 in addition, capture publisher ID uniquely by</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 using it as a key in an object (Map)</a:t>
            </a:r>
          </a:p>
          <a:p>
            <a:pPr marL="0" indent="0">
              <a:buNone/>
            </a:pPr>
            <a:r>
              <a:rPr lang="en-US" dirty="0" smtClean="0">
                <a:solidFill>
                  <a:srgbClr val="FFFFFF"/>
                </a:solidFill>
                <a:latin typeface="Courier"/>
                <a:cs typeface="Courier"/>
              </a:rPr>
              <a:t>    </a:t>
            </a:r>
            <a:r>
              <a:rPr lang="en-US" dirty="0" err="1" smtClean="0">
                <a:solidFill>
                  <a:srgbClr val="FFFFFF"/>
                </a:solidFill>
                <a:latin typeface="Courier"/>
                <a:cs typeface="Courier"/>
              </a:rPr>
              <a:t>tmpm</a:t>
            </a:r>
            <a:r>
              <a:rPr lang="en-US" dirty="0" smtClean="0">
                <a:solidFill>
                  <a:srgbClr val="FFFFFF"/>
                </a:solidFill>
                <a:latin typeface="Courier"/>
                <a:cs typeface="Courier"/>
              </a:rPr>
              <a:t>[</a:t>
            </a:r>
            <a:r>
              <a:rPr lang="en-US" dirty="0" err="1" smtClean="0">
                <a:solidFill>
                  <a:srgbClr val="FFFFFF"/>
                </a:solidFill>
                <a:latin typeface="Courier"/>
                <a:cs typeface="Courier"/>
              </a:rPr>
              <a:t>book.publisher.name</a:t>
            </a:r>
            <a:r>
              <a:rPr lang="en-US" dirty="0">
                <a:solidFill>
                  <a:srgbClr val="FFFFFF"/>
                </a:solidFill>
                <a:latin typeface="Courier"/>
                <a:cs typeface="Courier"/>
              </a:rPr>
              <a:t>] = </a:t>
            </a:r>
            <a:r>
              <a:rPr lang="en-US" dirty="0" smtClean="0">
                <a:solidFill>
                  <a:srgbClr val="FFFFFF"/>
                </a:solidFill>
                <a:latin typeface="Courier"/>
                <a:cs typeface="Courier"/>
              </a:rPr>
              <a:t>true;</a:t>
            </a:r>
            <a:endParaRPr lang="en-US" dirty="0">
              <a:solidFill>
                <a:srgbClr val="FFFFFF"/>
              </a:solidFill>
              <a:latin typeface="Courier"/>
              <a:cs typeface="Courier"/>
            </a:endParaRPr>
          </a:p>
          <a:p>
            <a:pPr marL="0" indent="0">
              <a:buNone/>
            </a:pPr>
            <a:r>
              <a:rPr lang="en-US" dirty="0">
                <a:solidFill>
                  <a:srgbClr val="FFFFFF"/>
                </a:solidFill>
                <a:latin typeface="Courier"/>
                <a:cs typeface="Courier"/>
              </a:rPr>
              <a:t>    });</a:t>
            </a:r>
          </a:p>
          <a:p>
            <a:pPr marL="0" indent="0">
              <a:buNone/>
            </a:pPr>
            <a:endParaRPr lang="en-US" dirty="0" smtClean="0">
              <a:solidFill>
                <a:srgbClr val="FFFFFF"/>
              </a:solidFill>
              <a:latin typeface="Courier"/>
              <a:cs typeface="Courier"/>
            </a:endParaRPr>
          </a:p>
          <a:p>
            <a:pPr marL="0" indent="0">
              <a:buNone/>
            </a:pPr>
            <a:r>
              <a:rPr lang="en-US" dirty="0" err="1" smtClean="0">
                <a:solidFill>
                  <a:srgbClr val="FFFFFF"/>
                </a:solidFill>
                <a:latin typeface="Courier"/>
                <a:cs typeface="Courier"/>
              </a:rPr>
              <a:t>uniqueIDs</a:t>
            </a:r>
            <a:r>
              <a:rPr lang="en-US" dirty="0" smtClean="0">
                <a:solidFill>
                  <a:srgbClr val="FFFFFF"/>
                </a:solidFill>
                <a:latin typeface="Courier"/>
                <a:cs typeface="Courier"/>
              </a:rPr>
              <a:t> = </a:t>
            </a:r>
            <a:r>
              <a:rPr lang="en-US" dirty="0" err="1">
                <a:solidFill>
                  <a:srgbClr val="FFFFFF"/>
                </a:solidFill>
                <a:latin typeface="Courier"/>
                <a:cs typeface="Courier"/>
              </a:rPr>
              <a:t>Object.keys</a:t>
            </a:r>
            <a:r>
              <a:rPr lang="en-US" dirty="0" smtClean="0">
                <a:solidFill>
                  <a:srgbClr val="FFFFFF"/>
                </a:solidFill>
                <a:latin typeface="Courier"/>
                <a:cs typeface="Courier"/>
              </a:rPr>
              <a:t>(</a:t>
            </a:r>
            <a:r>
              <a:rPr lang="en-US" dirty="0" err="1" smtClean="0">
                <a:solidFill>
                  <a:srgbClr val="FFFFFF"/>
                </a:solidFill>
                <a:latin typeface="Courier"/>
                <a:cs typeface="Courier"/>
              </a:rPr>
              <a:t>tmpm</a:t>
            </a:r>
            <a:r>
              <a:rPr lang="en-US" dirty="0" smtClean="0">
                <a:solidFill>
                  <a:srgbClr val="FFFFFF"/>
                </a:solidFill>
                <a:latin typeface="Courier"/>
                <a:cs typeface="Courier"/>
              </a:rPr>
              <a:t>); // extract ONLY keys</a:t>
            </a:r>
          </a:p>
          <a:p>
            <a:pPr marL="0" indent="0">
              <a:buNone/>
            </a:pPr>
            <a:endParaRPr lang="en-US" dirty="0" smtClean="0">
              <a:solidFill>
                <a:srgbClr val="FFFFFF"/>
              </a:solidFill>
              <a:latin typeface="Courier"/>
              <a:cs typeface="Courier"/>
            </a:endParaRPr>
          </a:p>
          <a:p>
            <a:pPr marL="0" indent="0">
              <a:buNone/>
            </a:pPr>
            <a:r>
              <a:rPr lang="en-US" dirty="0" err="1" smtClean="0">
                <a:solidFill>
                  <a:srgbClr val="FFFFFF"/>
                </a:solidFill>
                <a:latin typeface="Courier"/>
                <a:cs typeface="Courier"/>
              </a:rPr>
              <a:t>db.publishers.find</a:t>
            </a:r>
            <a:r>
              <a:rPr lang="en-US" dirty="0">
                <a:solidFill>
                  <a:srgbClr val="FFFFFF"/>
                </a:solidFill>
                <a:latin typeface="Courier"/>
                <a:cs typeface="Courier"/>
              </a:rPr>
              <a:t>({"_id": {"$in": </a:t>
            </a:r>
            <a:r>
              <a:rPr lang="en-US" dirty="0" err="1" smtClean="0">
                <a:solidFill>
                  <a:srgbClr val="FFFFFF"/>
                </a:solidFill>
                <a:latin typeface="Courier"/>
                <a:cs typeface="Courier"/>
              </a:rPr>
              <a:t>uniqueIDs</a:t>
            </a:r>
            <a:r>
              <a:rPr lang="en-US" dirty="0">
                <a:solidFill>
                  <a:srgbClr val="FFFFFF"/>
                </a:solidFill>
                <a:latin typeface="Courier"/>
                <a:cs typeface="Courier"/>
              </a:rPr>
              <a:t> </a:t>
            </a:r>
            <a:r>
              <a:rPr lang="en-US" dirty="0" smtClean="0">
                <a:solidFill>
                  <a:srgbClr val="FFFFFF"/>
                </a:solidFill>
                <a:latin typeface="Courier"/>
                <a:cs typeface="Courier"/>
              </a:rPr>
              <a:t>} });</a:t>
            </a:r>
            <a:endParaRPr lang="en-US" dirty="0">
              <a:solidFill>
                <a:srgbClr val="FFFFFF"/>
              </a:solidFill>
              <a:latin typeface="Courier"/>
              <a:cs typeface="Courier"/>
            </a:endParaRPr>
          </a:p>
          <a:p>
            <a:pPr marL="0" indent="0">
              <a:buNone/>
            </a:pPr>
            <a:endParaRPr lang="en-US" dirty="0">
              <a:solidFill>
                <a:srgbClr val="FFFFFF"/>
              </a:solidFill>
              <a:latin typeface="Courier"/>
              <a:cs typeface="Courier"/>
            </a:endParaRPr>
          </a:p>
        </p:txBody>
      </p:sp>
      <p:sp>
        <p:nvSpPr>
          <p:cNvPr id="7" name="Rectangle 6"/>
          <p:cNvSpPr/>
          <p:nvPr/>
        </p:nvSpPr>
        <p:spPr>
          <a:xfrm rot="20595675">
            <a:off x="6448424" y="4752171"/>
            <a:ext cx="2330310" cy="1010977"/>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bg1"/>
                </a:solidFill>
              </a:rPr>
              <a:t>The Basic </a:t>
            </a:r>
            <a:r>
              <a:rPr lang="en-US" dirty="0" err="1" smtClean="0">
                <a:solidFill>
                  <a:schemeClr val="bg1"/>
                </a:solidFill>
              </a:rPr>
              <a:t>MongoDB</a:t>
            </a:r>
            <a:r>
              <a:rPr lang="en-US" dirty="0" smtClean="0">
                <a:solidFill>
                  <a:schemeClr val="bg1"/>
                </a:solidFill>
              </a:rPr>
              <a:t> Application Side “Join”</a:t>
            </a:r>
            <a:endParaRPr lang="en-US" dirty="0">
              <a:solidFill>
                <a:schemeClr val="bg1"/>
              </a:solidFill>
            </a:endParaRPr>
          </a:p>
        </p:txBody>
      </p:sp>
    </p:spTree>
    <p:extLst>
      <p:ext uri="{BB962C8B-B14F-4D97-AF65-F5344CB8AC3E}">
        <p14:creationId xmlns:p14="http://schemas.microsoft.com/office/powerpoint/2010/main" val="574188085"/>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Cartesian Product != Desired Structure</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Content Placeholder 3"/>
          <p:cNvSpPr txBox="1">
            <a:spLocks/>
          </p:cNvSpPr>
          <p:nvPr/>
        </p:nvSpPr>
        <p:spPr>
          <a:xfrm>
            <a:off x="800100" y="1625954"/>
            <a:ext cx="7719710"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err="1" smtClean="0">
                <a:solidFill>
                  <a:srgbClr val="FFFFFF"/>
                </a:solidFill>
                <a:latin typeface="Courier"/>
                <a:cs typeface="Courier"/>
              </a:rPr>
              <a:t>resultSet</a:t>
            </a:r>
            <a:r>
              <a:rPr lang="en-US" dirty="0" smtClean="0">
                <a:solidFill>
                  <a:srgbClr val="FFFFFF"/>
                </a:solidFill>
                <a:latin typeface="Courier"/>
                <a:cs typeface="Courier"/>
              </a:rPr>
              <a:t> = “select </a:t>
            </a:r>
            <a:r>
              <a:rPr lang="en-US" dirty="0" err="1" smtClean="0">
                <a:solidFill>
                  <a:srgbClr val="FFFFFF"/>
                </a:solidFill>
                <a:latin typeface="Courier"/>
                <a:cs typeface="Courier"/>
              </a:rPr>
              <a:t>B.name</a:t>
            </a:r>
            <a:r>
              <a:rPr lang="en-US" dirty="0" smtClean="0">
                <a:solidFill>
                  <a:srgbClr val="FFFFFF"/>
                </a:solidFill>
                <a:latin typeface="Courier"/>
                <a:cs typeface="Courier"/>
              </a:rPr>
              <a:t>, </a:t>
            </a:r>
            <a:r>
              <a:rPr lang="en-US" dirty="0" err="1" smtClean="0">
                <a:solidFill>
                  <a:srgbClr val="FFFFFF"/>
                </a:solidFill>
                <a:latin typeface="Courier"/>
                <a:cs typeface="Courier"/>
              </a:rPr>
              <a:t>B.publish_date</a:t>
            </a:r>
            <a:r>
              <a:rPr lang="en-US" dirty="0" smtClean="0">
                <a:solidFill>
                  <a:srgbClr val="FFFFFF"/>
                </a:solidFill>
                <a:latin typeface="Courier"/>
                <a:cs typeface="Courier"/>
              </a:rPr>
              <a:t>, </a:t>
            </a:r>
            <a:r>
              <a:rPr lang="en-US" dirty="0" err="1" smtClean="0">
                <a:solidFill>
                  <a:srgbClr val="FFFFFF"/>
                </a:solidFill>
                <a:latin typeface="Courier"/>
                <a:cs typeface="Courier"/>
              </a:rPr>
              <a:t>P.name</a:t>
            </a:r>
            <a:r>
              <a:rPr lang="en-US" dirty="0" smtClean="0">
                <a:solidFill>
                  <a:srgbClr val="FFFFFF"/>
                </a:solidFill>
                <a:latin typeface="Courier"/>
                <a:cs typeface="Courier"/>
              </a:rPr>
              <a:t>, </a:t>
            </a:r>
            <a:r>
              <a:rPr lang="en-US" dirty="0" err="1" smtClean="0">
                <a:solidFill>
                  <a:srgbClr val="FFFFFF"/>
                </a:solidFill>
                <a:latin typeface="Courier"/>
                <a:cs typeface="Courier"/>
              </a:rPr>
              <a:t>P.founded</a:t>
            </a:r>
            <a:r>
              <a:rPr lang="en-US" dirty="0" smtClean="0">
                <a:solidFill>
                  <a:srgbClr val="FFFFFF"/>
                </a:solidFill>
                <a:latin typeface="Courier"/>
                <a:cs typeface="Courier"/>
              </a:rPr>
              <a:t> </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from Books B, Publisher P </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where </a:t>
            </a:r>
            <a:r>
              <a:rPr lang="en-US" dirty="0" err="1" smtClean="0">
                <a:solidFill>
                  <a:srgbClr val="FFFFFF"/>
                </a:solidFill>
                <a:latin typeface="Courier"/>
                <a:cs typeface="Courier"/>
              </a:rPr>
              <a:t>P.name</a:t>
            </a:r>
            <a:r>
              <a:rPr lang="en-US" dirty="0" smtClean="0">
                <a:solidFill>
                  <a:srgbClr val="FFFFFF"/>
                </a:solidFill>
                <a:latin typeface="Courier"/>
                <a:cs typeface="Courier"/>
              </a:rPr>
              <a:t> = </a:t>
            </a:r>
            <a:r>
              <a:rPr lang="en-US" dirty="0" err="1" smtClean="0">
                <a:solidFill>
                  <a:srgbClr val="FFFFFF"/>
                </a:solidFill>
                <a:latin typeface="Courier"/>
                <a:cs typeface="Courier"/>
              </a:rPr>
              <a:t>B.publisher_name</a:t>
            </a:r>
            <a:endParaRPr lang="en-US" dirty="0" smtClean="0">
              <a:solidFill>
                <a:srgbClr val="FFFFFF"/>
              </a:solidFill>
              <a:latin typeface="Courier"/>
              <a:cs typeface="Courier"/>
            </a:endParaRP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and </a:t>
            </a:r>
            <a:r>
              <a:rPr lang="en-US" dirty="0" err="1" smtClean="0">
                <a:solidFill>
                  <a:srgbClr val="FFFFFF"/>
                </a:solidFill>
                <a:latin typeface="Courier"/>
                <a:cs typeface="Courier"/>
              </a:rPr>
              <a:t>B.pages</a:t>
            </a:r>
            <a:r>
              <a:rPr lang="en-US" dirty="0" smtClean="0">
                <a:solidFill>
                  <a:srgbClr val="FFFFFF"/>
                </a:solidFill>
                <a:latin typeface="Courier"/>
                <a:cs typeface="Courier"/>
              </a:rPr>
              <a:t> &gt; 100”</a:t>
            </a:r>
          </a:p>
          <a:p>
            <a:pPr marL="0" indent="0">
              <a:buNone/>
            </a:pPr>
            <a:r>
              <a:rPr lang="en-US" dirty="0">
                <a:solidFill>
                  <a:srgbClr val="FFFFFF"/>
                </a:solidFill>
                <a:latin typeface="Courier"/>
                <a:cs typeface="Courier"/>
              </a:rPr>
              <a:t>	</a:t>
            </a:r>
            <a:endParaRPr lang="en-US" dirty="0" smtClean="0">
              <a:solidFill>
                <a:srgbClr val="FFFFFF"/>
              </a:solidFill>
              <a:latin typeface="Courier"/>
              <a:cs typeface="Courier"/>
            </a:endParaRPr>
          </a:p>
          <a:p>
            <a:pPr marL="0" indent="0">
              <a:buNone/>
            </a:pPr>
            <a:endParaRPr lang="en-US" dirty="0" smtClean="0">
              <a:solidFill>
                <a:srgbClr val="FFFFFF"/>
              </a:solidFill>
              <a:latin typeface="Courier"/>
              <a:cs typeface="Courier"/>
            </a:endParaRPr>
          </a:p>
          <a:p>
            <a:pPr marL="0" indent="0">
              <a:buNone/>
            </a:pPr>
            <a:r>
              <a:rPr lang="en-US" dirty="0" err="1" smtClean="0">
                <a:solidFill>
                  <a:srgbClr val="FFFFFF"/>
                </a:solidFill>
                <a:latin typeface="Courier"/>
                <a:cs typeface="Courier"/>
              </a:rPr>
              <a:t>B.Name</a:t>
            </a:r>
            <a:r>
              <a:rPr lang="en-US" dirty="0" smtClean="0">
                <a:solidFill>
                  <a:srgbClr val="FFFFFF"/>
                </a:solidFill>
                <a:latin typeface="Courier"/>
                <a:cs typeface="Courier"/>
              </a:rPr>
              <a:t>        </a:t>
            </a:r>
            <a:r>
              <a:rPr lang="en-US" dirty="0" err="1" smtClean="0">
                <a:solidFill>
                  <a:srgbClr val="FFFFFF"/>
                </a:solidFill>
                <a:latin typeface="Courier"/>
                <a:cs typeface="Courier"/>
              </a:rPr>
              <a:t>B.publish_date</a:t>
            </a:r>
            <a:r>
              <a:rPr lang="en-US" dirty="0" smtClean="0">
                <a:solidFill>
                  <a:srgbClr val="FFFFFF"/>
                </a:solidFill>
                <a:latin typeface="Courier"/>
                <a:cs typeface="Courier"/>
              </a:rPr>
              <a:t>   </a:t>
            </a:r>
            <a:r>
              <a:rPr lang="en-US" dirty="0" err="1" smtClean="0">
                <a:solidFill>
                  <a:srgbClr val="FFFFFF"/>
                </a:solidFill>
                <a:latin typeface="Courier"/>
                <a:cs typeface="Courier"/>
              </a:rPr>
              <a:t>P.name</a:t>
            </a:r>
            <a:r>
              <a:rPr lang="en-US" dirty="0" smtClean="0">
                <a:solidFill>
                  <a:srgbClr val="FFFFFF"/>
                </a:solidFill>
                <a:latin typeface="Courier"/>
                <a:cs typeface="Courier"/>
              </a:rPr>
              <a:t>          </a:t>
            </a:r>
            <a:r>
              <a:rPr lang="en-US" dirty="0" err="1" smtClean="0">
                <a:solidFill>
                  <a:srgbClr val="FFFFFF"/>
                </a:solidFill>
                <a:latin typeface="Courier"/>
                <a:cs typeface="Courier"/>
              </a:rPr>
              <a:t>P.founded</a:t>
            </a:r>
            <a:endParaRPr lang="en-US" dirty="0" smtClean="0">
              <a:solidFill>
                <a:srgbClr val="FFFFFF"/>
              </a:solidFill>
              <a:latin typeface="Courier"/>
              <a:cs typeface="Courier"/>
            </a:endParaRPr>
          </a:p>
          <a:p>
            <a:pPr marL="0" indent="0">
              <a:buNone/>
            </a:pPr>
            <a:r>
              <a:rPr lang="en-US" dirty="0">
                <a:solidFill>
                  <a:srgbClr val="FFFFFF"/>
                </a:solidFill>
                <a:latin typeface="Courier"/>
                <a:cs typeface="Courier"/>
              </a:rPr>
              <a:t>More Jokes    2003             Random House    1843</a:t>
            </a:r>
          </a:p>
          <a:p>
            <a:pPr marL="0" indent="0">
              <a:buNone/>
            </a:pPr>
            <a:r>
              <a:rPr lang="en-US" dirty="0" smtClean="0">
                <a:solidFill>
                  <a:srgbClr val="FFFFFF"/>
                </a:solidFill>
                <a:latin typeface="Courier"/>
                <a:cs typeface="Courier"/>
              </a:rPr>
              <a:t>Perl Tricks   1998             O’Reilly        1980</a:t>
            </a:r>
          </a:p>
          <a:p>
            <a:pPr marL="0" indent="0">
              <a:buNone/>
            </a:pPr>
            <a:r>
              <a:rPr lang="en-US" dirty="0" smtClean="0">
                <a:solidFill>
                  <a:srgbClr val="FFFFFF"/>
                </a:solidFill>
                <a:latin typeface="Courier"/>
                <a:cs typeface="Courier"/>
              </a:rPr>
              <a:t>More Perl     2000             O’Reilly        1980</a:t>
            </a:r>
          </a:p>
          <a:p>
            <a:pPr marL="0" indent="0">
              <a:buNone/>
            </a:pPr>
            <a:r>
              <a:rPr lang="en-US" dirty="0" smtClean="0">
                <a:solidFill>
                  <a:srgbClr val="FFFFFF"/>
                </a:solidFill>
                <a:latin typeface="Courier"/>
                <a:cs typeface="Courier"/>
              </a:rPr>
              <a:t>Starting Perl 1996             O’Reilly        1980</a:t>
            </a:r>
          </a:p>
          <a:p>
            <a:pPr marL="0" indent="0">
              <a:buNone/>
            </a:pPr>
            <a:r>
              <a:rPr lang="en-US" dirty="0" smtClean="0">
                <a:solidFill>
                  <a:srgbClr val="FFFFFF"/>
                </a:solidFill>
                <a:latin typeface="Courier"/>
                <a:cs typeface="Courier"/>
              </a:rPr>
              <a:t>Flying Kites  1980             Random House    1843</a:t>
            </a:r>
          </a:p>
          <a:p>
            <a:pPr marL="0" indent="0">
              <a:buNone/>
            </a:pPr>
            <a:r>
              <a:rPr lang="en-US" dirty="0">
                <a:solidFill>
                  <a:srgbClr val="FFFFFF"/>
                </a:solidFill>
                <a:latin typeface="Courier"/>
                <a:cs typeface="Courier"/>
              </a:rPr>
              <a:t>Using Perl    2002             O’Reilly        1980</a:t>
            </a:r>
          </a:p>
          <a:p>
            <a:pPr marL="0" indent="0">
              <a:buNone/>
            </a:pPr>
            <a:r>
              <a:rPr lang="en-US" dirty="0" smtClean="0">
                <a:solidFill>
                  <a:srgbClr val="FFFFFF"/>
                </a:solidFill>
                <a:latin typeface="Courier"/>
                <a:cs typeface="Courier"/>
              </a:rPr>
              <a:t>Bad Food      2011             </a:t>
            </a:r>
            <a:r>
              <a:rPr lang="en-US" dirty="0">
                <a:solidFill>
                  <a:srgbClr val="FFFFFF"/>
                </a:solidFill>
                <a:latin typeface="Courier"/>
                <a:cs typeface="Courier"/>
              </a:rPr>
              <a:t>Random </a:t>
            </a:r>
            <a:r>
              <a:rPr lang="en-US" dirty="0" smtClean="0">
                <a:solidFill>
                  <a:srgbClr val="FFFFFF"/>
                </a:solidFill>
                <a:latin typeface="Courier"/>
                <a:cs typeface="Courier"/>
              </a:rPr>
              <a:t>House    1843</a:t>
            </a:r>
          </a:p>
          <a:p>
            <a:pPr marL="0" indent="0">
              <a:buNone/>
            </a:pPr>
            <a:endParaRPr lang="en-US" dirty="0" smtClean="0">
              <a:solidFill>
                <a:srgbClr val="FFFFFF"/>
              </a:solidFill>
              <a:latin typeface="Courier"/>
              <a:cs typeface="Courier"/>
            </a:endParaRPr>
          </a:p>
        </p:txBody>
      </p:sp>
    </p:spTree>
    <p:extLst>
      <p:ext uri="{BB962C8B-B14F-4D97-AF65-F5344CB8AC3E}">
        <p14:creationId xmlns:p14="http://schemas.microsoft.com/office/powerpoint/2010/main" val="4211286657"/>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…And Tough To Use Without ORDER BY</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Content Placeholder 3"/>
          <p:cNvSpPr txBox="1">
            <a:spLocks/>
          </p:cNvSpPr>
          <p:nvPr/>
        </p:nvSpPr>
        <p:spPr>
          <a:xfrm>
            <a:off x="800100" y="1625954"/>
            <a:ext cx="7719710"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err="1" smtClean="0">
                <a:solidFill>
                  <a:srgbClr val="FFFFFF"/>
                </a:solidFill>
                <a:latin typeface="Courier"/>
                <a:cs typeface="Courier"/>
              </a:rPr>
              <a:t>resultSet</a:t>
            </a:r>
            <a:r>
              <a:rPr lang="en-US" dirty="0" smtClean="0">
                <a:solidFill>
                  <a:srgbClr val="FFFFFF"/>
                </a:solidFill>
                <a:latin typeface="Courier"/>
                <a:cs typeface="Courier"/>
              </a:rPr>
              <a:t> = “select </a:t>
            </a:r>
            <a:r>
              <a:rPr lang="en-US" dirty="0" err="1" smtClean="0">
                <a:solidFill>
                  <a:srgbClr val="FFFFFF"/>
                </a:solidFill>
                <a:latin typeface="Courier"/>
                <a:cs typeface="Courier"/>
              </a:rPr>
              <a:t>B.name</a:t>
            </a:r>
            <a:r>
              <a:rPr lang="en-US" dirty="0" smtClean="0">
                <a:solidFill>
                  <a:srgbClr val="FFFFFF"/>
                </a:solidFill>
                <a:latin typeface="Courier"/>
                <a:cs typeface="Courier"/>
              </a:rPr>
              <a:t>, </a:t>
            </a:r>
            <a:r>
              <a:rPr lang="en-US" dirty="0" err="1" smtClean="0">
                <a:solidFill>
                  <a:srgbClr val="FFFFFF"/>
                </a:solidFill>
                <a:latin typeface="Courier"/>
                <a:cs typeface="Courier"/>
              </a:rPr>
              <a:t>B.publish_date</a:t>
            </a:r>
            <a:r>
              <a:rPr lang="en-US" dirty="0" smtClean="0">
                <a:solidFill>
                  <a:srgbClr val="FFFFFF"/>
                </a:solidFill>
                <a:latin typeface="Courier"/>
                <a:cs typeface="Courier"/>
              </a:rPr>
              <a:t>, </a:t>
            </a:r>
            <a:r>
              <a:rPr lang="en-US" dirty="0" err="1" smtClean="0">
                <a:solidFill>
                  <a:srgbClr val="FFFFFF"/>
                </a:solidFill>
                <a:latin typeface="Courier"/>
                <a:cs typeface="Courier"/>
              </a:rPr>
              <a:t>P.name</a:t>
            </a:r>
            <a:r>
              <a:rPr lang="en-US" dirty="0" smtClean="0">
                <a:solidFill>
                  <a:srgbClr val="FFFFFF"/>
                </a:solidFill>
                <a:latin typeface="Courier"/>
                <a:cs typeface="Courier"/>
              </a:rPr>
              <a:t>, </a:t>
            </a:r>
            <a:r>
              <a:rPr lang="en-US" dirty="0" err="1" smtClean="0">
                <a:solidFill>
                  <a:srgbClr val="FFFFFF"/>
                </a:solidFill>
                <a:latin typeface="Courier"/>
                <a:cs typeface="Courier"/>
              </a:rPr>
              <a:t>P.founded</a:t>
            </a:r>
            <a:r>
              <a:rPr lang="en-US" dirty="0" smtClean="0">
                <a:solidFill>
                  <a:srgbClr val="FFFFFF"/>
                </a:solidFill>
                <a:latin typeface="Courier"/>
                <a:cs typeface="Courier"/>
              </a:rPr>
              <a:t> </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from Books B, Publisher P </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where </a:t>
            </a:r>
            <a:r>
              <a:rPr lang="en-US" dirty="0" err="1" smtClean="0">
                <a:solidFill>
                  <a:srgbClr val="FFFFFF"/>
                </a:solidFill>
                <a:latin typeface="Courier"/>
                <a:cs typeface="Courier"/>
              </a:rPr>
              <a:t>P.name</a:t>
            </a:r>
            <a:r>
              <a:rPr lang="en-US" dirty="0" smtClean="0">
                <a:solidFill>
                  <a:srgbClr val="FFFFFF"/>
                </a:solidFill>
                <a:latin typeface="Courier"/>
                <a:cs typeface="Courier"/>
              </a:rPr>
              <a:t> = </a:t>
            </a:r>
            <a:r>
              <a:rPr lang="en-US" dirty="0" err="1" smtClean="0">
                <a:solidFill>
                  <a:srgbClr val="FFFFFF"/>
                </a:solidFill>
                <a:latin typeface="Courier"/>
                <a:cs typeface="Courier"/>
              </a:rPr>
              <a:t>B.publisher_name</a:t>
            </a:r>
            <a:endParaRPr lang="en-US" dirty="0" smtClean="0">
              <a:solidFill>
                <a:srgbClr val="FFFFFF"/>
              </a:solidFill>
              <a:latin typeface="Courier"/>
              <a:cs typeface="Courier"/>
            </a:endParaRP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and </a:t>
            </a:r>
            <a:r>
              <a:rPr lang="en-US" dirty="0" err="1" smtClean="0">
                <a:solidFill>
                  <a:srgbClr val="FFFFFF"/>
                </a:solidFill>
                <a:latin typeface="Courier"/>
                <a:cs typeface="Courier"/>
              </a:rPr>
              <a:t>B.pages</a:t>
            </a:r>
            <a:r>
              <a:rPr lang="en-US" dirty="0" smtClean="0">
                <a:solidFill>
                  <a:srgbClr val="FFFFFF"/>
                </a:solidFill>
                <a:latin typeface="Courier"/>
                <a:cs typeface="Courier"/>
              </a:rPr>
              <a:t> &gt; 100</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a:t>
            </a:r>
            <a:r>
              <a:rPr lang="en-US" dirty="0" smtClean="0">
                <a:solidFill>
                  <a:srgbClr val="FF6600"/>
                </a:solidFill>
                <a:latin typeface="Courier"/>
                <a:cs typeface="Courier"/>
              </a:rPr>
              <a:t>order by </a:t>
            </a:r>
            <a:r>
              <a:rPr lang="en-US" dirty="0" err="1" smtClean="0">
                <a:solidFill>
                  <a:srgbClr val="FF6600"/>
                </a:solidFill>
                <a:latin typeface="Courier"/>
                <a:cs typeface="Courier"/>
              </a:rPr>
              <a:t>P.name</a:t>
            </a:r>
            <a:r>
              <a:rPr lang="en-US" dirty="0" smtClean="0">
                <a:solidFill>
                  <a:srgbClr val="FFFFFF"/>
                </a:solidFill>
                <a:latin typeface="Courier"/>
                <a:cs typeface="Courier"/>
              </a:rPr>
              <a:t>”;</a:t>
            </a:r>
          </a:p>
          <a:p>
            <a:pPr marL="0" indent="0">
              <a:buNone/>
            </a:pPr>
            <a:endParaRPr lang="en-US" dirty="0" smtClean="0">
              <a:solidFill>
                <a:srgbClr val="FFFFFF"/>
              </a:solidFill>
              <a:latin typeface="Courier"/>
              <a:cs typeface="Courier"/>
            </a:endParaRPr>
          </a:p>
          <a:p>
            <a:pPr marL="0" indent="0">
              <a:buNone/>
            </a:pPr>
            <a:r>
              <a:rPr lang="en-US" dirty="0" err="1" smtClean="0">
                <a:solidFill>
                  <a:srgbClr val="FFFFFF"/>
                </a:solidFill>
                <a:latin typeface="Courier"/>
                <a:cs typeface="Courier"/>
              </a:rPr>
              <a:t>B.Name</a:t>
            </a:r>
            <a:r>
              <a:rPr lang="en-US" dirty="0" smtClean="0">
                <a:solidFill>
                  <a:srgbClr val="FFFFFF"/>
                </a:solidFill>
                <a:latin typeface="Courier"/>
                <a:cs typeface="Courier"/>
              </a:rPr>
              <a:t>        </a:t>
            </a:r>
            <a:r>
              <a:rPr lang="en-US" dirty="0" err="1" smtClean="0">
                <a:solidFill>
                  <a:srgbClr val="FFFFFF"/>
                </a:solidFill>
                <a:latin typeface="Courier"/>
                <a:cs typeface="Courier"/>
              </a:rPr>
              <a:t>B.publish_date</a:t>
            </a:r>
            <a:r>
              <a:rPr lang="en-US" dirty="0" smtClean="0">
                <a:solidFill>
                  <a:srgbClr val="FFFFFF"/>
                </a:solidFill>
                <a:latin typeface="Courier"/>
                <a:cs typeface="Courier"/>
              </a:rPr>
              <a:t>   </a:t>
            </a:r>
            <a:r>
              <a:rPr lang="en-US" dirty="0" err="1" smtClean="0">
                <a:solidFill>
                  <a:srgbClr val="FFFFFF"/>
                </a:solidFill>
                <a:latin typeface="Courier"/>
                <a:cs typeface="Courier"/>
              </a:rPr>
              <a:t>P.name</a:t>
            </a:r>
            <a:r>
              <a:rPr lang="en-US" dirty="0" smtClean="0">
                <a:solidFill>
                  <a:srgbClr val="FFFFFF"/>
                </a:solidFill>
                <a:latin typeface="Courier"/>
                <a:cs typeface="Courier"/>
              </a:rPr>
              <a:t>          </a:t>
            </a:r>
            <a:r>
              <a:rPr lang="en-US" dirty="0" err="1" smtClean="0">
                <a:solidFill>
                  <a:srgbClr val="FFFFFF"/>
                </a:solidFill>
                <a:latin typeface="Courier"/>
                <a:cs typeface="Courier"/>
              </a:rPr>
              <a:t>P.founded</a:t>
            </a:r>
            <a:endParaRPr lang="en-US" dirty="0" smtClean="0">
              <a:solidFill>
                <a:srgbClr val="FFFFFF"/>
              </a:solidFill>
              <a:latin typeface="Courier"/>
              <a:cs typeface="Courier"/>
            </a:endParaRPr>
          </a:p>
          <a:p>
            <a:pPr marL="0" indent="0">
              <a:buNone/>
            </a:pPr>
            <a:r>
              <a:rPr lang="en-US" dirty="0" smtClean="0">
                <a:solidFill>
                  <a:srgbClr val="FFFFFF"/>
                </a:solidFill>
                <a:latin typeface="Courier"/>
                <a:cs typeface="Courier"/>
              </a:rPr>
              <a:t>Perl Tricks   1998             O’Reilly        1980</a:t>
            </a:r>
          </a:p>
          <a:p>
            <a:pPr marL="0" indent="0">
              <a:buNone/>
            </a:pPr>
            <a:r>
              <a:rPr lang="en-US" dirty="0" smtClean="0">
                <a:solidFill>
                  <a:srgbClr val="FFFFFF"/>
                </a:solidFill>
                <a:latin typeface="Courier"/>
                <a:cs typeface="Courier"/>
              </a:rPr>
              <a:t>More Perl     2000             O’Reilly        1980</a:t>
            </a:r>
          </a:p>
          <a:p>
            <a:pPr marL="0" indent="0">
              <a:buNone/>
            </a:pPr>
            <a:r>
              <a:rPr lang="en-US" dirty="0" smtClean="0">
                <a:solidFill>
                  <a:srgbClr val="FFFFFF"/>
                </a:solidFill>
                <a:latin typeface="Courier"/>
                <a:cs typeface="Courier"/>
              </a:rPr>
              <a:t>Using Perl    2002             O’Reilly        1980</a:t>
            </a:r>
          </a:p>
          <a:p>
            <a:pPr marL="0" indent="0">
              <a:buNone/>
            </a:pPr>
            <a:r>
              <a:rPr lang="en-US" dirty="0" smtClean="0">
                <a:solidFill>
                  <a:srgbClr val="FFFFFF"/>
                </a:solidFill>
                <a:latin typeface="Courier"/>
                <a:cs typeface="Courier"/>
              </a:rPr>
              <a:t>Starting Perl 1996             O’Reilly        1980</a:t>
            </a:r>
          </a:p>
          <a:p>
            <a:pPr marL="0" indent="0">
              <a:buNone/>
            </a:pPr>
            <a:r>
              <a:rPr lang="en-US" dirty="0" smtClean="0">
                <a:solidFill>
                  <a:srgbClr val="FFFFFF"/>
                </a:solidFill>
                <a:latin typeface="Courier"/>
                <a:cs typeface="Courier"/>
              </a:rPr>
              <a:t>Flying Kites  1980             Random House    1843</a:t>
            </a:r>
          </a:p>
          <a:p>
            <a:pPr marL="0" indent="0">
              <a:buNone/>
            </a:pPr>
            <a:r>
              <a:rPr lang="en-US" dirty="0" smtClean="0">
                <a:solidFill>
                  <a:srgbClr val="FFFFFF"/>
                </a:solidFill>
                <a:latin typeface="Courier"/>
                <a:cs typeface="Courier"/>
              </a:rPr>
              <a:t>Bad Food      2011             </a:t>
            </a:r>
            <a:r>
              <a:rPr lang="en-US" dirty="0">
                <a:solidFill>
                  <a:srgbClr val="FFFFFF"/>
                </a:solidFill>
                <a:latin typeface="Courier"/>
                <a:cs typeface="Courier"/>
              </a:rPr>
              <a:t>Random </a:t>
            </a:r>
            <a:r>
              <a:rPr lang="en-US" dirty="0" smtClean="0">
                <a:solidFill>
                  <a:srgbClr val="FFFFFF"/>
                </a:solidFill>
                <a:latin typeface="Courier"/>
                <a:cs typeface="Courier"/>
              </a:rPr>
              <a:t>House    1843</a:t>
            </a:r>
          </a:p>
          <a:p>
            <a:pPr marL="0" indent="0">
              <a:buNone/>
            </a:pPr>
            <a:r>
              <a:rPr lang="en-US" dirty="0" smtClean="0">
                <a:solidFill>
                  <a:srgbClr val="FFFFFF"/>
                </a:solidFill>
                <a:latin typeface="Courier"/>
                <a:cs typeface="Courier"/>
              </a:rPr>
              <a:t>More Jokes    2003             Random House    1843</a:t>
            </a:r>
            <a:endParaRPr lang="en-US" dirty="0">
              <a:solidFill>
                <a:srgbClr val="FFFFFF"/>
              </a:solidFill>
              <a:latin typeface="Courier"/>
              <a:cs typeface="Courier"/>
            </a:endParaRPr>
          </a:p>
          <a:p>
            <a:pPr marL="0" indent="0">
              <a:buNone/>
            </a:pPr>
            <a:endParaRPr lang="en-US" dirty="0" smtClean="0">
              <a:solidFill>
                <a:srgbClr val="FFFFFF"/>
              </a:solidFill>
              <a:latin typeface="Courier"/>
              <a:cs typeface="Courier"/>
            </a:endParaRPr>
          </a:p>
        </p:txBody>
      </p:sp>
    </p:spTree>
    <p:extLst>
      <p:ext uri="{BB962C8B-B14F-4D97-AF65-F5344CB8AC3E}">
        <p14:creationId xmlns:p14="http://schemas.microsoft.com/office/powerpoint/2010/main" val="3003956706"/>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SQL Is About Disassembly</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3"/>
          <p:cNvSpPr txBox="1">
            <a:spLocks/>
          </p:cNvSpPr>
          <p:nvPr/>
        </p:nvSpPr>
        <p:spPr>
          <a:xfrm>
            <a:off x="800100" y="1625954"/>
            <a:ext cx="7719710"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err="1" smtClean="0">
                <a:solidFill>
                  <a:srgbClr val="FFFFFF"/>
                </a:solidFill>
                <a:latin typeface="Courier"/>
                <a:cs typeface="Courier"/>
              </a:rPr>
              <a:t>resultSet</a:t>
            </a:r>
            <a:r>
              <a:rPr lang="en-US" dirty="0" smtClean="0">
                <a:solidFill>
                  <a:srgbClr val="FFFFFF"/>
                </a:solidFill>
                <a:latin typeface="Courier"/>
                <a:cs typeface="Courier"/>
              </a:rPr>
              <a:t> = “select </a:t>
            </a:r>
            <a:r>
              <a:rPr lang="en-US" dirty="0" err="1" smtClean="0">
                <a:solidFill>
                  <a:srgbClr val="FFFFFF"/>
                </a:solidFill>
                <a:latin typeface="Courier"/>
                <a:cs typeface="Courier"/>
              </a:rPr>
              <a:t>B.name</a:t>
            </a:r>
            <a:r>
              <a:rPr lang="en-US" dirty="0" smtClean="0">
                <a:solidFill>
                  <a:srgbClr val="FFFFFF"/>
                </a:solidFill>
                <a:latin typeface="Courier"/>
                <a:cs typeface="Courier"/>
              </a:rPr>
              <a:t>, </a:t>
            </a:r>
            <a:r>
              <a:rPr lang="en-US" dirty="0" err="1" smtClean="0">
                <a:solidFill>
                  <a:srgbClr val="FFFFFF"/>
                </a:solidFill>
                <a:latin typeface="Courier"/>
                <a:cs typeface="Courier"/>
              </a:rPr>
              <a:t>B.publish_date</a:t>
            </a:r>
            <a:r>
              <a:rPr lang="en-US" dirty="0" smtClean="0">
                <a:solidFill>
                  <a:srgbClr val="FFFFFF"/>
                </a:solidFill>
                <a:latin typeface="Courier"/>
                <a:cs typeface="Courier"/>
              </a:rPr>
              <a:t>, </a:t>
            </a:r>
            <a:r>
              <a:rPr lang="en-US" dirty="0" err="1" smtClean="0">
                <a:solidFill>
                  <a:srgbClr val="FFFFFF"/>
                </a:solidFill>
                <a:latin typeface="Courier"/>
                <a:cs typeface="Courier"/>
              </a:rPr>
              <a:t>P.name</a:t>
            </a:r>
            <a:r>
              <a:rPr lang="en-US" dirty="0" smtClean="0">
                <a:solidFill>
                  <a:srgbClr val="FFFFFF"/>
                </a:solidFill>
                <a:latin typeface="Courier"/>
                <a:cs typeface="Courier"/>
              </a:rPr>
              <a:t>, </a:t>
            </a:r>
            <a:r>
              <a:rPr lang="en-US" dirty="0" err="1" smtClean="0">
                <a:solidFill>
                  <a:srgbClr val="FFFFFF"/>
                </a:solidFill>
                <a:latin typeface="Courier"/>
                <a:cs typeface="Courier"/>
              </a:rPr>
              <a:t>P.founded</a:t>
            </a:r>
            <a:r>
              <a:rPr lang="en-US" dirty="0" smtClean="0">
                <a:solidFill>
                  <a:srgbClr val="FFFFFF"/>
                </a:solidFill>
                <a:latin typeface="Courier"/>
                <a:cs typeface="Courier"/>
              </a:rPr>
              <a:t> </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from Books B, Publisher P </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where </a:t>
            </a:r>
            <a:r>
              <a:rPr lang="en-US" dirty="0" err="1" smtClean="0">
                <a:solidFill>
                  <a:srgbClr val="FFFFFF"/>
                </a:solidFill>
                <a:latin typeface="Courier"/>
                <a:cs typeface="Courier"/>
              </a:rPr>
              <a:t>P.name</a:t>
            </a:r>
            <a:r>
              <a:rPr lang="en-US" dirty="0" smtClean="0">
                <a:solidFill>
                  <a:srgbClr val="FFFFFF"/>
                </a:solidFill>
                <a:latin typeface="Courier"/>
                <a:cs typeface="Courier"/>
              </a:rPr>
              <a:t> = </a:t>
            </a:r>
            <a:r>
              <a:rPr lang="en-US" dirty="0" err="1" smtClean="0">
                <a:solidFill>
                  <a:srgbClr val="FFFFFF"/>
                </a:solidFill>
                <a:latin typeface="Courier"/>
                <a:cs typeface="Courier"/>
              </a:rPr>
              <a:t>B.publisher_name</a:t>
            </a:r>
            <a:endParaRPr lang="en-US" dirty="0" smtClean="0">
              <a:solidFill>
                <a:srgbClr val="FFFFFF"/>
              </a:solidFill>
              <a:latin typeface="Courier"/>
              <a:cs typeface="Courier"/>
            </a:endParaRP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and </a:t>
            </a:r>
            <a:r>
              <a:rPr lang="en-US" dirty="0" err="1" smtClean="0">
                <a:solidFill>
                  <a:srgbClr val="FFFFFF"/>
                </a:solidFill>
                <a:latin typeface="Courier"/>
                <a:cs typeface="Courier"/>
              </a:rPr>
              <a:t>B.pages</a:t>
            </a:r>
            <a:r>
              <a:rPr lang="en-US" dirty="0" smtClean="0">
                <a:solidFill>
                  <a:srgbClr val="FFFFFF"/>
                </a:solidFill>
                <a:latin typeface="Courier"/>
                <a:cs typeface="Courier"/>
              </a:rPr>
              <a:t> &gt; 100</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a:t>
            </a:r>
            <a:r>
              <a:rPr lang="en-US" dirty="0" smtClean="0">
                <a:solidFill>
                  <a:srgbClr val="FF6600"/>
                </a:solidFill>
                <a:latin typeface="Courier"/>
                <a:cs typeface="Courier"/>
              </a:rPr>
              <a:t>order by </a:t>
            </a:r>
            <a:r>
              <a:rPr lang="en-US" dirty="0" err="1" smtClean="0">
                <a:solidFill>
                  <a:srgbClr val="FF6600"/>
                </a:solidFill>
                <a:latin typeface="Courier"/>
                <a:cs typeface="Courier"/>
              </a:rPr>
              <a:t>P.name</a:t>
            </a:r>
            <a:r>
              <a:rPr lang="en-US" dirty="0" smtClean="0">
                <a:solidFill>
                  <a:srgbClr val="FFFFFF"/>
                </a:solidFill>
                <a:latin typeface="Courier"/>
                <a:cs typeface="Courier"/>
              </a:rPr>
              <a:t>”;</a:t>
            </a:r>
          </a:p>
          <a:p>
            <a:pPr marL="0" indent="0">
              <a:buNone/>
            </a:pPr>
            <a:endParaRPr lang="en-US" dirty="0" smtClean="0">
              <a:solidFill>
                <a:srgbClr val="FFFFFF"/>
              </a:solidFill>
              <a:latin typeface="Courier"/>
              <a:cs typeface="Courier"/>
            </a:endParaRPr>
          </a:p>
          <a:p>
            <a:pPr marL="0" indent="0">
              <a:buNone/>
            </a:pPr>
            <a:r>
              <a:rPr lang="en-US" dirty="0" err="1" smtClean="0">
                <a:solidFill>
                  <a:srgbClr val="FFFFFF"/>
                </a:solidFill>
                <a:latin typeface="Courier"/>
                <a:cs typeface="Courier"/>
              </a:rPr>
              <a:t>prev_name</a:t>
            </a:r>
            <a:r>
              <a:rPr lang="en-US" dirty="0" smtClean="0">
                <a:solidFill>
                  <a:srgbClr val="FFFFFF"/>
                </a:solidFill>
                <a:latin typeface="Courier"/>
                <a:cs typeface="Courier"/>
              </a:rPr>
              <a:t> = null;</a:t>
            </a:r>
          </a:p>
          <a:p>
            <a:pPr marL="0" indent="0">
              <a:buNone/>
            </a:pPr>
            <a:r>
              <a:rPr lang="en-US" dirty="0" smtClean="0">
                <a:solidFill>
                  <a:srgbClr val="FFFFFF"/>
                </a:solidFill>
                <a:latin typeface="Courier"/>
                <a:cs typeface="Courier"/>
              </a:rPr>
              <a:t>while(</a:t>
            </a:r>
            <a:r>
              <a:rPr lang="en-US" dirty="0" err="1" smtClean="0">
                <a:solidFill>
                  <a:srgbClr val="FFFFFF"/>
                </a:solidFill>
                <a:latin typeface="Courier"/>
                <a:cs typeface="Courier"/>
              </a:rPr>
              <a:t>resultSet.next</a:t>
            </a:r>
            <a:r>
              <a:rPr lang="en-US" dirty="0" smtClean="0">
                <a:solidFill>
                  <a:srgbClr val="FFFFFF"/>
                </a:solidFill>
                <a:latin typeface="Courier"/>
                <a:cs typeface="Courier"/>
              </a:rPr>
              <a:t>()) {</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if(!</a:t>
            </a:r>
            <a:r>
              <a:rPr lang="en-US" dirty="0" err="1" smtClean="0">
                <a:solidFill>
                  <a:srgbClr val="FFFFFF"/>
                </a:solidFill>
                <a:latin typeface="Courier"/>
                <a:cs typeface="Courier"/>
              </a:rPr>
              <a:t>resultSet.getString</a:t>
            </a:r>
            <a:r>
              <a:rPr lang="en-US" dirty="0" smtClean="0">
                <a:solidFill>
                  <a:srgbClr val="FFFFFF"/>
                </a:solidFill>
                <a:latin typeface="Courier"/>
                <a:cs typeface="Courier"/>
              </a:rPr>
              <a:t>(“</a:t>
            </a:r>
            <a:r>
              <a:rPr lang="en-US" dirty="0" err="1" smtClean="0">
                <a:solidFill>
                  <a:srgbClr val="FFFFFF"/>
                </a:solidFill>
                <a:latin typeface="Courier"/>
                <a:cs typeface="Courier"/>
              </a:rPr>
              <a:t>P.name</a:t>
            </a:r>
            <a:r>
              <a:rPr lang="en-US" dirty="0" smtClean="0">
                <a:solidFill>
                  <a:srgbClr val="FFFFFF"/>
                </a:solidFill>
                <a:latin typeface="Courier"/>
                <a:cs typeface="Courier"/>
              </a:rPr>
              <a:t>”).equals(</a:t>
            </a:r>
            <a:r>
              <a:rPr lang="en-US" dirty="0" err="1" smtClean="0">
                <a:solidFill>
                  <a:srgbClr val="FFFFFF"/>
                </a:solidFill>
                <a:latin typeface="Courier"/>
                <a:cs typeface="Courier"/>
              </a:rPr>
              <a:t>prevName</a:t>
            </a:r>
            <a:r>
              <a:rPr lang="en-US" dirty="0" smtClean="0">
                <a:solidFill>
                  <a:srgbClr val="FFFFFF"/>
                </a:solidFill>
                <a:latin typeface="Courier"/>
                <a:cs typeface="Courier"/>
              </a:rPr>
              <a:t>)) {</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 “next” publisher name found.  Process material</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 accumulated and reset for next items.</a:t>
            </a:r>
          </a:p>
          <a:p>
            <a:pPr marL="0" indent="0">
              <a:buNone/>
            </a:pPr>
            <a:r>
              <a:rPr lang="en-US" dirty="0" smtClean="0">
                <a:solidFill>
                  <a:srgbClr val="FFFFFF"/>
                </a:solidFill>
                <a:latin typeface="Courier"/>
                <a:cs typeface="Courier"/>
              </a:rPr>
              <a:t>       </a:t>
            </a:r>
            <a:r>
              <a:rPr lang="en-US" dirty="0" err="1" smtClean="0">
                <a:solidFill>
                  <a:srgbClr val="FFFFFF"/>
                </a:solidFill>
                <a:latin typeface="Courier"/>
                <a:cs typeface="Courier"/>
              </a:rPr>
              <a:t>makeNewObjects</a:t>
            </a:r>
            <a:r>
              <a:rPr lang="en-US" dirty="0" smtClean="0">
                <a:solidFill>
                  <a:srgbClr val="FFFFFF"/>
                </a:solidFill>
                <a:latin typeface="Courier"/>
                <a:cs typeface="Courier"/>
              </a:rPr>
              <a:t>();   //etc.</a:t>
            </a:r>
          </a:p>
          <a:p>
            <a:pPr marL="0" indent="0">
              <a:buNone/>
            </a:pPr>
            <a:r>
              <a:rPr lang="en-US" dirty="0" smtClean="0">
                <a:solidFill>
                  <a:srgbClr val="FFFFFF"/>
                </a:solidFill>
                <a:latin typeface="Courier"/>
                <a:cs typeface="Courier"/>
              </a:rPr>
              <a:t>       </a:t>
            </a:r>
            <a:r>
              <a:rPr lang="en-US" dirty="0" err="1" smtClean="0">
                <a:solidFill>
                  <a:srgbClr val="FFFFFF"/>
                </a:solidFill>
                <a:latin typeface="Courier"/>
                <a:cs typeface="Courier"/>
              </a:rPr>
              <a:t>prev_name</a:t>
            </a:r>
            <a:r>
              <a:rPr lang="en-US" dirty="0" smtClean="0">
                <a:solidFill>
                  <a:srgbClr val="FFFFFF"/>
                </a:solidFill>
                <a:latin typeface="Courier"/>
                <a:cs typeface="Courier"/>
              </a:rPr>
              <a:t> </a:t>
            </a:r>
            <a:r>
              <a:rPr lang="en-US" dirty="0">
                <a:solidFill>
                  <a:srgbClr val="FFFFFF"/>
                </a:solidFill>
                <a:latin typeface="Courier"/>
                <a:cs typeface="Courier"/>
              </a:rPr>
              <a:t>= </a:t>
            </a:r>
            <a:r>
              <a:rPr lang="en-US" dirty="0" err="1">
                <a:solidFill>
                  <a:srgbClr val="FFFFFF"/>
                </a:solidFill>
                <a:latin typeface="Courier"/>
                <a:cs typeface="Courier"/>
              </a:rPr>
              <a:t>resultSet.getString</a:t>
            </a:r>
            <a:r>
              <a:rPr lang="en-US" dirty="0">
                <a:solidFill>
                  <a:srgbClr val="FFFFFF"/>
                </a:solidFill>
                <a:latin typeface="Courier"/>
                <a:cs typeface="Courier"/>
              </a:rPr>
              <a:t>(“</a:t>
            </a:r>
            <a:r>
              <a:rPr lang="en-US" dirty="0" err="1">
                <a:solidFill>
                  <a:srgbClr val="FFFFFF"/>
                </a:solidFill>
                <a:latin typeface="Courier"/>
                <a:cs typeface="Courier"/>
              </a:rPr>
              <a:t>P.name</a:t>
            </a:r>
            <a:r>
              <a:rPr lang="en-US" dirty="0">
                <a:solidFill>
                  <a:srgbClr val="FFFFFF"/>
                </a:solidFill>
                <a:latin typeface="Courier"/>
                <a:cs typeface="Courier"/>
              </a:rPr>
              <a:t>”</a:t>
            </a:r>
            <a:r>
              <a:rPr lang="en-US" dirty="0" smtClean="0">
                <a:solidFill>
                  <a:srgbClr val="FFFFFF"/>
                </a:solidFill>
                <a:latin typeface="Courier"/>
                <a:cs typeface="Courier"/>
              </a:rPr>
              <a:t>)</a:t>
            </a:r>
          </a:p>
          <a:p>
            <a:pPr marL="0" indent="0">
              <a:buNone/>
            </a:pPr>
            <a:r>
              <a:rPr lang="en-US" dirty="0">
                <a:solidFill>
                  <a:srgbClr val="FFFFFF"/>
                </a:solidFill>
                <a:latin typeface="Courier"/>
                <a:cs typeface="Courier"/>
              </a:rPr>
              <a:t> </a:t>
            </a:r>
            <a:r>
              <a:rPr lang="en-US" dirty="0" smtClean="0">
                <a:solidFill>
                  <a:srgbClr val="FFFFFF"/>
                </a:solidFill>
                <a:latin typeface="Courier"/>
                <a:cs typeface="Courier"/>
              </a:rPr>
              <a:t>   }</a:t>
            </a:r>
          </a:p>
          <a:p>
            <a:pPr marL="0" indent="0">
              <a:buNone/>
            </a:pPr>
            <a:r>
              <a:rPr lang="en-US" dirty="0">
                <a:solidFill>
                  <a:srgbClr val="FFFFFF"/>
                </a:solidFill>
                <a:latin typeface="Courier"/>
                <a:cs typeface="Courier"/>
              </a:rPr>
              <a:t>}</a:t>
            </a:r>
            <a:endParaRPr lang="en-US" dirty="0" smtClean="0">
              <a:solidFill>
                <a:srgbClr val="FFFFFF"/>
              </a:solidFill>
              <a:latin typeface="Courier"/>
              <a:cs typeface="Courier"/>
            </a:endParaRPr>
          </a:p>
          <a:p>
            <a:pPr marL="0" indent="0">
              <a:buNone/>
            </a:pPr>
            <a:endParaRPr lang="en-US" dirty="0" smtClean="0">
              <a:solidFill>
                <a:srgbClr val="FFFFFF"/>
              </a:solidFill>
              <a:latin typeface="Courier"/>
              <a:cs typeface="Courier"/>
            </a:endParaRPr>
          </a:p>
        </p:txBody>
      </p:sp>
    </p:spTree>
    <p:extLst>
      <p:ext uri="{BB962C8B-B14F-4D97-AF65-F5344CB8AC3E}">
        <p14:creationId xmlns:p14="http://schemas.microsoft.com/office/powerpoint/2010/main" val="2616613045"/>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One-To-Many Using Linking</a:t>
            </a:r>
            <a:endParaRPr lang="en-US" dirty="0"/>
          </a:p>
        </p:txBody>
      </p:sp>
      <p:sp>
        <p:nvSpPr>
          <p:cNvPr id="4" name="Text Placeholder 3"/>
          <p:cNvSpPr>
            <a:spLocks noGrp="1"/>
          </p:cNvSpPr>
          <p:nvPr>
            <p:ph idx="1"/>
          </p:nvPr>
        </p:nvSpPr>
        <p:spPr/>
        <p:txBody>
          <a:bodyPr>
            <a:normAutofit/>
          </a:bodyPr>
          <a:lstStyle/>
          <a:p>
            <a:r>
              <a:rPr lang="en-US" sz="2400" dirty="0" smtClean="0"/>
              <a:t>Optimized for efficient management of mutable data</a:t>
            </a:r>
          </a:p>
          <a:p>
            <a:r>
              <a:rPr lang="en-US" sz="2400" dirty="0" smtClean="0"/>
              <a:t>Familiar way to organize basic entities </a:t>
            </a:r>
          </a:p>
          <a:p>
            <a:r>
              <a:rPr lang="en-US" sz="2400" dirty="0" smtClean="0"/>
              <a:t>Code is used to assemble fetched material into other objects, not disassemble a single </a:t>
            </a:r>
            <a:r>
              <a:rPr lang="en-US" sz="2400" dirty="0" err="1" smtClean="0"/>
              <a:t>ResultSet</a:t>
            </a:r>
            <a:endParaRPr lang="en-US" sz="2400" dirty="0" smtClean="0"/>
          </a:p>
          <a:p>
            <a:pPr lvl="1"/>
            <a:r>
              <a:rPr lang="en-US" sz="2000" dirty="0" smtClean="0"/>
              <a:t>More complicated queries may be easier to code and maintain with assembly vs. disassembly</a:t>
            </a:r>
          </a:p>
          <a:p>
            <a:pPr marL="457200" lvl="1" indent="0">
              <a:buNone/>
            </a:pPr>
            <a:r>
              <a:rPr lang="en-US" sz="2000" dirty="0" smtClean="0"/>
              <a:t> </a:t>
            </a:r>
          </a:p>
        </p:txBody>
      </p:sp>
    </p:spTree>
    <p:extLst>
      <p:ext uri="{BB962C8B-B14F-4D97-AF65-F5344CB8AC3E}">
        <p14:creationId xmlns:p14="http://schemas.microsoft.com/office/powerpoint/2010/main" val="2158077452"/>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57200" y="274638"/>
            <a:ext cx="8229600" cy="6178302"/>
          </a:xfrm>
          <a:prstGeom prst="rect">
            <a:avLst/>
          </a:prstGeom>
        </p:spPr>
        <p:txBody>
          <a:bodyPr anchor="ctr">
            <a:normAutofit/>
          </a:bodyPr>
          <a:lstStyle>
            <a:lvl1pPr algn="ctr" defTabSz="457200" rtl="0" eaLnBrk="1" latinLnBrk="0" hangingPunct="1">
              <a:spcBef>
                <a:spcPct val="0"/>
              </a:spcBef>
              <a:buNone/>
              <a:defRPr sz="3600" b="1" kern="1200" spc="-150">
                <a:solidFill>
                  <a:srgbClr val="242423"/>
                </a:solidFill>
                <a:latin typeface="Arial"/>
                <a:ea typeface="+mj-ea"/>
                <a:cs typeface="Arial"/>
              </a:defRPr>
            </a:lvl1pPr>
          </a:lstStyle>
          <a:p>
            <a:pPr algn="l"/>
            <a:r>
              <a:rPr lang="en-US" sz="4400" dirty="0" smtClean="0"/>
              <a:t>Question:</a:t>
            </a:r>
          </a:p>
          <a:p>
            <a:pPr algn="l"/>
            <a:r>
              <a:rPr lang="en-US" sz="4400" dirty="0" smtClean="0">
                <a:solidFill>
                  <a:srgbClr val="5B972B"/>
                </a:solidFill>
              </a:rPr>
              <a:t>What are all the books a publisher has published?</a:t>
            </a:r>
            <a:endParaRPr lang="en-US" sz="4400" dirty="0">
              <a:solidFill>
                <a:srgbClr val="5B972B"/>
              </a:solidFill>
            </a:endParaRPr>
          </a:p>
        </p:txBody>
      </p:sp>
    </p:spTree>
    <p:extLst>
      <p:ext uri="{BB962C8B-B14F-4D97-AF65-F5344CB8AC3E}">
        <p14:creationId xmlns:p14="http://schemas.microsoft.com/office/powerpoint/2010/main" val="2858808801"/>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Publisher with Linked Books</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en-US" dirty="0">
                <a:solidFill>
                  <a:srgbClr val="FFFFFF"/>
                </a:solidFill>
                <a:latin typeface="Courier"/>
                <a:cs typeface="Courier"/>
              </a:rPr>
              <a:t>&gt; publisher = </a:t>
            </a:r>
            <a:r>
              <a:rPr lang="en-US" dirty="0" err="1">
                <a:solidFill>
                  <a:srgbClr val="FFFFFF"/>
                </a:solidFill>
                <a:latin typeface="Courier"/>
                <a:cs typeface="Courier"/>
              </a:rPr>
              <a:t>db.publishers.find</a:t>
            </a:r>
            <a:r>
              <a:rPr lang="en-US" dirty="0">
                <a:solidFill>
                  <a:srgbClr val="FFFFFF"/>
                </a:solidFill>
                <a:latin typeface="Courier"/>
                <a:cs typeface="Courier"/>
              </a:rPr>
              <a:t>({ _id : </a:t>
            </a:r>
            <a:r>
              <a:rPr lang="en-US" dirty="0">
                <a:solidFill>
                  <a:schemeClr val="accent2"/>
                </a:solidFill>
                <a:latin typeface="Courier"/>
                <a:cs typeface="Courier"/>
              </a:rPr>
              <a:t>“</a:t>
            </a:r>
            <a:r>
              <a:rPr lang="en-US" dirty="0" err="1">
                <a:solidFill>
                  <a:schemeClr val="accent2"/>
                </a:solidFill>
                <a:latin typeface="Courier"/>
                <a:cs typeface="Courier"/>
              </a:rPr>
              <a:t>oreilly</a:t>
            </a:r>
            <a:r>
              <a:rPr lang="en-US" dirty="0">
                <a:solidFill>
                  <a:schemeClr val="accent2"/>
                </a:solidFill>
                <a:latin typeface="Courier"/>
                <a:cs typeface="Courier"/>
              </a:rPr>
              <a:t>”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_id: </a:t>
            </a:r>
            <a:r>
              <a:rPr lang="en-US" dirty="0">
                <a:solidFill>
                  <a:schemeClr val="accent2">
                    <a:lumMod val="75000"/>
                  </a:schemeClr>
                </a:solidFill>
                <a:latin typeface="Courier"/>
                <a:cs typeface="Courier"/>
              </a:rPr>
              <a:t>“</a:t>
            </a:r>
            <a:r>
              <a:rPr lang="en-US" dirty="0" err="1">
                <a:solidFill>
                  <a:schemeClr val="accent2">
                    <a:lumMod val="75000"/>
                  </a:schemeClr>
                </a:solidFill>
                <a:latin typeface="Courier"/>
                <a:cs typeface="Courier"/>
              </a:rPr>
              <a:t>oreilly</a:t>
            </a:r>
            <a:r>
              <a:rPr lang="en-US" dirty="0">
                <a:solidFill>
                  <a:schemeClr val="accent2">
                    <a:lumMod val="75000"/>
                  </a:schemeClr>
                </a:solidFill>
                <a:latin typeface="Courier"/>
                <a:cs typeface="Courier"/>
              </a:rPr>
              <a:t>”</a:t>
            </a:r>
            <a:r>
              <a:rPr lang="en-US" dirty="0">
                <a:solidFill>
                  <a:srgbClr val="F7D58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name: </a:t>
            </a:r>
            <a:r>
              <a:rPr lang="en-US" dirty="0">
                <a:solidFill>
                  <a:srgbClr val="F7D58F"/>
                </a:solidFill>
                <a:latin typeface="Courier"/>
                <a:cs typeface="Courier"/>
              </a:rPr>
              <a:t>"O’Reilly Media"</a:t>
            </a:r>
            <a:r>
              <a:rPr lang="en-US" dirty="0">
                <a:solidFill>
                  <a:srgbClr val="FFFFF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founded:</a:t>
            </a:r>
            <a:r>
              <a:rPr lang="en-US" dirty="0">
                <a:latin typeface="Courier"/>
                <a:cs typeface="Courier"/>
              </a:rPr>
              <a:t> </a:t>
            </a:r>
            <a:r>
              <a:rPr lang="en-US" dirty="0" smtClean="0">
                <a:solidFill>
                  <a:srgbClr val="F7D58F"/>
                </a:solidFill>
                <a:latin typeface="Courier"/>
                <a:cs typeface="Courier"/>
              </a:rPr>
              <a:t>1980</a:t>
            </a: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lnSpc>
                <a:spcPct val="100000"/>
              </a:lnSpc>
              <a:spcBef>
                <a:spcPts val="72"/>
              </a:spcBef>
              <a:buNone/>
            </a:pPr>
            <a:r>
              <a:rPr lang="en-US" dirty="0">
                <a:latin typeface="Courier"/>
                <a:cs typeface="Courier"/>
              </a:rPr>
              <a:t>    </a:t>
            </a:r>
            <a:r>
              <a:rPr lang="en-US" dirty="0" smtClean="0">
                <a:solidFill>
                  <a:srgbClr val="FFFFFF"/>
                </a:solidFill>
                <a:latin typeface="Courier"/>
                <a:cs typeface="Courier"/>
              </a:rPr>
              <a:t>locations: [</a:t>
            </a:r>
            <a:r>
              <a:rPr lang="en-US" dirty="0" smtClean="0">
                <a:latin typeface="Courier"/>
                <a:cs typeface="Courier"/>
              </a:rPr>
              <a:t> </a:t>
            </a:r>
            <a:r>
              <a:rPr lang="en-US" dirty="0">
                <a:solidFill>
                  <a:srgbClr val="F7D58F"/>
                </a:solidFill>
                <a:latin typeface="Courier"/>
                <a:cs typeface="Courier"/>
              </a:rPr>
              <a:t>"CA“, </a:t>
            </a:r>
            <a:r>
              <a:rPr lang="en-US" dirty="0" smtClean="0">
                <a:solidFill>
                  <a:srgbClr val="F7D58F"/>
                </a:solidFill>
                <a:latin typeface="Courier"/>
                <a:cs typeface="Courier"/>
              </a:rPr>
              <a:t>”NY”</a:t>
            </a:r>
            <a:r>
              <a:rPr lang="en-US" dirty="0">
                <a:solidFill>
                  <a:srgbClr val="FFFFFF"/>
                </a:solidFill>
                <a:latin typeface="Courier"/>
                <a:cs typeface="Courier"/>
              </a:rPr>
              <a:t> </a:t>
            </a:r>
            <a:r>
              <a:rPr lang="en-US" dirty="0" smtClean="0">
                <a:solidFill>
                  <a:srgbClr val="FFFFFF"/>
                </a:solidFill>
                <a:latin typeface="Courier"/>
                <a:cs typeface="Courier"/>
              </a:rPr>
              <a:t>],</a:t>
            </a:r>
            <a:endParaRPr lang="en-US" dirty="0">
              <a:solidFill>
                <a:srgbClr val="F7D58F"/>
              </a:solidFill>
              <a:latin typeface="Courier"/>
              <a:cs typeface="Courier"/>
            </a:endParaRPr>
          </a:p>
          <a:p>
            <a:pPr marL="0" indent="0">
              <a:lnSpc>
                <a:spcPct val="100000"/>
              </a:lnSpc>
              <a:spcBef>
                <a:spcPts val="72"/>
              </a:spcBef>
              <a:buNone/>
            </a:pPr>
            <a:r>
              <a:rPr lang="en-US" dirty="0">
                <a:solidFill>
                  <a:srgbClr val="F7D58F"/>
                </a:solidFill>
                <a:latin typeface="Courier"/>
                <a:cs typeface="Courier"/>
              </a:rPr>
              <a:t>    </a:t>
            </a:r>
            <a:r>
              <a:rPr lang="en-US" dirty="0">
                <a:solidFill>
                  <a:srgbClr val="FFFFFF"/>
                </a:solidFill>
                <a:latin typeface="Courier"/>
                <a:cs typeface="Courier"/>
              </a:rPr>
              <a:t>books: [</a:t>
            </a:r>
            <a:r>
              <a:rPr lang="en-US" dirty="0">
                <a:solidFill>
                  <a:srgbClr val="FF6600"/>
                </a:solidFill>
                <a:latin typeface="Courier"/>
                <a:cs typeface="Courier"/>
              </a:rPr>
              <a:t>“123”</a:t>
            </a:r>
            <a:r>
              <a:rPr lang="en-US" dirty="0" smtClean="0">
                <a:solidFill>
                  <a:srgbClr val="FFFFFF"/>
                </a:solidFill>
                <a:latin typeface="Courier"/>
                <a:cs typeface="Courier"/>
              </a:rPr>
              <a:t>, </a:t>
            </a:r>
            <a:r>
              <a:rPr lang="en-US" dirty="0" smtClean="0">
                <a:solidFill>
                  <a:srgbClr val="FF6600"/>
                </a:solidFill>
                <a:latin typeface="Courier"/>
                <a:cs typeface="Courier"/>
              </a:rPr>
              <a:t>“456”</a:t>
            </a:r>
            <a:r>
              <a:rPr lang="en-US" dirty="0" smtClean="0">
                <a:solidFill>
                  <a:srgbClr val="FFFFFF"/>
                </a:solidFill>
                <a:latin typeface="Courier"/>
                <a:cs typeface="Courier"/>
              </a:rPr>
              <a:t>, </a:t>
            </a:r>
            <a:r>
              <a:rPr lang="en-US" dirty="0" smtClean="0">
                <a:solidFill>
                  <a:srgbClr val="FF6600"/>
                </a:solidFill>
                <a:latin typeface="Courier"/>
                <a:cs typeface="Courier"/>
              </a:rPr>
              <a:t>“789”</a:t>
            </a:r>
            <a:r>
              <a:rPr lang="en-US" dirty="0" smtClean="0">
                <a:solidFill>
                  <a:srgbClr val="FFFFFF"/>
                </a:solidFill>
                <a:latin typeface="Courier"/>
                <a:cs typeface="Courier"/>
              </a:rPr>
              <a:t>, </a:t>
            </a:r>
            <a:r>
              <a:rPr lang="en-US" dirty="0" smtClean="0">
                <a:solidFill>
                  <a:srgbClr val="FF6600"/>
                </a:solidFill>
                <a:latin typeface="Courier"/>
                <a:cs typeface="Courier"/>
              </a:rPr>
              <a:t>“10112”</a:t>
            </a:r>
            <a:r>
              <a:rPr lang="en-US" dirty="0" smtClean="0">
                <a:solidFill>
                  <a:srgbClr val="FFFFFF"/>
                </a:solidFill>
                <a:latin typeface="Courier"/>
                <a:cs typeface="Courier"/>
              </a:rPr>
              <a:t>,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buNone/>
            </a:pPr>
            <a:endParaRPr lang="en-US" dirty="0">
              <a:latin typeface="Courier"/>
              <a:cs typeface="Courier"/>
            </a:endParaRPr>
          </a:p>
          <a:p>
            <a:pPr marL="0" indent="0">
              <a:lnSpc>
                <a:spcPct val="100000"/>
              </a:lnSpc>
              <a:buNone/>
            </a:pPr>
            <a:r>
              <a:rPr lang="en-US" dirty="0">
                <a:solidFill>
                  <a:srgbClr val="FFFFFF"/>
                </a:solidFill>
                <a:latin typeface="Courier"/>
                <a:cs typeface="Courier"/>
              </a:rPr>
              <a:t>&gt; books = </a:t>
            </a:r>
            <a:r>
              <a:rPr lang="en-US" dirty="0" err="1">
                <a:solidFill>
                  <a:srgbClr val="FFFFFF"/>
                </a:solidFill>
                <a:latin typeface="Courier"/>
                <a:cs typeface="Courier"/>
              </a:rPr>
              <a:t>db.books.find</a:t>
            </a:r>
            <a:r>
              <a:rPr lang="en-US" dirty="0">
                <a:solidFill>
                  <a:srgbClr val="FFFFFF"/>
                </a:solidFill>
                <a:latin typeface="Courier"/>
                <a:cs typeface="Courier"/>
              </a:rPr>
              <a:t>({ _id: { $in : </a:t>
            </a:r>
            <a:r>
              <a:rPr lang="en-US" dirty="0" err="1">
                <a:solidFill>
                  <a:srgbClr val="FFFFFF"/>
                </a:solidFill>
                <a:latin typeface="Courier"/>
                <a:cs typeface="Courier"/>
              </a:rPr>
              <a:t>publisher.books</a:t>
            </a:r>
            <a:r>
              <a:rPr lang="en-US" dirty="0">
                <a:solidFill>
                  <a:srgbClr val="FFFFFF"/>
                </a:solidFill>
                <a:latin typeface="Courier"/>
                <a:cs typeface="Courier"/>
              </a:rPr>
              <a:t> } })</a:t>
            </a:r>
          </a:p>
        </p:txBody>
      </p:sp>
      <p:sp>
        <p:nvSpPr>
          <p:cNvPr id="2" name="Rectangle 1"/>
          <p:cNvSpPr/>
          <p:nvPr/>
        </p:nvSpPr>
        <p:spPr>
          <a:xfrm rot="20595675">
            <a:off x="6547061" y="2286855"/>
            <a:ext cx="2330310" cy="1010977"/>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NOT</a:t>
            </a:r>
            <a:br>
              <a:rPr lang="en-US" dirty="0" smtClean="0">
                <a:solidFill>
                  <a:schemeClr val="tx1"/>
                </a:solidFill>
              </a:rPr>
            </a:br>
            <a:r>
              <a:rPr lang="en-US" dirty="0" smtClean="0">
                <a:solidFill>
                  <a:schemeClr val="tx1"/>
                </a:solidFill>
              </a:rPr>
              <a:t>RECOMMENDED</a:t>
            </a:r>
            <a:endParaRPr lang="en-US" dirty="0">
              <a:solidFill>
                <a:schemeClr val="tx1"/>
              </a:solidFill>
            </a:endParaRPr>
          </a:p>
        </p:txBody>
      </p:sp>
    </p:spTree>
    <p:extLst>
      <p:ext uri="{BB962C8B-B14F-4D97-AF65-F5344CB8AC3E}">
        <p14:creationId xmlns:p14="http://schemas.microsoft.com/office/powerpoint/2010/main" val="87399797"/>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57200" y="274638"/>
            <a:ext cx="8229600" cy="6178302"/>
          </a:xfrm>
          <a:prstGeom prst="rect">
            <a:avLst/>
          </a:prstGeom>
        </p:spPr>
        <p:txBody>
          <a:bodyPr anchor="ctr">
            <a:normAutofit/>
          </a:bodyPr>
          <a:lstStyle>
            <a:lvl1pPr algn="ctr" defTabSz="457200" rtl="0" eaLnBrk="1" latinLnBrk="0" hangingPunct="1">
              <a:spcBef>
                <a:spcPct val="0"/>
              </a:spcBef>
              <a:buNone/>
              <a:defRPr sz="3600" b="1" kern="1200" spc="-150">
                <a:solidFill>
                  <a:srgbClr val="242423"/>
                </a:solidFill>
                <a:latin typeface="Arial"/>
                <a:ea typeface="+mj-ea"/>
                <a:cs typeface="Arial"/>
              </a:defRPr>
            </a:lvl1pPr>
          </a:lstStyle>
          <a:p>
            <a:pPr algn="l"/>
            <a:r>
              <a:rPr lang="en-US" sz="4400" dirty="0" smtClean="0"/>
              <a:t>Question:</a:t>
            </a:r>
          </a:p>
          <a:p>
            <a:pPr algn="l"/>
            <a:r>
              <a:rPr lang="en-US" sz="4400" dirty="0" smtClean="0">
                <a:solidFill>
                  <a:srgbClr val="5B972B"/>
                </a:solidFill>
              </a:rPr>
              <a:t>Who are the authors of a given book?</a:t>
            </a:r>
            <a:endParaRPr lang="en-US" sz="4400" dirty="0">
              <a:solidFill>
                <a:srgbClr val="5B972B"/>
              </a:solidFill>
            </a:endParaRPr>
          </a:p>
        </p:txBody>
      </p:sp>
    </p:spTree>
    <p:extLst>
      <p:ext uri="{BB962C8B-B14F-4D97-AF65-F5344CB8AC3E}">
        <p14:creationId xmlns:p14="http://schemas.microsoft.com/office/powerpoint/2010/main" val="1700226050"/>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Books with linked Authors</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3"/>
          <p:cNvSpPr txBox="1">
            <a:spLocks/>
          </p:cNvSpPr>
          <p:nvPr/>
        </p:nvSpPr>
        <p:spPr>
          <a:xfrm>
            <a:off x="800100" y="1625954"/>
            <a:ext cx="7886700"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en-US" dirty="0">
                <a:solidFill>
                  <a:srgbClr val="FFFFFF"/>
                </a:solidFill>
                <a:latin typeface="Courier"/>
                <a:cs typeface="Courier"/>
              </a:rPr>
              <a:t>&gt; book = </a:t>
            </a:r>
            <a:r>
              <a:rPr lang="en-US" dirty="0" err="1">
                <a:solidFill>
                  <a:srgbClr val="FFFFFF"/>
                </a:solidFill>
                <a:latin typeface="Courier"/>
                <a:cs typeface="Courier"/>
              </a:rPr>
              <a:t>db.books.find</a:t>
            </a:r>
            <a:r>
              <a:rPr lang="en-US" dirty="0">
                <a:solidFill>
                  <a:srgbClr val="FFFFFF"/>
                </a:solidFill>
                <a:latin typeface="Courier"/>
                <a:cs typeface="Courier"/>
              </a:rPr>
              <a:t>({ _id :</a:t>
            </a:r>
            <a:r>
              <a:rPr lang="en-US" dirty="0">
                <a:latin typeface="Courier"/>
                <a:cs typeface="Courier"/>
              </a:rPr>
              <a:t> </a:t>
            </a:r>
            <a:r>
              <a:rPr lang="en-US" dirty="0">
                <a:solidFill>
                  <a:schemeClr val="accent2"/>
                </a:solidFill>
                <a:latin typeface="Courier"/>
                <a:cs typeface="Courier"/>
              </a:rPr>
              <a:t>“123”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_id: </a:t>
            </a:r>
            <a:r>
              <a:rPr lang="en-US" dirty="0">
                <a:solidFill>
                  <a:srgbClr val="F7D58F"/>
                </a:solidFill>
                <a:latin typeface="Courier"/>
                <a:cs typeface="Courier"/>
              </a:rPr>
              <a:t>“123”,</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title:</a:t>
            </a:r>
            <a:r>
              <a:rPr lang="en-US" dirty="0">
                <a:latin typeface="Courier"/>
                <a:cs typeface="Courier"/>
              </a:rPr>
              <a:t> </a:t>
            </a:r>
            <a:r>
              <a:rPr lang="en-US" dirty="0">
                <a:solidFill>
                  <a:srgbClr val="F7D58F"/>
                </a:solidFill>
                <a:latin typeface="Courier"/>
                <a:cs typeface="Courier"/>
              </a:rPr>
              <a:t>"MongoDB: The Definitive Guide"</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a:t>
            </a:r>
            <a:r>
              <a:rPr lang="en-US" dirty="0" smtClean="0">
                <a:solidFill>
                  <a:srgbClr val="FFFFFF"/>
                </a:solidFill>
                <a:latin typeface="Courier"/>
                <a:cs typeface="Courier"/>
              </a:rPr>
              <a:t>…</a:t>
            </a:r>
          </a:p>
          <a:p>
            <a:pPr marL="0" indent="0">
              <a:lnSpc>
                <a:spcPct val="100000"/>
              </a:lnSpc>
              <a:spcBef>
                <a:spcPts val="72"/>
              </a:spcBef>
              <a:buNone/>
            </a:pPr>
            <a:r>
              <a:rPr lang="en-US" dirty="0" smtClean="0">
                <a:solidFill>
                  <a:srgbClr val="FFFFFF"/>
                </a:solidFill>
                <a:latin typeface="Courier"/>
                <a:cs typeface="Courier"/>
              </a:rPr>
              <a:t>    authors</a:t>
            </a:r>
            <a:r>
              <a:rPr lang="en-US" dirty="0">
                <a:solidFill>
                  <a:srgbClr val="FFFFFF"/>
                </a:solidFill>
                <a:latin typeface="Courier"/>
                <a:cs typeface="Courier"/>
              </a:rPr>
              <a:t>: [</a:t>
            </a:r>
          </a:p>
          <a:p>
            <a:pPr marL="0" indent="0">
              <a:lnSpc>
                <a:spcPct val="100000"/>
              </a:lnSpc>
              <a:spcBef>
                <a:spcPts val="72"/>
              </a:spcBef>
              <a:buNone/>
            </a:pPr>
            <a:r>
              <a:rPr lang="en-US" dirty="0" smtClean="0">
                <a:solidFill>
                  <a:srgbClr val="FFFFFF"/>
                </a:solidFill>
                <a:latin typeface="Courier"/>
                <a:cs typeface="Courier"/>
              </a:rPr>
              <a:t>        </a:t>
            </a:r>
            <a:r>
              <a:rPr lang="en-US" dirty="0">
                <a:solidFill>
                  <a:srgbClr val="FFFFFF"/>
                </a:solidFill>
                <a:latin typeface="Courier"/>
                <a:cs typeface="Courier"/>
              </a:rPr>
              <a:t>{ </a:t>
            </a:r>
            <a:r>
              <a:rPr lang="en-US" dirty="0" smtClean="0">
                <a:solidFill>
                  <a:srgbClr val="FFFFFF"/>
                </a:solidFill>
                <a:latin typeface="Courier"/>
                <a:cs typeface="Courier"/>
              </a:rPr>
              <a:t>_id: </a:t>
            </a:r>
            <a:r>
              <a:rPr lang="en-US" dirty="0" smtClean="0">
                <a:solidFill>
                  <a:srgbClr val="FF6600"/>
                </a:solidFill>
                <a:latin typeface="Courier"/>
                <a:cs typeface="Courier"/>
              </a:rPr>
              <a:t>“X12”</a:t>
            </a:r>
            <a:r>
              <a:rPr lang="en-US" dirty="0" smtClean="0">
                <a:solidFill>
                  <a:srgbClr val="FFFFFF"/>
                </a:solidFill>
                <a:latin typeface="Courier"/>
                <a:cs typeface="Courier"/>
              </a:rPr>
              <a:t>, first</a:t>
            </a:r>
            <a:r>
              <a:rPr lang="en-US" dirty="0">
                <a:solidFill>
                  <a:srgbClr val="FFFFFF"/>
                </a:solidFill>
                <a:latin typeface="Courier"/>
                <a:cs typeface="Courier"/>
              </a:rPr>
              <a:t>: </a:t>
            </a:r>
            <a:r>
              <a:rPr lang="en-US" dirty="0">
                <a:solidFill>
                  <a:srgbClr val="F7D58F"/>
                </a:solidFill>
                <a:latin typeface="Courier"/>
                <a:cs typeface="Courier"/>
              </a:rPr>
              <a:t>"Kristina”, </a:t>
            </a:r>
            <a:r>
              <a:rPr lang="en-US" dirty="0">
                <a:solidFill>
                  <a:srgbClr val="FFFFFF"/>
                </a:solidFill>
                <a:latin typeface="Courier"/>
                <a:cs typeface="Courier"/>
              </a:rPr>
              <a:t>last: </a:t>
            </a:r>
            <a:r>
              <a:rPr lang="en-US" dirty="0">
                <a:solidFill>
                  <a:srgbClr val="F7D58F"/>
                </a:solidFill>
                <a:latin typeface="Courier"/>
                <a:cs typeface="Courier"/>
              </a:rPr>
              <a:t>“</a:t>
            </a:r>
            <a:r>
              <a:rPr lang="en-US" dirty="0" err="1">
                <a:solidFill>
                  <a:srgbClr val="F7D58F"/>
                </a:solidFill>
                <a:latin typeface="Courier"/>
                <a:cs typeface="Courier"/>
              </a:rPr>
              <a:t>Chodorow</a:t>
            </a:r>
            <a:r>
              <a:rPr lang="en-US" dirty="0">
                <a:solidFill>
                  <a:srgbClr val="F7D58F"/>
                </a:solidFill>
                <a:latin typeface="Courier"/>
                <a:cs typeface="Courier"/>
              </a:rPr>
              <a:t>”</a:t>
            </a:r>
            <a:r>
              <a:rPr lang="en-US" dirty="0">
                <a:solidFill>
                  <a:srgbClr val="FFFFFF"/>
                </a:solidFill>
                <a:latin typeface="Courier"/>
                <a:cs typeface="Courier"/>
              </a:rPr>
              <a:t> },</a:t>
            </a:r>
          </a:p>
          <a:p>
            <a:pPr marL="0" indent="0">
              <a:lnSpc>
                <a:spcPct val="100000"/>
              </a:lnSpc>
              <a:spcBef>
                <a:spcPts val="72"/>
              </a:spcBef>
              <a:buNone/>
            </a:pPr>
            <a:r>
              <a:rPr lang="en-US" dirty="0">
                <a:solidFill>
                  <a:srgbClr val="FFFFFF"/>
                </a:solidFill>
                <a:latin typeface="Courier"/>
                <a:cs typeface="Courier"/>
              </a:rPr>
              <a:t>        { </a:t>
            </a:r>
            <a:r>
              <a:rPr lang="en-US" dirty="0" smtClean="0">
                <a:solidFill>
                  <a:srgbClr val="FFFFFF"/>
                </a:solidFill>
                <a:latin typeface="Courier"/>
                <a:cs typeface="Courier"/>
              </a:rPr>
              <a:t>_id: </a:t>
            </a:r>
            <a:r>
              <a:rPr lang="en-US" dirty="0" smtClean="0">
                <a:solidFill>
                  <a:srgbClr val="FF6600"/>
                </a:solidFill>
                <a:latin typeface="Courier"/>
                <a:cs typeface="Courier"/>
              </a:rPr>
              <a:t>“Y45”</a:t>
            </a:r>
            <a:r>
              <a:rPr lang="en-US" dirty="0" smtClean="0">
                <a:solidFill>
                  <a:srgbClr val="FFFFFF"/>
                </a:solidFill>
                <a:latin typeface="Courier"/>
                <a:cs typeface="Courier"/>
              </a:rPr>
              <a:t>, first</a:t>
            </a:r>
            <a:r>
              <a:rPr lang="en-US" dirty="0">
                <a:solidFill>
                  <a:srgbClr val="FFFFFF"/>
                </a:solidFill>
                <a:latin typeface="Courier"/>
                <a:cs typeface="Courier"/>
              </a:rPr>
              <a:t>: </a:t>
            </a:r>
            <a:r>
              <a:rPr lang="en-US" dirty="0">
                <a:solidFill>
                  <a:srgbClr val="F7D58F"/>
                </a:solidFill>
                <a:latin typeface="Courier"/>
                <a:cs typeface="Courier"/>
              </a:rPr>
              <a:t>”Mike”, </a:t>
            </a:r>
            <a:r>
              <a:rPr lang="en-US" dirty="0">
                <a:solidFill>
                  <a:srgbClr val="FFFFFF"/>
                </a:solidFill>
                <a:latin typeface="Courier"/>
                <a:cs typeface="Courier"/>
              </a:rPr>
              <a:t>last: </a:t>
            </a:r>
            <a:r>
              <a:rPr lang="en-US" dirty="0">
                <a:solidFill>
                  <a:srgbClr val="F7D58F"/>
                </a:solidFill>
                <a:latin typeface="Courier"/>
                <a:cs typeface="Courier"/>
              </a:rPr>
              <a:t>“</a:t>
            </a:r>
            <a:r>
              <a:rPr lang="en-US" dirty="0" err="1">
                <a:solidFill>
                  <a:srgbClr val="F7D58F"/>
                </a:solidFill>
                <a:latin typeface="Courier"/>
                <a:cs typeface="Courier"/>
              </a:rPr>
              <a:t>Dirolf</a:t>
            </a:r>
            <a:r>
              <a:rPr lang="en-US" dirty="0">
                <a:solidFill>
                  <a:srgbClr val="F7D58F"/>
                </a:solidFill>
                <a:latin typeface="Courier"/>
                <a:cs typeface="Courier"/>
              </a:rPr>
              <a:t>”</a:t>
            </a:r>
            <a:r>
              <a:rPr lang="en-US" dirty="0">
                <a:solidFill>
                  <a:srgbClr val="FFFFFF"/>
                </a:solidFill>
                <a:latin typeface="Courier"/>
                <a:cs typeface="Courier"/>
              </a:rPr>
              <a:t> }</a:t>
            </a:r>
            <a:endParaRPr lang="en-US" dirty="0">
              <a:latin typeface="Courier"/>
              <a:cs typeface="Courier"/>
            </a:endParaRPr>
          </a:p>
          <a:p>
            <a:pPr marL="0" indent="0">
              <a:lnSpc>
                <a:spcPct val="100000"/>
              </a:lnSpc>
              <a:spcBef>
                <a:spcPts val="72"/>
              </a:spcBef>
              <a:buNone/>
            </a:pPr>
            <a:r>
              <a:rPr lang="en-US" dirty="0">
                <a:solidFill>
                  <a:srgbClr val="F7D58F"/>
                </a:solidFill>
                <a:latin typeface="Courier"/>
                <a:cs typeface="Courier"/>
              </a:rPr>
              <a:t>    </a:t>
            </a:r>
            <a:r>
              <a:rPr lang="en-US" dirty="0">
                <a:solidFill>
                  <a:srgbClr val="FFFFFF"/>
                </a:solidFill>
                <a:latin typeface="Courier"/>
                <a:cs typeface="Courier"/>
              </a:rPr>
              <a:t>],</a:t>
            </a:r>
          </a:p>
          <a:p>
            <a:pPr marL="0" indent="0">
              <a:lnSpc>
                <a:spcPct val="100000"/>
              </a:lnSpc>
              <a:spcBef>
                <a:spcPts val="72"/>
              </a:spcBef>
              <a:buNone/>
            </a:pP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&gt; a2 </a:t>
            </a:r>
            <a:r>
              <a:rPr lang="en-US" dirty="0">
                <a:solidFill>
                  <a:srgbClr val="FFFFFF"/>
                </a:solidFill>
                <a:latin typeface="Courier"/>
                <a:cs typeface="Courier"/>
              </a:rPr>
              <a:t>= </a:t>
            </a:r>
            <a:r>
              <a:rPr lang="en-US" dirty="0" err="1" smtClean="0">
                <a:solidFill>
                  <a:srgbClr val="FFFFFF"/>
                </a:solidFill>
                <a:latin typeface="Courier"/>
                <a:cs typeface="Courier"/>
              </a:rPr>
              <a:t>book.authors.map</a:t>
            </a:r>
            <a:r>
              <a:rPr lang="en-US" dirty="0">
                <a:solidFill>
                  <a:srgbClr val="FFFFFF"/>
                </a:solidFill>
                <a:latin typeface="Courier"/>
                <a:cs typeface="Courier"/>
              </a:rPr>
              <a:t>(function(r) { return </a:t>
            </a:r>
            <a:r>
              <a:rPr lang="en-US" dirty="0" err="1">
                <a:solidFill>
                  <a:srgbClr val="FFFFFF"/>
                </a:solidFill>
                <a:latin typeface="Courier"/>
                <a:cs typeface="Courier"/>
              </a:rPr>
              <a:t>r</a:t>
            </a:r>
            <a:r>
              <a:rPr lang="en-US" dirty="0" err="1" smtClean="0">
                <a:solidFill>
                  <a:srgbClr val="FFFFFF"/>
                </a:solidFill>
                <a:latin typeface="Courier"/>
                <a:cs typeface="Courier"/>
              </a:rPr>
              <a:t>._id</a:t>
            </a:r>
            <a:r>
              <a:rPr lang="en-US" dirty="0">
                <a:solidFill>
                  <a:srgbClr val="FFFFFF"/>
                </a:solidFill>
                <a:latin typeface="Courier"/>
                <a:cs typeface="Courier"/>
              </a:rPr>
              <a:t>; });</a:t>
            </a:r>
          </a:p>
          <a:p>
            <a:pPr marL="0" indent="0">
              <a:lnSpc>
                <a:spcPct val="100000"/>
              </a:lnSpc>
              <a:spcBef>
                <a:spcPts val="72"/>
              </a:spcBef>
              <a:buNone/>
            </a:pPr>
            <a:r>
              <a:rPr lang="en-US" dirty="0" smtClean="0">
                <a:solidFill>
                  <a:srgbClr val="FFFFFF"/>
                </a:solidFill>
                <a:latin typeface="Courier"/>
                <a:cs typeface="Courier"/>
              </a:rPr>
              <a:t>&gt; authors </a:t>
            </a:r>
            <a:r>
              <a:rPr lang="en-US" dirty="0">
                <a:solidFill>
                  <a:srgbClr val="FFFFFF"/>
                </a:solidFill>
                <a:latin typeface="Courier"/>
                <a:cs typeface="Courier"/>
              </a:rPr>
              <a:t>= </a:t>
            </a:r>
            <a:r>
              <a:rPr lang="en-US" dirty="0" err="1">
                <a:solidFill>
                  <a:srgbClr val="FFFFFF"/>
                </a:solidFill>
                <a:latin typeface="Courier"/>
                <a:cs typeface="Courier"/>
              </a:rPr>
              <a:t>db.authors.find</a:t>
            </a:r>
            <a:r>
              <a:rPr lang="en-US" dirty="0">
                <a:solidFill>
                  <a:srgbClr val="FFFFFF"/>
                </a:solidFill>
                <a:latin typeface="Courier"/>
                <a:cs typeface="Courier"/>
              </a:rPr>
              <a:t>({ _id : { $in : </a:t>
            </a:r>
            <a:r>
              <a:rPr lang="en-US" dirty="0" smtClean="0">
                <a:solidFill>
                  <a:srgbClr val="FFFFFF"/>
                </a:solidFill>
                <a:latin typeface="Courier"/>
                <a:cs typeface="Courier"/>
              </a:rPr>
              <a:t>a2}}</a:t>
            </a:r>
            <a:r>
              <a:rPr lang="en-US" dirty="0">
                <a:solidFill>
                  <a:srgbClr val="FFFFFF"/>
                </a:solidFill>
                <a:latin typeface="Courier"/>
                <a:cs typeface="Courier"/>
              </a:rPr>
              <a:t>)</a:t>
            </a:r>
          </a:p>
          <a:p>
            <a:pPr>
              <a:lnSpc>
                <a:spcPct val="100000"/>
              </a:lnSpc>
              <a:spcBef>
                <a:spcPts val="72"/>
              </a:spcBef>
              <a:buFont typeface="Wingdings" charset="0"/>
              <a:buChar char="Ø"/>
            </a:pPr>
            <a:endParaRPr lang="en-US" dirty="0">
              <a:solidFill>
                <a:srgbClr val="FFFFFF"/>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{_id:</a:t>
            </a:r>
            <a:r>
              <a:rPr lang="en-US" dirty="0" smtClean="0">
                <a:solidFill>
                  <a:srgbClr val="FF6600"/>
                </a:solidFill>
                <a:latin typeface="Courier"/>
                <a:cs typeface="Courier"/>
              </a:rPr>
              <a:t>”X12”</a:t>
            </a:r>
            <a:r>
              <a:rPr lang="en-US" dirty="0" smtClean="0">
                <a:solidFill>
                  <a:srgbClr val="FFFFFF"/>
                </a:solidFill>
                <a:latin typeface="Courier"/>
                <a:cs typeface="Courier"/>
              </a:rPr>
              <a:t>,name:{first:</a:t>
            </a:r>
            <a:r>
              <a:rPr lang="en-US" dirty="0" smtClean="0">
                <a:solidFill>
                  <a:srgbClr val="F7D58F"/>
                </a:solidFill>
                <a:latin typeface="Courier"/>
                <a:cs typeface="Courier"/>
              </a:rPr>
              <a:t>"Kristina”,</a:t>
            </a:r>
            <a:r>
              <a:rPr lang="en-US" dirty="0" smtClean="0">
                <a:solidFill>
                  <a:srgbClr val="FFFFFF"/>
                </a:solidFill>
                <a:latin typeface="Courier"/>
                <a:cs typeface="Courier"/>
              </a:rPr>
              <a:t>last:</a:t>
            </a:r>
            <a:r>
              <a:rPr lang="en-US" dirty="0" smtClean="0">
                <a:solidFill>
                  <a:srgbClr val="F7D58F"/>
                </a:solidFill>
                <a:latin typeface="Courier"/>
                <a:cs typeface="Courier"/>
              </a:rPr>
              <a:t>”</a:t>
            </a:r>
            <a:r>
              <a:rPr lang="en-US" dirty="0" err="1" smtClean="0">
                <a:solidFill>
                  <a:srgbClr val="F7D58F"/>
                </a:solidFill>
                <a:latin typeface="Courier"/>
                <a:cs typeface="Courier"/>
              </a:rPr>
              <a:t>Chodorow</a:t>
            </a:r>
            <a:r>
              <a:rPr lang="en-US" dirty="0" smtClean="0">
                <a:solidFill>
                  <a:srgbClr val="F7D58F"/>
                </a:solidFill>
                <a:latin typeface="Courier"/>
                <a:cs typeface="Courier"/>
              </a:rPr>
              <a:t>”}</a:t>
            </a:r>
            <a:r>
              <a:rPr lang="en-US" dirty="0" smtClean="0">
                <a:solidFill>
                  <a:srgbClr val="FFFFFF"/>
                </a:solidFill>
                <a:latin typeface="Courier"/>
                <a:cs typeface="Courier"/>
              </a:rPr>
              <a:t>,hometown</a:t>
            </a:r>
            <a:r>
              <a:rPr lang="en-US" dirty="0">
                <a:solidFill>
                  <a:srgbClr val="FFFFFF"/>
                </a:solidFill>
                <a:latin typeface="Courier"/>
                <a:cs typeface="Courier"/>
              </a:rPr>
              <a:t>: … }</a:t>
            </a:r>
          </a:p>
          <a:p>
            <a:pPr marL="0" indent="0">
              <a:lnSpc>
                <a:spcPct val="100000"/>
              </a:lnSpc>
              <a:spcBef>
                <a:spcPts val="72"/>
              </a:spcBef>
              <a:buNone/>
            </a:pPr>
            <a:r>
              <a:rPr lang="en-US" dirty="0" smtClean="0">
                <a:solidFill>
                  <a:srgbClr val="FFFFFF"/>
                </a:solidFill>
                <a:latin typeface="Courier"/>
                <a:cs typeface="Courier"/>
              </a:rPr>
              <a:t>{_id:</a:t>
            </a:r>
            <a:r>
              <a:rPr lang="en-US" dirty="0" smtClean="0">
                <a:solidFill>
                  <a:srgbClr val="FF6600"/>
                </a:solidFill>
                <a:latin typeface="Courier"/>
                <a:cs typeface="Courier"/>
              </a:rPr>
              <a:t>“Y45”</a:t>
            </a:r>
            <a:r>
              <a:rPr lang="en-US" dirty="0" smtClean="0">
                <a:solidFill>
                  <a:srgbClr val="FFFFFF"/>
                </a:solidFill>
                <a:latin typeface="Courier"/>
                <a:cs typeface="Courier"/>
              </a:rPr>
              <a:t>,name:{</a:t>
            </a:r>
            <a:r>
              <a:rPr lang="en-US" dirty="0">
                <a:solidFill>
                  <a:srgbClr val="FFFFFF"/>
                </a:solidFill>
                <a:latin typeface="Courier"/>
                <a:cs typeface="Courier"/>
              </a:rPr>
              <a:t>first</a:t>
            </a:r>
            <a:r>
              <a:rPr lang="en-US" dirty="0" smtClean="0">
                <a:solidFill>
                  <a:srgbClr val="FFFFFF"/>
                </a:solidFill>
                <a:latin typeface="Courier"/>
                <a:cs typeface="Courier"/>
              </a:rPr>
              <a:t>:</a:t>
            </a:r>
            <a:r>
              <a:rPr lang="en-US" dirty="0" smtClean="0">
                <a:solidFill>
                  <a:srgbClr val="F7D58F"/>
                </a:solidFill>
                <a:latin typeface="Courier"/>
                <a:cs typeface="Courier"/>
              </a:rPr>
              <a:t>”Mike”</a:t>
            </a:r>
            <a:r>
              <a:rPr lang="en-US" dirty="0">
                <a:solidFill>
                  <a:srgbClr val="F7D58F"/>
                </a:solidFill>
                <a:latin typeface="Courier"/>
                <a:cs typeface="Courier"/>
              </a:rPr>
              <a:t>,</a:t>
            </a:r>
            <a:r>
              <a:rPr lang="en-US" dirty="0">
                <a:solidFill>
                  <a:srgbClr val="FFFFFF"/>
                </a:solidFill>
                <a:latin typeface="Courier"/>
                <a:cs typeface="Courier"/>
              </a:rPr>
              <a:t>last:</a:t>
            </a:r>
            <a:r>
              <a:rPr lang="en-US" dirty="0" smtClean="0">
                <a:solidFill>
                  <a:srgbClr val="F7D58F"/>
                </a:solidFill>
                <a:latin typeface="Courier"/>
                <a:cs typeface="Courier"/>
              </a:rPr>
              <a:t>”</a:t>
            </a:r>
            <a:r>
              <a:rPr lang="en-US" dirty="0" err="1" smtClean="0">
                <a:solidFill>
                  <a:srgbClr val="F7D58F"/>
                </a:solidFill>
                <a:latin typeface="Courier"/>
                <a:cs typeface="Courier"/>
              </a:rPr>
              <a:t>Dirolf</a:t>
            </a:r>
            <a:r>
              <a:rPr lang="en-US" dirty="0" smtClean="0">
                <a:solidFill>
                  <a:srgbClr val="F7D58F"/>
                </a:solidFill>
                <a:latin typeface="Courier"/>
                <a:cs typeface="Courier"/>
              </a:rPr>
              <a:t>”</a:t>
            </a:r>
            <a:r>
              <a:rPr lang="en-US" dirty="0">
                <a:solidFill>
                  <a:srgbClr val="F7D58F"/>
                </a:solidFill>
                <a:latin typeface="Courier"/>
                <a:cs typeface="Courier"/>
              </a:rPr>
              <a:t>}</a:t>
            </a:r>
            <a:r>
              <a:rPr lang="en-US" dirty="0">
                <a:solidFill>
                  <a:srgbClr val="FFFFFF"/>
                </a:solidFill>
                <a:latin typeface="Courier"/>
                <a:cs typeface="Courier"/>
              </a:rPr>
              <a:t>, hometown: … }</a:t>
            </a:r>
          </a:p>
          <a:p>
            <a:pPr marL="0" indent="0">
              <a:lnSpc>
                <a:spcPct val="100000"/>
              </a:lnSpc>
              <a:spcBef>
                <a:spcPts val="72"/>
              </a:spcBef>
              <a:buNone/>
            </a:pPr>
            <a:endParaRPr lang="en-US" dirty="0">
              <a:latin typeface="Courier"/>
              <a:cs typeface="Courier"/>
            </a:endParaRPr>
          </a:p>
        </p:txBody>
      </p:sp>
    </p:spTree>
    <p:extLst>
      <p:ext uri="{BB962C8B-B14F-4D97-AF65-F5344CB8AC3E}">
        <p14:creationId xmlns:p14="http://schemas.microsoft.com/office/powerpoint/2010/main" val="2306738657"/>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57200" y="274638"/>
            <a:ext cx="8229600" cy="6178302"/>
          </a:xfrm>
          <a:prstGeom prst="rect">
            <a:avLst/>
          </a:prstGeom>
        </p:spPr>
        <p:txBody>
          <a:bodyPr anchor="ctr">
            <a:normAutofit/>
          </a:bodyPr>
          <a:lstStyle>
            <a:lvl1pPr algn="ctr" defTabSz="457200" rtl="0" eaLnBrk="1" latinLnBrk="0" hangingPunct="1">
              <a:spcBef>
                <a:spcPct val="0"/>
              </a:spcBef>
              <a:buNone/>
              <a:defRPr sz="3600" b="1" kern="1200" spc="-150">
                <a:solidFill>
                  <a:srgbClr val="242423"/>
                </a:solidFill>
                <a:latin typeface="Arial"/>
                <a:ea typeface="+mj-ea"/>
                <a:cs typeface="Arial"/>
              </a:defRPr>
            </a:lvl1pPr>
          </a:lstStyle>
          <a:p>
            <a:pPr algn="l"/>
            <a:r>
              <a:rPr lang="en-US" sz="4400" dirty="0" smtClean="0"/>
              <a:t>Question:</a:t>
            </a:r>
          </a:p>
          <a:p>
            <a:pPr algn="l"/>
            <a:r>
              <a:rPr lang="en-US" sz="4400" dirty="0" smtClean="0">
                <a:solidFill>
                  <a:srgbClr val="5B972B"/>
                </a:solidFill>
              </a:rPr>
              <a:t>What are all the books an author has written?</a:t>
            </a:r>
            <a:endParaRPr lang="en-US" sz="4400" dirty="0">
              <a:solidFill>
                <a:srgbClr val="5B972B"/>
              </a:solidFill>
            </a:endParaRPr>
          </a:p>
        </p:txBody>
      </p:sp>
    </p:spTree>
    <p:extLst>
      <p:ext uri="{BB962C8B-B14F-4D97-AF65-F5344CB8AC3E}">
        <p14:creationId xmlns:p14="http://schemas.microsoft.com/office/powerpoint/2010/main" val="1631912174"/>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spcBef>
                <a:spcPts val="72"/>
              </a:spcBef>
              <a:buNone/>
            </a:pPr>
            <a:r>
              <a:rPr lang="en-US" dirty="0">
                <a:solidFill>
                  <a:srgbClr val="FFFFFF"/>
                </a:solidFill>
                <a:latin typeface="Courier"/>
                <a:cs typeface="Courier"/>
              </a:rPr>
              <a:t>&gt; </a:t>
            </a:r>
            <a:r>
              <a:rPr lang="en-US" dirty="0" err="1" smtClean="0">
                <a:solidFill>
                  <a:srgbClr val="FFFFFF"/>
                </a:solidFill>
                <a:latin typeface="Courier"/>
                <a:cs typeface="Courier"/>
              </a:rPr>
              <a:t>db.authors.find</a:t>
            </a:r>
            <a:r>
              <a:rPr lang="en-US" dirty="0">
                <a:solidFill>
                  <a:srgbClr val="FFFFFF"/>
                </a:solidFill>
                <a:latin typeface="Courier"/>
                <a:cs typeface="Courier"/>
              </a:rPr>
              <a:t>({ _id : </a:t>
            </a:r>
            <a:r>
              <a:rPr lang="en-US" dirty="0" smtClean="0">
                <a:solidFill>
                  <a:schemeClr val="accent2"/>
                </a:solidFill>
                <a:latin typeface="Courier"/>
                <a:cs typeface="Courier"/>
              </a:rPr>
              <a:t>“X12”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a:t>
            </a:r>
          </a:p>
          <a:p>
            <a:pPr marL="0" indent="0">
              <a:lnSpc>
                <a:spcPct val="100000"/>
              </a:lnSpc>
              <a:spcBef>
                <a:spcPts val="72"/>
              </a:spcBef>
              <a:buNone/>
            </a:pPr>
            <a:r>
              <a:rPr lang="en-US" dirty="0">
                <a:solidFill>
                  <a:srgbClr val="FFFFFF"/>
                </a:solidFill>
                <a:latin typeface="Courier"/>
                <a:cs typeface="Courier"/>
              </a:rPr>
              <a:t>    _id:</a:t>
            </a:r>
            <a:r>
              <a:rPr lang="en-US" dirty="0">
                <a:latin typeface="Courier"/>
                <a:cs typeface="Courier"/>
              </a:rPr>
              <a:t> </a:t>
            </a:r>
            <a:r>
              <a:rPr lang="en-US" dirty="0" smtClean="0">
                <a:solidFill>
                  <a:srgbClr val="8EB85E"/>
                </a:solidFill>
                <a:latin typeface="Courier"/>
                <a:cs typeface="Courier"/>
              </a:rPr>
              <a:t>”X12"</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a:t>
            </a:r>
            <a:r>
              <a:rPr lang="en-US" dirty="0" smtClean="0">
                <a:solidFill>
                  <a:srgbClr val="FFFFFF"/>
                </a:solidFill>
                <a:latin typeface="Courier"/>
                <a:cs typeface="Courier"/>
              </a:rPr>
              <a:t>name: { first: </a:t>
            </a:r>
            <a:r>
              <a:rPr lang="en-US" dirty="0" smtClean="0">
                <a:solidFill>
                  <a:srgbClr val="F7D58F"/>
                </a:solidFill>
                <a:latin typeface="Courier"/>
                <a:cs typeface="Courier"/>
              </a:rPr>
              <a:t>"Kristina”, </a:t>
            </a:r>
            <a:r>
              <a:rPr lang="en-US" dirty="0" smtClean="0">
                <a:solidFill>
                  <a:srgbClr val="FFFFFF"/>
                </a:solidFill>
                <a:latin typeface="Courier"/>
                <a:cs typeface="Courier"/>
              </a:rPr>
              <a:t>last: </a:t>
            </a:r>
            <a:r>
              <a:rPr lang="en-US" dirty="0" smtClean="0">
                <a:solidFill>
                  <a:srgbClr val="F7D58F"/>
                </a:solidFill>
                <a:latin typeface="Courier"/>
                <a:cs typeface="Courier"/>
              </a:rPr>
              <a:t>“</a:t>
            </a:r>
            <a:r>
              <a:rPr lang="en-US" dirty="0" err="1" smtClean="0">
                <a:solidFill>
                  <a:srgbClr val="F7D58F"/>
                </a:solidFill>
                <a:latin typeface="Courier"/>
                <a:cs typeface="Courier"/>
              </a:rPr>
              <a:t>Chodorow</a:t>
            </a:r>
            <a:r>
              <a:rPr lang="en-US" dirty="0" smtClean="0">
                <a:solidFill>
                  <a:srgbClr val="F7D58F"/>
                </a:solidFill>
                <a:latin typeface="Courier"/>
                <a:cs typeface="Courier"/>
              </a:rPr>
              <a:t>”</a:t>
            </a:r>
            <a:r>
              <a:rPr lang="en-US" dirty="0">
                <a:solidFill>
                  <a:srgbClr val="F7D58F"/>
                </a:solidFill>
                <a:latin typeface="Courier"/>
                <a:cs typeface="Courier"/>
              </a:rPr>
              <a:t> </a:t>
            </a:r>
            <a:r>
              <a:rPr lang="en-US" dirty="0" smtClean="0">
                <a:solidFill>
                  <a:srgbClr val="FFFFFF"/>
                </a:solidFill>
                <a:latin typeface="Courier"/>
                <a:cs typeface="Courier"/>
              </a:rPr>
              <a:t>}</a:t>
            </a:r>
            <a:r>
              <a:rPr lang="en-US" dirty="0" smtClean="0">
                <a:solidFill>
                  <a:srgbClr val="F7D58F"/>
                </a:solidFill>
                <a:latin typeface="Courier"/>
                <a:cs typeface="Courier"/>
              </a:rPr>
              <a:t> </a:t>
            </a: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lnSpc>
                <a:spcPct val="100000"/>
              </a:lnSpc>
              <a:spcBef>
                <a:spcPts val="72"/>
              </a:spcBef>
              <a:buNone/>
            </a:pPr>
            <a:r>
              <a:rPr lang="en-US" dirty="0">
                <a:solidFill>
                  <a:srgbClr val="FFFFFF"/>
                </a:solidFill>
                <a:latin typeface="Courier"/>
                <a:cs typeface="Courier"/>
              </a:rPr>
              <a:t>    hometown:</a:t>
            </a:r>
            <a:r>
              <a:rPr lang="en-US" dirty="0">
                <a:latin typeface="Courier"/>
                <a:cs typeface="Courier"/>
              </a:rPr>
              <a:t> </a:t>
            </a:r>
            <a:r>
              <a:rPr lang="en-US" dirty="0">
                <a:solidFill>
                  <a:srgbClr val="F7D58F"/>
                </a:solidFill>
                <a:latin typeface="Courier"/>
                <a:cs typeface="Courier"/>
              </a:rPr>
              <a:t>"Cincinnati"</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books: [ {id: </a:t>
            </a:r>
            <a:r>
              <a:rPr lang="en-US" dirty="0">
                <a:solidFill>
                  <a:srgbClr val="EE9C00"/>
                </a:solidFill>
                <a:latin typeface="Courier"/>
                <a:cs typeface="Courier"/>
              </a:rPr>
              <a:t>“123”</a:t>
            </a:r>
            <a:r>
              <a:rPr lang="en-US" dirty="0">
                <a:solidFill>
                  <a:srgbClr val="FFFFFF"/>
                </a:solidFill>
                <a:latin typeface="Courier"/>
                <a:cs typeface="Courier"/>
              </a:rPr>
              <a:t>, title : </a:t>
            </a:r>
            <a:r>
              <a:rPr lang="en-US" dirty="0">
                <a:solidFill>
                  <a:srgbClr val="F7D58F"/>
                </a:solidFill>
                <a:latin typeface="Courier"/>
                <a:cs typeface="Courier"/>
              </a:rPr>
              <a:t>"MongoDB: The Definitive Guide“ </a:t>
            </a:r>
            <a:r>
              <a:rPr lang="en-US" dirty="0">
                <a:solidFill>
                  <a:srgbClr val="FFFFFF"/>
                </a:solidFill>
                <a:latin typeface="Courier"/>
                <a:cs typeface="Courier"/>
              </a:rPr>
              <a:t>} ]</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buNone/>
            </a:pPr>
            <a:r>
              <a:rPr lang="en-US" dirty="0" smtClean="0">
                <a:solidFill>
                  <a:srgbClr val="FFFFFF"/>
                </a:solidFill>
                <a:latin typeface="Courier"/>
                <a:cs typeface="Courier"/>
              </a:rPr>
              <a:t>&gt; </a:t>
            </a:r>
            <a:r>
              <a:rPr lang="en-US" dirty="0" err="1" smtClean="0">
                <a:solidFill>
                  <a:srgbClr val="FFFFFF"/>
                </a:solidFill>
                <a:latin typeface="Courier"/>
                <a:cs typeface="Courier"/>
              </a:rPr>
              <a:t>db.books.find</a:t>
            </a:r>
            <a:r>
              <a:rPr lang="en-US" dirty="0">
                <a:solidFill>
                  <a:srgbClr val="FFFFFF"/>
                </a:solidFill>
                <a:latin typeface="Courier"/>
                <a:cs typeface="Courier"/>
              </a:rPr>
              <a:t>({ _id :</a:t>
            </a:r>
            <a:r>
              <a:rPr lang="en-US" dirty="0">
                <a:latin typeface="Courier"/>
                <a:cs typeface="Courier"/>
              </a:rPr>
              <a:t> </a:t>
            </a:r>
            <a:r>
              <a:rPr lang="en-US" dirty="0">
                <a:solidFill>
                  <a:schemeClr val="accent2"/>
                </a:solidFill>
                <a:latin typeface="Courier"/>
                <a:cs typeface="Courier"/>
              </a:rPr>
              <a:t>“123”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_id: </a:t>
            </a:r>
            <a:r>
              <a:rPr lang="en-US" dirty="0">
                <a:solidFill>
                  <a:srgbClr val="8EB85E"/>
                </a:solidFill>
                <a:latin typeface="Courier"/>
                <a:cs typeface="Courier"/>
              </a:rPr>
              <a:t>“123”</a:t>
            </a:r>
            <a:r>
              <a:rPr lang="en-US" dirty="0">
                <a:solidFill>
                  <a:srgbClr val="F7D58F"/>
                </a:solidFill>
                <a:latin typeface="Courier"/>
                <a:cs typeface="Courier"/>
              </a:rPr>
              <a:t>,</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title:</a:t>
            </a:r>
            <a:r>
              <a:rPr lang="en-US" dirty="0">
                <a:latin typeface="Courier"/>
                <a:cs typeface="Courier"/>
              </a:rPr>
              <a:t> </a:t>
            </a:r>
            <a:r>
              <a:rPr lang="en-US" dirty="0">
                <a:solidFill>
                  <a:srgbClr val="F7D58F"/>
                </a:solidFill>
                <a:latin typeface="Courier"/>
                <a:cs typeface="Courier"/>
              </a:rPr>
              <a:t>"</a:t>
            </a:r>
            <a:r>
              <a:rPr lang="en-US" dirty="0" err="1">
                <a:solidFill>
                  <a:srgbClr val="F7D58F"/>
                </a:solidFill>
                <a:latin typeface="Courier"/>
                <a:cs typeface="Courier"/>
              </a:rPr>
              <a:t>MongoDB</a:t>
            </a:r>
            <a:r>
              <a:rPr lang="en-US" dirty="0">
                <a:solidFill>
                  <a:srgbClr val="F7D58F"/>
                </a:solidFill>
                <a:latin typeface="Courier"/>
                <a:cs typeface="Courier"/>
              </a:rPr>
              <a:t>: The Definitive Guide"</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a:t>
            </a:r>
          </a:p>
          <a:p>
            <a:pPr marL="0" indent="0">
              <a:lnSpc>
                <a:spcPct val="100000"/>
              </a:lnSpc>
              <a:spcBef>
                <a:spcPts val="72"/>
              </a:spcBef>
              <a:buNone/>
            </a:pPr>
            <a:r>
              <a:rPr lang="en-US" dirty="0">
                <a:solidFill>
                  <a:srgbClr val="FFFFFF"/>
                </a:solidFill>
                <a:latin typeface="Courier"/>
                <a:cs typeface="Courier"/>
              </a:rPr>
              <a:t>    authors: [</a:t>
            </a:r>
          </a:p>
          <a:p>
            <a:pPr marL="0" indent="0">
              <a:lnSpc>
                <a:spcPct val="100000"/>
              </a:lnSpc>
              <a:spcBef>
                <a:spcPts val="72"/>
              </a:spcBef>
              <a:buNone/>
            </a:pPr>
            <a:r>
              <a:rPr lang="en-US" dirty="0">
                <a:solidFill>
                  <a:srgbClr val="FFFFFF"/>
                </a:solidFill>
                <a:latin typeface="Courier"/>
                <a:cs typeface="Courier"/>
              </a:rPr>
              <a:t>        { _id: “X12”, first: </a:t>
            </a:r>
            <a:r>
              <a:rPr lang="en-US" dirty="0">
                <a:solidFill>
                  <a:srgbClr val="F7D58F"/>
                </a:solidFill>
                <a:latin typeface="Courier"/>
                <a:cs typeface="Courier"/>
              </a:rPr>
              <a:t>"Kristina”, </a:t>
            </a:r>
            <a:r>
              <a:rPr lang="en-US" dirty="0">
                <a:solidFill>
                  <a:srgbClr val="FFFFFF"/>
                </a:solidFill>
                <a:latin typeface="Courier"/>
                <a:cs typeface="Courier"/>
              </a:rPr>
              <a:t>last: </a:t>
            </a:r>
            <a:r>
              <a:rPr lang="en-US" dirty="0">
                <a:solidFill>
                  <a:srgbClr val="F7D58F"/>
                </a:solidFill>
                <a:latin typeface="Courier"/>
                <a:cs typeface="Courier"/>
              </a:rPr>
              <a:t>“</a:t>
            </a:r>
            <a:r>
              <a:rPr lang="en-US" dirty="0" err="1">
                <a:solidFill>
                  <a:srgbClr val="F7D58F"/>
                </a:solidFill>
                <a:latin typeface="Courier"/>
                <a:cs typeface="Courier"/>
              </a:rPr>
              <a:t>Chodorow</a:t>
            </a:r>
            <a:r>
              <a:rPr lang="en-US" dirty="0">
                <a:solidFill>
                  <a:srgbClr val="F7D58F"/>
                </a:solidFill>
                <a:latin typeface="Courier"/>
                <a:cs typeface="Courier"/>
              </a:rPr>
              <a:t>”</a:t>
            </a:r>
            <a:r>
              <a:rPr lang="en-US" dirty="0">
                <a:solidFill>
                  <a:srgbClr val="FFFFFF"/>
                </a:solidFill>
                <a:latin typeface="Courier"/>
                <a:cs typeface="Courier"/>
              </a:rPr>
              <a:t> },</a:t>
            </a:r>
          </a:p>
          <a:p>
            <a:pPr marL="0" indent="0">
              <a:lnSpc>
                <a:spcPct val="100000"/>
              </a:lnSpc>
              <a:spcBef>
                <a:spcPts val="72"/>
              </a:spcBef>
              <a:buNone/>
            </a:pPr>
            <a:r>
              <a:rPr lang="en-US" dirty="0">
                <a:solidFill>
                  <a:srgbClr val="FFFFFF"/>
                </a:solidFill>
                <a:latin typeface="Courier"/>
                <a:cs typeface="Courier"/>
              </a:rPr>
              <a:t>        { _id: “Y45”, first: </a:t>
            </a:r>
            <a:r>
              <a:rPr lang="en-US" dirty="0">
                <a:solidFill>
                  <a:srgbClr val="F7D58F"/>
                </a:solidFill>
                <a:latin typeface="Courier"/>
                <a:cs typeface="Courier"/>
              </a:rPr>
              <a:t>”Mike”, </a:t>
            </a:r>
            <a:r>
              <a:rPr lang="en-US" dirty="0">
                <a:solidFill>
                  <a:srgbClr val="FFFFFF"/>
                </a:solidFill>
                <a:latin typeface="Courier"/>
                <a:cs typeface="Courier"/>
              </a:rPr>
              <a:t>last: </a:t>
            </a:r>
            <a:r>
              <a:rPr lang="en-US" dirty="0">
                <a:solidFill>
                  <a:srgbClr val="F7D58F"/>
                </a:solidFill>
                <a:latin typeface="Courier"/>
                <a:cs typeface="Courier"/>
              </a:rPr>
              <a:t>“</a:t>
            </a:r>
            <a:r>
              <a:rPr lang="en-US" dirty="0" err="1">
                <a:solidFill>
                  <a:srgbClr val="F7D58F"/>
                </a:solidFill>
                <a:latin typeface="Courier"/>
                <a:cs typeface="Courier"/>
              </a:rPr>
              <a:t>Dirolf</a:t>
            </a:r>
            <a:r>
              <a:rPr lang="en-US" dirty="0">
                <a:solidFill>
                  <a:srgbClr val="F7D58F"/>
                </a:solidFill>
                <a:latin typeface="Courier"/>
                <a:cs typeface="Courier"/>
              </a:rPr>
              <a:t>”</a:t>
            </a:r>
            <a:r>
              <a:rPr lang="en-US" dirty="0">
                <a:solidFill>
                  <a:srgbClr val="FFFFFF"/>
                </a:solidFill>
                <a:latin typeface="Courier"/>
                <a:cs typeface="Courier"/>
              </a:rPr>
              <a:t> }</a:t>
            </a:r>
            <a:endParaRPr lang="en-US" dirty="0">
              <a:latin typeface="Courier"/>
              <a:cs typeface="Courier"/>
            </a:endParaRPr>
          </a:p>
          <a:p>
            <a:pPr marL="0" indent="0">
              <a:lnSpc>
                <a:spcPct val="100000"/>
              </a:lnSpc>
              <a:spcBef>
                <a:spcPts val="72"/>
              </a:spcBef>
              <a:buNone/>
            </a:pPr>
            <a:r>
              <a:rPr lang="en-US" dirty="0">
                <a:solidFill>
                  <a:srgbClr val="F7D58F"/>
                </a:solidFill>
                <a:latin typeface="Courier"/>
                <a:cs typeface="Courier"/>
              </a:rPr>
              <a:t>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p:txBody>
      </p:sp>
      <p:sp>
        <p:nvSpPr>
          <p:cNvPr id="3" name="Title 2"/>
          <p:cNvSpPr>
            <a:spLocks noGrp="1"/>
          </p:cNvSpPr>
          <p:nvPr>
            <p:ph type="title"/>
          </p:nvPr>
        </p:nvSpPr>
        <p:spPr/>
        <p:txBody>
          <a:bodyPr/>
          <a:lstStyle/>
          <a:p>
            <a:r>
              <a:rPr lang="en-US" dirty="0" smtClean="0"/>
              <a:t>Double Link Books and Authors</a:t>
            </a:r>
            <a:endParaRPr lang="en-US" dirty="0"/>
          </a:p>
        </p:txBody>
      </p:sp>
    </p:spTree>
    <p:extLst>
      <p:ext uri="{BB962C8B-B14F-4D97-AF65-F5344CB8AC3E}">
        <p14:creationId xmlns:p14="http://schemas.microsoft.com/office/powerpoint/2010/main" val="2241345265"/>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en-US" dirty="0">
                <a:solidFill>
                  <a:srgbClr val="FFFFFF"/>
                </a:solidFill>
                <a:latin typeface="Courier"/>
                <a:cs typeface="Courier"/>
              </a:rPr>
              <a:t>&gt; </a:t>
            </a:r>
            <a:r>
              <a:rPr lang="en-US" dirty="0" err="1" smtClean="0">
                <a:solidFill>
                  <a:srgbClr val="FFFFFF"/>
                </a:solidFill>
                <a:latin typeface="Courier"/>
                <a:cs typeface="Courier"/>
              </a:rPr>
              <a:t>db.books.find</a:t>
            </a:r>
            <a:r>
              <a:rPr lang="en-US" dirty="0">
                <a:solidFill>
                  <a:srgbClr val="FFFFFF"/>
                </a:solidFill>
                <a:latin typeface="Courier"/>
                <a:cs typeface="Courier"/>
              </a:rPr>
              <a:t>({ _id :</a:t>
            </a:r>
            <a:r>
              <a:rPr lang="en-US" dirty="0">
                <a:latin typeface="Courier"/>
                <a:cs typeface="Courier"/>
              </a:rPr>
              <a:t> </a:t>
            </a:r>
            <a:r>
              <a:rPr lang="en-US" dirty="0">
                <a:solidFill>
                  <a:schemeClr val="accent2"/>
                </a:solidFill>
                <a:latin typeface="Courier"/>
                <a:cs typeface="Courier"/>
              </a:rPr>
              <a:t>“123”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smtClean="0">
                <a:solidFill>
                  <a:srgbClr val="FFFFFF"/>
                </a:solidFill>
                <a:latin typeface="Courier"/>
                <a:cs typeface="Courier"/>
              </a:rPr>
              <a:t>    authors</a:t>
            </a:r>
            <a:r>
              <a:rPr lang="en-US" dirty="0">
                <a:solidFill>
                  <a:srgbClr val="FFFFFF"/>
                </a:solidFill>
                <a:latin typeface="Courier"/>
                <a:cs typeface="Courier"/>
              </a:rPr>
              <a:t>: [</a:t>
            </a:r>
          </a:p>
          <a:p>
            <a:pPr marL="0" indent="0">
              <a:lnSpc>
                <a:spcPct val="100000"/>
              </a:lnSpc>
              <a:spcBef>
                <a:spcPts val="72"/>
              </a:spcBef>
              <a:buNone/>
            </a:pPr>
            <a:r>
              <a:rPr lang="en-US" dirty="0">
                <a:solidFill>
                  <a:srgbClr val="FFFFFF"/>
                </a:solidFill>
                <a:latin typeface="Courier"/>
                <a:cs typeface="Courier"/>
              </a:rPr>
              <a:t>        { _id: “X12”, first: </a:t>
            </a:r>
            <a:r>
              <a:rPr lang="en-US" dirty="0">
                <a:solidFill>
                  <a:srgbClr val="F7D58F"/>
                </a:solidFill>
                <a:latin typeface="Courier"/>
                <a:cs typeface="Courier"/>
              </a:rPr>
              <a:t>"Kristina”, </a:t>
            </a:r>
            <a:r>
              <a:rPr lang="en-US" dirty="0">
                <a:solidFill>
                  <a:srgbClr val="FFFFFF"/>
                </a:solidFill>
                <a:latin typeface="Courier"/>
                <a:cs typeface="Courier"/>
              </a:rPr>
              <a:t>last: </a:t>
            </a:r>
            <a:r>
              <a:rPr lang="en-US" dirty="0">
                <a:solidFill>
                  <a:srgbClr val="F7D58F"/>
                </a:solidFill>
                <a:latin typeface="Courier"/>
                <a:cs typeface="Courier"/>
              </a:rPr>
              <a:t>“</a:t>
            </a:r>
            <a:r>
              <a:rPr lang="en-US" dirty="0" err="1">
                <a:solidFill>
                  <a:srgbClr val="F7D58F"/>
                </a:solidFill>
                <a:latin typeface="Courier"/>
                <a:cs typeface="Courier"/>
              </a:rPr>
              <a:t>Chodorow</a:t>
            </a:r>
            <a:r>
              <a:rPr lang="en-US" dirty="0">
                <a:solidFill>
                  <a:srgbClr val="F7D58F"/>
                </a:solidFill>
                <a:latin typeface="Courier"/>
                <a:cs typeface="Courier"/>
              </a:rPr>
              <a:t>”</a:t>
            </a:r>
            <a:r>
              <a:rPr lang="en-US" dirty="0">
                <a:solidFill>
                  <a:srgbClr val="FFFFFF"/>
                </a:solidFill>
                <a:latin typeface="Courier"/>
                <a:cs typeface="Courier"/>
              </a:rPr>
              <a:t> },</a:t>
            </a:r>
          </a:p>
          <a:p>
            <a:pPr marL="0" indent="0">
              <a:lnSpc>
                <a:spcPct val="100000"/>
              </a:lnSpc>
              <a:spcBef>
                <a:spcPts val="72"/>
              </a:spcBef>
              <a:buNone/>
            </a:pPr>
            <a:r>
              <a:rPr lang="en-US" dirty="0">
                <a:solidFill>
                  <a:srgbClr val="FFFFFF"/>
                </a:solidFill>
                <a:latin typeface="Courier"/>
                <a:cs typeface="Courier"/>
              </a:rPr>
              <a:t>        { _id: “Y45”, first: </a:t>
            </a:r>
            <a:r>
              <a:rPr lang="en-US" dirty="0">
                <a:solidFill>
                  <a:srgbClr val="F7D58F"/>
                </a:solidFill>
                <a:latin typeface="Courier"/>
                <a:cs typeface="Courier"/>
              </a:rPr>
              <a:t>”Mike”, </a:t>
            </a:r>
            <a:r>
              <a:rPr lang="en-US" dirty="0">
                <a:solidFill>
                  <a:srgbClr val="FFFFFF"/>
                </a:solidFill>
                <a:latin typeface="Courier"/>
                <a:cs typeface="Courier"/>
              </a:rPr>
              <a:t>last: </a:t>
            </a:r>
            <a:r>
              <a:rPr lang="en-US" dirty="0">
                <a:solidFill>
                  <a:srgbClr val="F7D58F"/>
                </a:solidFill>
                <a:latin typeface="Courier"/>
                <a:cs typeface="Courier"/>
              </a:rPr>
              <a:t>“</a:t>
            </a:r>
            <a:r>
              <a:rPr lang="en-US" dirty="0" err="1">
                <a:solidFill>
                  <a:srgbClr val="F7D58F"/>
                </a:solidFill>
                <a:latin typeface="Courier"/>
                <a:cs typeface="Courier"/>
              </a:rPr>
              <a:t>Dirolf</a:t>
            </a:r>
            <a:r>
              <a:rPr lang="en-US" dirty="0">
                <a:solidFill>
                  <a:srgbClr val="F7D58F"/>
                </a:solidFill>
                <a:latin typeface="Courier"/>
                <a:cs typeface="Courier"/>
              </a:rPr>
              <a:t>”</a:t>
            </a:r>
            <a:r>
              <a:rPr lang="en-US" dirty="0">
                <a:solidFill>
                  <a:srgbClr val="FFFFFF"/>
                </a:solidFill>
                <a:latin typeface="Courier"/>
                <a:cs typeface="Courier"/>
              </a:rPr>
              <a:t> }</a:t>
            </a:r>
            <a:endParaRPr lang="en-US" dirty="0">
              <a:latin typeface="Courier"/>
              <a:cs typeface="Courier"/>
            </a:endParaRPr>
          </a:p>
          <a:p>
            <a:pPr marL="0" indent="0">
              <a:lnSpc>
                <a:spcPct val="100000"/>
              </a:lnSpc>
              <a:spcBef>
                <a:spcPts val="72"/>
              </a:spcBef>
              <a:buNone/>
            </a:pPr>
            <a:r>
              <a:rPr lang="en-US" dirty="0">
                <a:solidFill>
                  <a:srgbClr val="F7D58F"/>
                </a:solidFill>
                <a:latin typeface="Courier"/>
                <a:cs typeface="Courier"/>
              </a:rPr>
              <a:t>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buNone/>
            </a:pPr>
            <a:endParaRPr lang="en-US" dirty="0" smtClean="0">
              <a:solidFill>
                <a:srgbClr val="FFFFFF"/>
              </a:solidFill>
              <a:latin typeface="Courier"/>
              <a:cs typeface="Courier"/>
            </a:endParaRPr>
          </a:p>
          <a:p>
            <a:pPr marL="0" indent="0">
              <a:buNone/>
            </a:pPr>
            <a:r>
              <a:rPr lang="en-US" dirty="0" smtClean="0">
                <a:solidFill>
                  <a:srgbClr val="FFFFFF"/>
                </a:solidFill>
                <a:latin typeface="Courier"/>
                <a:cs typeface="Courier"/>
              </a:rPr>
              <a:t>&gt; </a:t>
            </a:r>
            <a:r>
              <a:rPr lang="en-US" dirty="0" err="1">
                <a:solidFill>
                  <a:srgbClr val="FFFFFF"/>
                </a:solidFill>
                <a:latin typeface="Courier"/>
                <a:cs typeface="Courier"/>
              </a:rPr>
              <a:t>db.books.ensureIndex</a:t>
            </a:r>
            <a:r>
              <a:rPr lang="en-US" dirty="0">
                <a:solidFill>
                  <a:srgbClr val="FFFFFF"/>
                </a:solidFill>
                <a:latin typeface="Courier"/>
                <a:cs typeface="Courier"/>
              </a:rPr>
              <a:t>({</a:t>
            </a:r>
            <a:r>
              <a:rPr lang="en-US" dirty="0">
                <a:solidFill>
                  <a:srgbClr val="FF6600"/>
                </a:solidFill>
                <a:latin typeface="Courier"/>
                <a:cs typeface="Courier"/>
              </a:rPr>
              <a:t>“</a:t>
            </a:r>
            <a:r>
              <a:rPr lang="en-US" dirty="0" err="1">
                <a:solidFill>
                  <a:srgbClr val="FF6600"/>
                </a:solidFill>
                <a:latin typeface="Courier"/>
                <a:cs typeface="Courier"/>
              </a:rPr>
              <a:t>authors._id</a:t>
            </a:r>
            <a:r>
              <a:rPr lang="en-US" dirty="0">
                <a:solidFill>
                  <a:srgbClr val="FF6600"/>
                </a:solidFill>
                <a:latin typeface="Courier"/>
                <a:cs typeface="Courier"/>
              </a:rPr>
              <a:t>”</a:t>
            </a:r>
            <a:r>
              <a:rPr lang="en-US" dirty="0">
                <a:solidFill>
                  <a:srgbClr val="FFFFFF"/>
                </a:solidFill>
                <a:latin typeface="Courier"/>
                <a:cs typeface="Courier"/>
              </a:rPr>
              <a:t>: </a:t>
            </a:r>
            <a:r>
              <a:rPr lang="en-US" dirty="0" smtClean="0">
                <a:solidFill>
                  <a:srgbClr val="FFFFFF"/>
                </a:solidFill>
                <a:latin typeface="Courier"/>
                <a:cs typeface="Courier"/>
              </a:rPr>
              <a:t>1}</a:t>
            </a:r>
            <a:r>
              <a:rPr lang="en-US" dirty="0">
                <a:solidFill>
                  <a:srgbClr val="FFFFFF"/>
                </a:solidFill>
                <a:latin typeface="Courier"/>
                <a:cs typeface="Courier"/>
              </a:rPr>
              <a:t>);</a:t>
            </a:r>
          </a:p>
          <a:p>
            <a:pPr marL="0" indent="0">
              <a:lnSpc>
                <a:spcPct val="100000"/>
              </a:lnSpc>
              <a:buNone/>
            </a:pPr>
            <a:endParaRPr lang="en-US" dirty="0" smtClean="0">
              <a:solidFill>
                <a:srgbClr val="FFFFFF"/>
              </a:solidFill>
              <a:latin typeface="Courier"/>
              <a:cs typeface="Courier"/>
            </a:endParaRPr>
          </a:p>
          <a:p>
            <a:pPr marL="0" indent="0">
              <a:lnSpc>
                <a:spcPct val="100000"/>
              </a:lnSpc>
              <a:buNone/>
            </a:pPr>
            <a:r>
              <a:rPr lang="en-US" dirty="0" smtClean="0">
                <a:solidFill>
                  <a:srgbClr val="FFFFFF"/>
                </a:solidFill>
                <a:latin typeface="Courier"/>
                <a:cs typeface="Courier"/>
              </a:rPr>
              <a:t>&gt; </a:t>
            </a:r>
            <a:r>
              <a:rPr lang="en-US" dirty="0" err="1" smtClean="0">
                <a:solidFill>
                  <a:srgbClr val="FFFFFF"/>
                </a:solidFill>
                <a:latin typeface="Courier"/>
                <a:cs typeface="Courier"/>
              </a:rPr>
              <a:t>db.books.find</a:t>
            </a:r>
            <a:r>
              <a:rPr lang="en-US" dirty="0">
                <a:solidFill>
                  <a:srgbClr val="FFFFFF"/>
                </a:solidFill>
                <a:latin typeface="Courier"/>
                <a:cs typeface="Courier"/>
              </a:rPr>
              <a:t>({ </a:t>
            </a:r>
            <a:r>
              <a:rPr lang="en-US" dirty="0" smtClean="0">
                <a:solidFill>
                  <a:srgbClr val="FF6600"/>
                </a:solidFill>
                <a:latin typeface="Courier"/>
                <a:cs typeface="Courier"/>
              </a:rPr>
              <a:t>“</a:t>
            </a:r>
            <a:r>
              <a:rPr lang="en-US" dirty="0" err="1" smtClean="0">
                <a:solidFill>
                  <a:srgbClr val="FF6600"/>
                </a:solidFill>
                <a:latin typeface="Courier"/>
                <a:cs typeface="Courier"/>
              </a:rPr>
              <a:t>authors._id</a:t>
            </a:r>
            <a:r>
              <a:rPr lang="en-US" dirty="0" smtClean="0">
                <a:solidFill>
                  <a:srgbClr val="FF6600"/>
                </a:solidFill>
                <a:latin typeface="Courier"/>
                <a:cs typeface="Courier"/>
              </a:rPr>
              <a:t>” </a:t>
            </a:r>
            <a:r>
              <a:rPr lang="en-US" dirty="0">
                <a:solidFill>
                  <a:srgbClr val="FFFFFF"/>
                </a:solidFill>
                <a:latin typeface="Courier"/>
                <a:cs typeface="Courier"/>
              </a:rPr>
              <a:t>:</a:t>
            </a:r>
            <a:r>
              <a:rPr lang="en-US" dirty="0">
                <a:latin typeface="Courier"/>
                <a:cs typeface="Courier"/>
              </a:rPr>
              <a:t> </a:t>
            </a:r>
            <a:r>
              <a:rPr lang="en-US" dirty="0" smtClean="0">
                <a:solidFill>
                  <a:schemeClr val="accent2"/>
                </a:solidFill>
                <a:latin typeface="Courier"/>
                <a:cs typeface="Courier"/>
              </a:rPr>
              <a:t>“X12” </a:t>
            </a:r>
            <a:r>
              <a:rPr lang="en-US" dirty="0">
                <a:solidFill>
                  <a:srgbClr val="FFFFFF"/>
                </a:solidFill>
                <a:latin typeface="Courier"/>
                <a:cs typeface="Courier"/>
              </a:rPr>
              <a:t>}</a:t>
            </a:r>
            <a:r>
              <a:rPr lang="en-US" dirty="0" smtClean="0">
                <a:solidFill>
                  <a:srgbClr val="FFFFFF"/>
                </a:solidFill>
                <a:latin typeface="Courier"/>
                <a:cs typeface="Courier"/>
              </a:rPr>
              <a:t>).explain();</a:t>
            </a:r>
          </a:p>
          <a:p>
            <a:pPr marL="0" indent="0">
              <a:lnSpc>
                <a:spcPct val="100000"/>
              </a:lnSpc>
              <a:buNone/>
            </a:pPr>
            <a:r>
              <a:rPr lang="en-US" dirty="0">
                <a:solidFill>
                  <a:srgbClr val="FFFFFF"/>
                </a:solidFill>
                <a:latin typeface="Courier"/>
                <a:cs typeface="Courier"/>
              </a:rPr>
              <a:t>{</a:t>
            </a:r>
          </a:p>
          <a:p>
            <a:pPr marL="0" indent="0">
              <a:lnSpc>
                <a:spcPct val="100000"/>
              </a:lnSpc>
              <a:buNone/>
            </a:pPr>
            <a:r>
              <a:rPr lang="en-US" dirty="0">
                <a:solidFill>
                  <a:srgbClr val="FFFFFF"/>
                </a:solidFill>
                <a:latin typeface="Courier"/>
                <a:cs typeface="Courier"/>
              </a:rPr>
              <a:t>	"cursor" : "</a:t>
            </a:r>
            <a:r>
              <a:rPr lang="en-US" dirty="0" err="1">
                <a:solidFill>
                  <a:srgbClr val="FFFFFF"/>
                </a:solidFill>
                <a:latin typeface="Courier"/>
                <a:cs typeface="Courier"/>
              </a:rPr>
              <a:t>BtreeCursor</a:t>
            </a:r>
            <a:r>
              <a:rPr lang="en-US" dirty="0">
                <a:solidFill>
                  <a:srgbClr val="FFFFFF"/>
                </a:solidFill>
                <a:latin typeface="Courier"/>
                <a:cs typeface="Courier"/>
              </a:rPr>
              <a:t> authors.id_1",</a:t>
            </a:r>
          </a:p>
          <a:p>
            <a:pPr marL="0" indent="0">
              <a:lnSpc>
                <a:spcPct val="100000"/>
              </a:lnSpc>
              <a:buNone/>
            </a:pP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lnSpc>
                <a:spcPct val="100000"/>
              </a:lnSpc>
              <a:buNone/>
            </a:pPr>
            <a:r>
              <a:rPr lang="en-US" dirty="0">
                <a:solidFill>
                  <a:srgbClr val="FFFFFF"/>
                </a:solidFill>
                <a:latin typeface="Courier"/>
                <a:cs typeface="Courier"/>
              </a:rPr>
              <a:t>	"</a:t>
            </a:r>
            <a:r>
              <a:rPr lang="en-US" dirty="0" err="1">
                <a:solidFill>
                  <a:srgbClr val="FFFFFF"/>
                </a:solidFill>
                <a:latin typeface="Courier"/>
                <a:cs typeface="Courier"/>
              </a:rPr>
              <a:t>millis</a:t>
            </a:r>
            <a:r>
              <a:rPr lang="en-US" dirty="0">
                <a:solidFill>
                  <a:srgbClr val="FFFFFF"/>
                </a:solidFill>
                <a:latin typeface="Courier"/>
                <a:cs typeface="Courier"/>
              </a:rPr>
              <a:t>" : 0</a:t>
            </a:r>
            <a:r>
              <a:rPr lang="en-US" dirty="0" smtClean="0">
                <a:solidFill>
                  <a:srgbClr val="FFFFFF"/>
                </a:solidFill>
                <a:latin typeface="Courier"/>
                <a:cs typeface="Courier"/>
              </a:rPr>
              <a:t>,</a:t>
            </a:r>
          </a:p>
          <a:p>
            <a:pPr marL="0" indent="0">
              <a:lnSpc>
                <a:spcPct val="100000"/>
              </a:lnSpc>
              <a:buNone/>
            </a:pPr>
            <a:r>
              <a:rPr lang="en-US" dirty="0" smtClean="0">
                <a:solidFill>
                  <a:srgbClr val="FFFFFF"/>
                </a:solidFill>
                <a:latin typeface="Courier"/>
                <a:cs typeface="Courier"/>
              </a:rPr>
              <a:t>}</a:t>
            </a:r>
            <a:endParaRPr lang="en-US" dirty="0">
              <a:solidFill>
                <a:srgbClr val="FFFFFF"/>
              </a:solidFill>
              <a:latin typeface="Courier"/>
              <a:cs typeface="Courier"/>
            </a:endParaRPr>
          </a:p>
          <a:p>
            <a:pPr>
              <a:lnSpc>
                <a:spcPct val="100000"/>
              </a:lnSpc>
              <a:buFont typeface="Wingdings" charset="0"/>
              <a:buChar char="Ø"/>
            </a:pPr>
            <a:endParaRPr lang="en-US" dirty="0" smtClean="0">
              <a:solidFill>
                <a:srgbClr val="FFFFFF"/>
              </a:solidFill>
              <a:latin typeface="Courier"/>
              <a:cs typeface="Courier"/>
            </a:endParaRPr>
          </a:p>
        </p:txBody>
      </p:sp>
      <p:sp>
        <p:nvSpPr>
          <p:cNvPr id="3" name="Title 2"/>
          <p:cNvSpPr>
            <a:spLocks noGrp="1"/>
          </p:cNvSpPr>
          <p:nvPr>
            <p:ph type="title"/>
          </p:nvPr>
        </p:nvSpPr>
        <p:spPr/>
        <p:txBody>
          <a:bodyPr/>
          <a:lstStyle/>
          <a:p>
            <a:r>
              <a:rPr lang="en-US" dirty="0" smtClean="0"/>
              <a:t>Another Approach: Index The Array</a:t>
            </a:r>
            <a:endParaRPr lang="en-US" dirty="0"/>
          </a:p>
        </p:txBody>
      </p:sp>
    </p:spTree>
    <p:extLst>
      <p:ext uri="{BB962C8B-B14F-4D97-AF65-F5344CB8AC3E}">
        <p14:creationId xmlns:p14="http://schemas.microsoft.com/office/powerpoint/2010/main" val="1206705061"/>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Embedding vs. Linking </a:t>
            </a:r>
            <a:endParaRPr lang="en-US" dirty="0"/>
          </a:p>
        </p:txBody>
      </p:sp>
      <p:sp>
        <p:nvSpPr>
          <p:cNvPr id="4" name="Text Placeholder 3"/>
          <p:cNvSpPr>
            <a:spLocks noGrp="1"/>
          </p:cNvSpPr>
          <p:nvPr>
            <p:ph idx="1"/>
          </p:nvPr>
        </p:nvSpPr>
        <p:spPr/>
        <p:txBody>
          <a:bodyPr>
            <a:normAutofit fontScale="92500" lnSpcReduction="10000"/>
          </a:bodyPr>
          <a:lstStyle/>
          <a:p>
            <a:r>
              <a:rPr lang="en-US" sz="2400" b="1" dirty="0" smtClean="0"/>
              <a:t>Embedding</a:t>
            </a:r>
          </a:p>
          <a:p>
            <a:pPr lvl="1"/>
            <a:r>
              <a:rPr lang="en-US" sz="2400" dirty="0" smtClean="0"/>
              <a:t>Terrific for read performance</a:t>
            </a:r>
          </a:p>
          <a:p>
            <a:pPr lvl="2"/>
            <a:r>
              <a:rPr lang="en-US" sz="2400" dirty="0" err="1" smtClean="0"/>
              <a:t>Webapp</a:t>
            </a:r>
            <a:r>
              <a:rPr lang="en-US" sz="2400" dirty="0" smtClean="0"/>
              <a:t> “front pages” and pre-aggregated material</a:t>
            </a:r>
          </a:p>
          <a:p>
            <a:pPr lvl="2"/>
            <a:r>
              <a:rPr lang="en-US" sz="2400" dirty="0" smtClean="0"/>
              <a:t>Complex structures</a:t>
            </a:r>
          </a:p>
          <a:p>
            <a:pPr lvl="1"/>
            <a:r>
              <a:rPr lang="en-US" sz="2400" dirty="0"/>
              <a:t>Great for insert-only / immutable designs</a:t>
            </a:r>
          </a:p>
          <a:p>
            <a:pPr lvl="1"/>
            <a:r>
              <a:rPr lang="en-US" sz="2400" dirty="0" smtClean="0"/>
              <a:t>Inserts might be slower than linking</a:t>
            </a:r>
          </a:p>
          <a:p>
            <a:pPr lvl="1"/>
            <a:r>
              <a:rPr lang="en-US" sz="2400" dirty="0" smtClean="0"/>
              <a:t>Data integrity for not-belongs-to needs to be managed</a:t>
            </a:r>
          </a:p>
          <a:p>
            <a:pPr marL="457200" lvl="1" indent="0">
              <a:buNone/>
            </a:pPr>
            <a:endParaRPr lang="en-US" sz="2400" dirty="0" smtClean="0"/>
          </a:p>
          <a:p>
            <a:r>
              <a:rPr lang="en-US" sz="2400" b="1" dirty="0" smtClean="0"/>
              <a:t>Linking</a:t>
            </a:r>
          </a:p>
          <a:p>
            <a:pPr lvl="1"/>
            <a:r>
              <a:rPr lang="en-US" sz="2400" dirty="0" smtClean="0"/>
              <a:t>Flexible</a:t>
            </a:r>
          </a:p>
          <a:p>
            <a:pPr lvl="1"/>
            <a:r>
              <a:rPr lang="en-US" sz="2400" dirty="0" smtClean="0"/>
              <a:t>Data integrity is built-in</a:t>
            </a:r>
          </a:p>
          <a:p>
            <a:pPr lvl="1"/>
            <a:r>
              <a:rPr lang="en-US" sz="2400" dirty="0" smtClean="0"/>
              <a:t>Work is done during reads</a:t>
            </a:r>
          </a:p>
          <a:p>
            <a:pPr lvl="2"/>
            <a:r>
              <a:rPr lang="en-US" sz="2400" dirty="0" smtClean="0"/>
              <a:t>But not necessarily more work than RDBMS</a:t>
            </a:r>
          </a:p>
        </p:txBody>
      </p:sp>
    </p:spTree>
    <p:extLst>
      <p:ext uri="{BB962C8B-B14F-4D97-AF65-F5344CB8AC3E}">
        <p14:creationId xmlns:p14="http://schemas.microsoft.com/office/powerpoint/2010/main" val="2168403614"/>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57200" y="274638"/>
            <a:ext cx="8229600" cy="6178302"/>
          </a:xfrm>
          <a:prstGeom prst="rect">
            <a:avLst/>
          </a:prstGeom>
        </p:spPr>
        <p:txBody>
          <a:bodyPr anchor="ctr">
            <a:normAutofit/>
          </a:bodyPr>
          <a:lstStyle>
            <a:lvl1pPr algn="ctr" defTabSz="457200" rtl="0" eaLnBrk="1" latinLnBrk="0" hangingPunct="1">
              <a:spcBef>
                <a:spcPct val="0"/>
              </a:spcBef>
              <a:buNone/>
              <a:defRPr sz="3600" b="1" kern="1200" spc="-150">
                <a:solidFill>
                  <a:srgbClr val="242423"/>
                </a:solidFill>
                <a:latin typeface="Arial"/>
                <a:ea typeface="+mj-ea"/>
                <a:cs typeface="Arial"/>
              </a:defRPr>
            </a:lvl1pPr>
          </a:lstStyle>
          <a:p>
            <a:pPr algn="l"/>
            <a:r>
              <a:rPr lang="en-US" sz="4400" dirty="0" smtClean="0"/>
              <a:t>Question:</a:t>
            </a:r>
          </a:p>
          <a:p>
            <a:pPr algn="l"/>
            <a:r>
              <a:rPr lang="en-US" sz="4400" dirty="0" smtClean="0">
                <a:solidFill>
                  <a:srgbClr val="5B972B"/>
                </a:solidFill>
              </a:rPr>
              <a:t>What are the personalized attributes for each author?</a:t>
            </a:r>
            <a:endParaRPr lang="en-US" sz="4400" dirty="0">
              <a:solidFill>
                <a:srgbClr val="5B972B"/>
              </a:solidFill>
            </a:endParaRPr>
          </a:p>
        </p:txBody>
      </p:sp>
    </p:spTree>
    <p:extLst>
      <p:ext uri="{BB962C8B-B14F-4D97-AF65-F5344CB8AC3E}">
        <p14:creationId xmlns:p14="http://schemas.microsoft.com/office/powerpoint/2010/main" val="2097341992"/>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spcBef>
                <a:spcPts val="72"/>
              </a:spcBef>
              <a:buNone/>
            </a:pPr>
            <a:r>
              <a:rPr lang="en-US" dirty="0" smtClean="0">
                <a:solidFill>
                  <a:srgbClr val="FFFFFF"/>
                </a:solidFill>
                <a:latin typeface="Courier"/>
                <a:cs typeface="Courier"/>
              </a:rPr>
              <a:t>&gt; </a:t>
            </a:r>
            <a:r>
              <a:rPr lang="en-US" dirty="0" err="1" smtClean="0">
                <a:solidFill>
                  <a:srgbClr val="FFFFFF"/>
                </a:solidFill>
                <a:latin typeface="Courier"/>
                <a:cs typeface="Courier"/>
              </a:rPr>
              <a:t>db.authors.find</a:t>
            </a:r>
            <a:r>
              <a:rPr lang="en-US" dirty="0" smtClean="0">
                <a:solidFill>
                  <a:srgbClr val="FFFFFF"/>
                </a:solidFill>
                <a:latin typeface="Courier"/>
                <a:cs typeface="Courier"/>
              </a:rPr>
              <a:t>()</a:t>
            </a:r>
          </a:p>
          <a:p>
            <a:pPr marL="0" indent="0">
              <a:lnSpc>
                <a:spcPct val="100000"/>
              </a:lnSpc>
              <a:spcBef>
                <a:spcPts val="72"/>
              </a:spcBef>
              <a:buNone/>
            </a:pP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spcBef>
                <a:spcPts val="72"/>
              </a:spcBef>
              <a:buNone/>
            </a:pPr>
            <a:r>
              <a:rPr lang="en-US" dirty="0">
                <a:solidFill>
                  <a:srgbClr val="FFFFFF"/>
                </a:solidFill>
                <a:latin typeface="Courier"/>
                <a:cs typeface="Courier"/>
              </a:rPr>
              <a:t>    _id:</a:t>
            </a:r>
            <a:r>
              <a:rPr lang="en-US" dirty="0">
                <a:latin typeface="Courier"/>
                <a:cs typeface="Courier"/>
              </a:rPr>
              <a:t> </a:t>
            </a:r>
            <a:r>
              <a:rPr lang="en-US" dirty="0" smtClean="0">
                <a:solidFill>
                  <a:srgbClr val="749E49"/>
                </a:solidFill>
                <a:latin typeface="Courier"/>
                <a:cs typeface="Courier"/>
              </a:rPr>
              <a:t>”X12"</a:t>
            </a: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    </a:t>
            </a:r>
            <a:r>
              <a:rPr lang="en-US" dirty="0" smtClean="0">
                <a:solidFill>
                  <a:srgbClr val="FFFFFF"/>
                </a:solidFill>
                <a:latin typeface="Courier"/>
                <a:cs typeface="Courier"/>
              </a:rPr>
              <a:t>name: { first: </a:t>
            </a:r>
            <a:r>
              <a:rPr lang="en-US" dirty="0" smtClean="0">
                <a:solidFill>
                  <a:srgbClr val="F7D58F"/>
                </a:solidFill>
                <a:latin typeface="Courier"/>
                <a:cs typeface="Courier"/>
              </a:rPr>
              <a:t>"Kristina”, </a:t>
            </a:r>
            <a:r>
              <a:rPr lang="en-US" dirty="0" smtClean="0">
                <a:solidFill>
                  <a:srgbClr val="FFFFFF"/>
                </a:solidFill>
                <a:latin typeface="Courier"/>
                <a:cs typeface="Courier"/>
              </a:rPr>
              <a:t>last: </a:t>
            </a:r>
            <a:r>
              <a:rPr lang="en-US" dirty="0" smtClean="0">
                <a:solidFill>
                  <a:srgbClr val="F7D58F"/>
                </a:solidFill>
                <a:latin typeface="Courier"/>
                <a:cs typeface="Courier"/>
              </a:rPr>
              <a:t>“</a:t>
            </a:r>
            <a:r>
              <a:rPr lang="en-US" dirty="0" err="1" smtClean="0">
                <a:solidFill>
                  <a:srgbClr val="F7D58F"/>
                </a:solidFill>
                <a:latin typeface="Courier"/>
                <a:cs typeface="Courier"/>
              </a:rPr>
              <a:t>Chodorow</a:t>
            </a:r>
            <a:r>
              <a:rPr lang="en-US" dirty="0" smtClean="0">
                <a:solidFill>
                  <a:srgbClr val="F7D58F"/>
                </a:solidFill>
                <a:latin typeface="Courier"/>
                <a:cs typeface="Courier"/>
              </a:rPr>
              <a:t>” </a:t>
            </a: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spcBef>
                <a:spcPts val="72"/>
              </a:spcBef>
              <a:buNone/>
            </a:pPr>
            <a:r>
              <a:rPr lang="en-US" dirty="0" smtClean="0">
                <a:solidFill>
                  <a:srgbClr val="FFFFFF"/>
                </a:solidFill>
                <a:latin typeface="Courier"/>
                <a:cs typeface="Courier"/>
              </a:rPr>
              <a:t>    </a:t>
            </a:r>
            <a:r>
              <a:rPr lang="en-US" dirty="0" err="1" smtClean="0">
                <a:solidFill>
                  <a:srgbClr val="FF6600"/>
                </a:solidFill>
                <a:latin typeface="Courier"/>
                <a:cs typeface="Courier"/>
              </a:rPr>
              <a:t>personalData</a:t>
            </a:r>
            <a:r>
              <a:rPr lang="en-US" dirty="0" smtClean="0">
                <a:solidFill>
                  <a:srgbClr val="FFFFFF"/>
                </a:solidFill>
                <a:latin typeface="Courier"/>
                <a:cs typeface="Courier"/>
              </a:rPr>
              <a:t>: {</a:t>
            </a:r>
          </a:p>
          <a:p>
            <a:pPr marL="0" indent="0">
              <a:spcBef>
                <a:spcPts val="72"/>
              </a:spcBef>
              <a:buNone/>
            </a:pPr>
            <a:r>
              <a:rPr lang="en-US" dirty="0">
                <a:solidFill>
                  <a:srgbClr val="FFFFFF"/>
                </a:solidFill>
                <a:latin typeface="Courier"/>
                <a:cs typeface="Courier"/>
              </a:rPr>
              <a:t>	</a:t>
            </a:r>
            <a:r>
              <a:rPr lang="en-US" dirty="0" smtClean="0">
                <a:solidFill>
                  <a:srgbClr val="FFFFFF"/>
                </a:solidFill>
                <a:latin typeface="Courier"/>
                <a:cs typeface="Courier"/>
              </a:rPr>
              <a:t>    </a:t>
            </a:r>
            <a:r>
              <a:rPr lang="en-US" dirty="0" err="1" smtClean="0">
                <a:solidFill>
                  <a:srgbClr val="FFFFFF"/>
                </a:solidFill>
                <a:latin typeface="Courier"/>
                <a:cs typeface="Courier"/>
              </a:rPr>
              <a:t>favoritePets</a:t>
            </a:r>
            <a:r>
              <a:rPr lang="en-US" dirty="0" smtClean="0">
                <a:solidFill>
                  <a:srgbClr val="FFFFFF"/>
                </a:solidFill>
                <a:latin typeface="Courier"/>
                <a:cs typeface="Courier"/>
              </a:rPr>
              <a:t>: [ “bird”, “dog” ],</a:t>
            </a:r>
          </a:p>
          <a:p>
            <a:pPr marL="0" indent="0">
              <a:spcBef>
                <a:spcPts val="72"/>
              </a:spcBef>
              <a:buNone/>
            </a:pPr>
            <a:r>
              <a:rPr lang="en-US" dirty="0">
                <a:solidFill>
                  <a:srgbClr val="FFFFFF"/>
                </a:solidFill>
                <a:latin typeface="Courier"/>
                <a:cs typeface="Courier"/>
              </a:rPr>
              <a:t> </a:t>
            </a:r>
            <a:r>
              <a:rPr lang="en-US" dirty="0" smtClean="0">
                <a:solidFill>
                  <a:srgbClr val="FFFFFF"/>
                </a:solidFill>
                <a:latin typeface="Courier"/>
                <a:cs typeface="Courier"/>
              </a:rPr>
              <a:t>       awards: [ {name: “Hugo”, when: 1983},</a:t>
            </a:r>
            <a:r>
              <a:rPr lang="en-US" dirty="0">
                <a:solidFill>
                  <a:srgbClr val="FFFFFF"/>
                </a:solidFill>
                <a:latin typeface="Courier"/>
                <a:cs typeface="Courier"/>
              </a:rPr>
              <a:t> {name: </a:t>
            </a:r>
            <a:r>
              <a:rPr lang="en-US" dirty="0" smtClean="0">
                <a:solidFill>
                  <a:srgbClr val="FFFFFF"/>
                </a:solidFill>
                <a:latin typeface="Courier"/>
                <a:cs typeface="Courier"/>
              </a:rPr>
              <a:t>“SSFX”</a:t>
            </a:r>
            <a:r>
              <a:rPr lang="en-US" dirty="0">
                <a:solidFill>
                  <a:srgbClr val="FFFFFF"/>
                </a:solidFill>
                <a:latin typeface="Courier"/>
                <a:cs typeface="Courier"/>
              </a:rPr>
              <a:t>, when: </a:t>
            </a:r>
            <a:r>
              <a:rPr lang="en-US" dirty="0" smtClean="0">
                <a:solidFill>
                  <a:srgbClr val="FFFFFF"/>
                </a:solidFill>
                <a:latin typeface="Courier"/>
                <a:cs typeface="Courier"/>
              </a:rPr>
              <a:t>1992} ]</a:t>
            </a:r>
          </a:p>
          <a:p>
            <a:pPr marL="0" indent="0">
              <a:spcBef>
                <a:spcPts val="72"/>
              </a:spcBef>
              <a:buNone/>
            </a:pPr>
            <a:r>
              <a:rPr lang="en-US" dirty="0">
                <a:solidFill>
                  <a:srgbClr val="FFFFFF"/>
                </a:solidFill>
                <a:latin typeface="Courier"/>
                <a:cs typeface="Courier"/>
              </a:rPr>
              <a:t> </a:t>
            </a:r>
            <a:r>
              <a:rPr lang="en-US" dirty="0" smtClean="0">
                <a:solidFill>
                  <a:srgbClr val="FFFFFF"/>
                </a:solidFill>
                <a:latin typeface="Courier"/>
                <a:cs typeface="Courier"/>
              </a:rPr>
              <a:t>   }</a:t>
            </a:r>
          </a:p>
          <a:p>
            <a:pPr marL="0" indent="0">
              <a:spcBef>
                <a:spcPts val="72"/>
              </a:spcBef>
              <a:buNone/>
            </a:pPr>
            <a:r>
              <a:rPr lang="en-US" dirty="0" smtClean="0">
                <a:solidFill>
                  <a:srgbClr val="FFFFFF"/>
                </a:solidFill>
                <a:latin typeface="Courier"/>
                <a:cs typeface="Courier"/>
              </a:rPr>
              <a:t>}</a:t>
            </a:r>
          </a:p>
          <a:p>
            <a:pPr marL="0" indent="0">
              <a:lnSpc>
                <a:spcPct val="100000"/>
              </a:lnSpc>
              <a:spcBef>
                <a:spcPts val="72"/>
              </a:spcBef>
              <a:buNone/>
            </a:pPr>
            <a:r>
              <a:rPr lang="en-US" dirty="0" smtClean="0">
                <a:solidFill>
                  <a:srgbClr val="FFFFFF"/>
                </a:solidFill>
                <a:latin typeface="Courier"/>
                <a:cs typeface="Courier"/>
              </a:rPr>
              <a:t>{</a:t>
            </a:r>
            <a:endParaRPr lang="en-US" dirty="0">
              <a:solidFill>
                <a:srgbClr val="FFFFFF"/>
              </a:solidFill>
              <a:latin typeface="Courier"/>
              <a:cs typeface="Courier"/>
            </a:endParaRPr>
          </a:p>
          <a:p>
            <a:pPr marL="0" indent="0">
              <a:spcBef>
                <a:spcPts val="72"/>
              </a:spcBef>
              <a:buNone/>
            </a:pPr>
            <a:r>
              <a:rPr lang="en-US" dirty="0">
                <a:solidFill>
                  <a:srgbClr val="FFFFFF"/>
                </a:solidFill>
                <a:latin typeface="Courier"/>
                <a:cs typeface="Courier"/>
              </a:rPr>
              <a:t>    _id:</a:t>
            </a:r>
            <a:r>
              <a:rPr lang="en-US" dirty="0">
                <a:latin typeface="Courier"/>
                <a:cs typeface="Courier"/>
              </a:rPr>
              <a:t> </a:t>
            </a:r>
            <a:r>
              <a:rPr lang="en-US" dirty="0" smtClean="0">
                <a:solidFill>
                  <a:srgbClr val="749E49"/>
                </a:solidFill>
                <a:latin typeface="Courier"/>
                <a:cs typeface="Courier"/>
              </a:rPr>
              <a:t>”Y45"</a:t>
            </a: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    name: { first: </a:t>
            </a:r>
            <a:r>
              <a:rPr lang="en-US" dirty="0" smtClean="0">
                <a:solidFill>
                  <a:srgbClr val="F7D58F"/>
                </a:solidFill>
                <a:latin typeface="Courier"/>
                <a:cs typeface="Courier"/>
              </a:rPr>
              <a:t>”Mike”</a:t>
            </a:r>
            <a:r>
              <a:rPr lang="en-US" dirty="0">
                <a:solidFill>
                  <a:srgbClr val="F7D58F"/>
                </a:solidFill>
                <a:latin typeface="Courier"/>
                <a:cs typeface="Courier"/>
              </a:rPr>
              <a:t>, </a:t>
            </a:r>
            <a:r>
              <a:rPr lang="en-US" dirty="0">
                <a:solidFill>
                  <a:srgbClr val="FFFFFF"/>
                </a:solidFill>
                <a:latin typeface="Courier"/>
                <a:cs typeface="Courier"/>
              </a:rPr>
              <a:t>last: </a:t>
            </a:r>
            <a:r>
              <a:rPr lang="en-US" dirty="0" smtClean="0">
                <a:solidFill>
                  <a:srgbClr val="F7D58F"/>
                </a:solidFill>
                <a:latin typeface="Courier"/>
                <a:cs typeface="Courier"/>
              </a:rPr>
              <a:t>“</a:t>
            </a:r>
            <a:r>
              <a:rPr lang="en-US" dirty="0" err="1" smtClean="0">
                <a:solidFill>
                  <a:srgbClr val="F7D58F"/>
                </a:solidFill>
                <a:latin typeface="Courier"/>
                <a:cs typeface="Courier"/>
              </a:rPr>
              <a:t>Dirolf</a:t>
            </a:r>
            <a:r>
              <a:rPr lang="en-US" dirty="0" smtClean="0">
                <a:solidFill>
                  <a:srgbClr val="F7D58F"/>
                </a:solidFill>
                <a:latin typeface="Courier"/>
                <a:cs typeface="Courier"/>
              </a:rPr>
              <a:t>”</a:t>
            </a:r>
            <a:r>
              <a:rPr lang="en-US" dirty="0" smtClean="0">
                <a:solidFill>
                  <a:srgbClr val="FFFFFF"/>
                </a:solidFill>
                <a:latin typeface="Courier"/>
                <a:cs typeface="Courier"/>
              </a:rPr>
              <a:t> </a:t>
            </a:r>
            <a:r>
              <a:rPr lang="en-US" dirty="0">
                <a:solidFill>
                  <a:srgbClr val="FFFFFF"/>
                </a:solidFill>
                <a:latin typeface="Courier"/>
                <a:cs typeface="Courier"/>
              </a:rPr>
              <a:t>}</a:t>
            </a:r>
            <a:r>
              <a:rPr lang="en-US" dirty="0" smtClean="0">
                <a:solidFill>
                  <a:srgbClr val="F7D58F"/>
                </a:solidFill>
                <a:latin typeface="Courier"/>
                <a:cs typeface="Courier"/>
              </a:rPr>
              <a:t> </a:t>
            </a: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    </a:t>
            </a:r>
            <a:r>
              <a:rPr lang="en-US" dirty="0" err="1">
                <a:solidFill>
                  <a:srgbClr val="FF6600"/>
                </a:solidFill>
                <a:latin typeface="Courier"/>
                <a:cs typeface="Courier"/>
              </a:rPr>
              <a:t>personalData</a:t>
            </a:r>
            <a:r>
              <a:rPr lang="en-US" dirty="0">
                <a:solidFill>
                  <a:srgbClr val="FFFFFF"/>
                </a:solidFill>
                <a:latin typeface="Courier"/>
                <a:cs typeface="Courier"/>
              </a:rPr>
              <a:t>: {</a:t>
            </a:r>
          </a:p>
          <a:p>
            <a:pPr marL="0" indent="0">
              <a:spcBef>
                <a:spcPts val="72"/>
              </a:spcBef>
              <a:buNone/>
            </a:pPr>
            <a:r>
              <a:rPr lang="en-US" dirty="0">
                <a:solidFill>
                  <a:srgbClr val="FFFFFF"/>
                </a:solidFill>
                <a:latin typeface="Courier"/>
                <a:cs typeface="Courier"/>
              </a:rPr>
              <a:t>	    </a:t>
            </a:r>
            <a:r>
              <a:rPr lang="en-US" dirty="0" smtClean="0">
                <a:solidFill>
                  <a:srgbClr val="FFFFFF"/>
                </a:solidFill>
                <a:latin typeface="Courier"/>
                <a:cs typeface="Courier"/>
              </a:rPr>
              <a:t>dob: </a:t>
            </a:r>
            <a:r>
              <a:rPr lang="en-US" dirty="0" err="1" smtClean="0">
                <a:solidFill>
                  <a:srgbClr val="FFFFFF"/>
                </a:solidFill>
                <a:latin typeface="Courier"/>
                <a:cs typeface="Courier"/>
              </a:rPr>
              <a:t>ISODate</a:t>
            </a:r>
            <a:r>
              <a:rPr lang="en-US" dirty="0" smtClean="0">
                <a:solidFill>
                  <a:srgbClr val="FFFFFF"/>
                </a:solidFill>
                <a:latin typeface="Courier"/>
                <a:cs typeface="Courier"/>
              </a:rPr>
              <a:t>(“1970-04-05”)</a:t>
            </a:r>
          </a:p>
          <a:p>
            <a:pPr marL="0" indent="0">
              <a:spcBef>
                <a:spcPts val="72"/>
              </a:spcBef>
              <a:buNone/>
            </a:pPr>
            <a:r>
              <a:rPr lang="en-US" dirty="0">
                <a:solidFill>
                  <a:srgbClr val="FFFFFF"/>
                </a:solidFill>
                <a:latin typeface="Courier"/>
                <a:cs typeface="Courier"/>
              </a:rPr>
              <a:t> </a:t>
            </a:r>
            <a:r>
              <a:rPr lang="en-US" dirty="0" smtClean="0">
                <a:solidFill>
                  <a:srgbClr val="FFFFFF"/>
                </a:solidFill>
                <a:latin typeface="Courier"/>
                <a:cs typeface="Courier"/>
              </a:rPr>
              <a:t>   </a:t>
            </a:r>
            <a:r>
              <a:rPr lang="en-US" dirty="0">
                <a:solidFill>
                  <a:srgbClr val="FFFFFF"/>
                </a:solidFill>
                <a:latin typeface="Courier"/>
                <a:cs typeface="Courier"/>
              </a:rPr>
              <a:t>}</a:t>
            </a:r>
          </a:p>
          <a:p>
            <a:pPr marL="0" indent="0">
              <a:spcBef>
                <a:spcPts val="72"/>
              </a:spcBef>
              <a:buNone/>
            </a:pPr>
            <a:r>
              <a:rPr lang="en-US" dirty="0">
                <a:solidFill>
                  <a:srgbClr val="FFFFFF"/>
                </a:solidFill>
                <a:latin typeface="Courier"/>
                <a:cs typeface="Courier"/>
              </a:rPr>
              <a:t>}</a:t>
            </a:r>
          </a:p>
          <a:p>
            <a:pPr marL="0" indent="0">
              <a:spcBef>
                <a:spcPts val="72"/>
              </a:spcBef>
              <a:buNone/>
            </a:pPr>
            <a:endParaRPr lang="en-US" dirty="0">
              <a:solidFill>
                <a:srgbClr val="FFFFFF"/>
              </a:solidFill>
              <a:latin typeface="Courier"/>
              <a:cs typeface="Courier"/>
            </a:endParaRPr>
          </a:p>
        </p:txBody>
      </p:sp>
      <p:sp>
        <p:nvSpPr>
          <p:cNvPr id="3" name="Title 2"/>
          <p:cNvSpPr>
            <a:spLocks noGrp="1"/>
          </p:cNvSpPr>
          <p:nvPr>
            <p:ph type="title"/>
          </p:nvPr>
        </p:nvSpPr>
        <p:spPr/>
        <p:txBody>
          <a:bodyPr>
            <a:normAutofit fontScale="90000"/>
          </a:bodyPr>
          <a:lstStyle/>
          <a:p>
            <a:r>
              <a:rPr lang="en-US" dirty="0" smtClean="0"/>
              <a:t>Assign Dynamic Structure to a Known Name</a:t>
            </a:r>
            <a:endParaRPr lang="en-US" dirty="0"/>
          </a:p>
        </p:txBody>
      </p:sp>
      <p:sp>
        <p:nvSpPr>
          <p:cNvPr id="7" name="Rectangle 6"/>
          <p:cNvSpPr/>
          <p:nvPr/>
        </p:nvSpPr>
        <p:spPr>
          <a:xfrm rot="20595675">
            <a:off x="6448424" y="4752171"/>
            <a:ext cx="2330310" cy="1010977"/>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bg1"/>
                </a:solidFill>
              </a:rPr>
              <a:t>A Fundamental And Powerful Document Model Feature!</a:t>
            </a:r>
            <a:endParaRPr lang="en-US" dirty="0">
              <a:solidFill>
                <a:schemeClr val="bg1"/>
              </a:solidFill>
            </a:endParaRPr>
          </a:p>
        </p:txBody>
      </p:sp>
    </p:spTree>
    <p:extLst>
      <p:ext uri="{BB962C8B-B14F-4D97-AF65-F5344CB8AC3E}">
        <p14:creationId xmlns:p14="http://schemas.microsoft.com/office/powerpoint/2010/main" val="3901976436"/>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spcBef>
                <a:spcPts val="72"/>
              </a:spcBef>
              <a:buNone/>
            </a:pPr>
            <a:r>
              <a:rPr lang="en-US" dirty="0" smtClean="0">
                <a:solidFill>
                  <a:srgbClr val="FFFFFF"/>
                </a:solidFill>
                <a:latin typeface="Courier"/>
                <a:cs typeface="Courier"/>
              </a:rPr>
              <a:t>&gt; </a:t>
            </a:r>
            <a:r>
              <a:rPr lang="en-US" dirty="0" err="1" smtClean="0">
                <a:solidFill>
                  <a:srgbClr val="FFFFFF"/>
                </a:solidFill>
                <a:latin typeface="Courier"/>
                <a:cs typeface="Courier"/>
              </a:rPr>
              <a:t>db.events.find</a:t>
            </a:r>
            <a:r>
              <a:rPr lang="en-US" dirty="0" smtClean="0">
                <a:solidFill>
                  <a:srgbClr val="FFFFFF"/>
                </a:solidFill>
                <a:latin typeface="Courier"/>
                <a:cs typeface="Courier"/>
              </a:rPr>
              <a:t>()</a:t>
            </a:r>
          </a:p>
          <a:p>
            <a:pPr marL="0" indent="0">
              <a:lnSpc>
                <a:spcPct val="100000"/>
              </a:lnSpc>
              <a:spcBef>
                <a:spcPts val="72"/>
              </a:spcBef>
              <a:buNone/>
            </a:pPr>
            <a:r>
              <a:rPr lang="en-US" dirty="0" smtClean="0">
                <a:solidFill>
                  <a:srgbClr val="FFFFFF"/>
                </a:solidFill>
                <a:latin typeface="Courier"/>
                <a:cs typeface="Courier"/>
              </a:rPr>
              <a:t>{ type:</a:t>
            </a:r>
            <a:r>
              <a:rPr lang="en-US" dirty="0" smtClean="0">
                <a:latin typeface="Courier"/>
                <a:cs typeface="Courier"/>
              </a:rPr>
              <a:t> </a:t>
            </a:r>
            <a:r>
              <a:rPr lang="en-US" dirty="0" smtClean="0">
                <a:solidFill>
                  <a:srgbClr val="EE9C00"/>
                </a:solidFill>
                <a:latin typeface="Courier"/>
                <a:cs typeface="Courier"/>
              </a:rPr>
              <a:t>”click"</a:t>
            </a:r>
            <a:r>
              <a:rPr lang="en-US" dirty="0" smtClean="0">
                <a:solidFill>
                  <a:srgbClr val="FFFFFF"/>
                </a:solidFill>
                <a:latin typeface="Courier"/>
                <a:cs typeface="Courier"/>
              </a:rPr>
              <a:t>, </a:t>
            </a:r>
            <a:r>
              <a:rPr lang="en-US" dirty="0" err="1" smtClean="0">
                <a:solidFill>
                  <a:srgbClr val="FFFFFF"/>
                </a:solidFill>
                <a:latin typeface="Courier"/>
                <a:cs typeface="Courier"/>
              </a:rPr>
              <a:t>ts</a:t>
            </a:r>
            <a:r>
              <a:rPr lang="en-US" dirty="0" smtClean="0">
                <a:solidFill>
                  <a:srgbClr val="FFFFFF"/>
                </a:solidFill>
                <a:latin typeface="Courier"/>
                <a:cs typeface="Courier"/>
              </a:rPr>
              <a:t>: </a:t>
            </a:r>
            <a:r>
              <a:rPr lang="en-US" dirty="0" err="1" smtClean="0">
                <a:solidFill>
                  <a:srgbClr val="FFFFFF"/>
                </a:solidFill>
                <a:latin typeface="Courier"/>
                <a:cs typeface="Courier"/>
              </a:rPr>
              <a:t>ISODate</a:t>
            </a:r>
            <a:r>
              <a:rPr lang="en-US" dirty="0" smtClean="0">
                <a:solidFill>
                  <a:srgbClr val="FFFFFF"/>
                </a:solidFill>
                <a:latin typeface="Courier"/>
                <a:cs typeface="Courier"/>
              </a:rPr>
              <a:t>(“2015-03-03T12:34:56.789Z”, data: { x: 123, y: 625, </a:t>
            </a:r>
            <a:r>
              <a:rPr lang="en-US" dirty="0" err="1" smtClean="0">
                <a:solidFill>
                  <a:srgbClr val="FFFFFF"/>
                </a:solidFill>
                <a:latin typeface="Courier"/>
                <a:cs typeface="Courier"/>
              </a:rPr>
              <a:t>adId</a:t>
            </a:r>
            <a:r>
              <a:rPr lang="en-US" dirty="0" smtClean="0">
                <a:solidFill>
                  <a:srgbClr val="FFFFFF"/>
                </a:solidFill>
                <a:latin typeface="Courier"/>
                <a:cs typeface="Courier"/>
              </a:rPr>
              <a:t>: “AE23A” } }</a:t>
            </a:r>
            <a:endParaRPr lang="en-US" dirty="0">
              <a:solidFill>
                <a:srgbClr val="FFFFFF"/>
              </a:solidFill>
              <a:latin typeface="Courier"/>
              <a:cs typeface="Courier"/>
            </a:endParaRPr>
          </a:p>
          <a:p>
            <a:pPr marL="0" indent="0">
              <a:spcBef>
                <a:spcPts val="72"/>
              </a:spcBef>
              <a:buNone/>
            </a:pPr>
            <a:endParaRPr lang="en-US" dirty="0" smtClean="0">
              <a:solidFill>
                <a:srgbClr val="FFFFFF"/>
              </a:solidFill>
              <a:latin typeface="Courier"/>
              <a:cs typeface="Courier"/>
            </a:endParaRPr>
          </a:p>
          <a:p>
            <a:pPr marL="0" indent="0">
              <a:spcBef>
                <a:spcPts val="72"/>
              </a:spcBef>
              <a:buNone/>
            </a:pPr>
            <a:r>
              <a:rPr lang="en-US" dirty="0" smtClean="0">
                <a:solidFill>
                  <a:srgbClr val="FFFFFF"/>
                </a:solidFill>
                <a:latin typeface="Courier"/>
                <a:cs typeface="Courier"/>
              </a:rPr>
              <a:t>{ </a:t>
            </a:r>
            <a:r>
              <a:rPr lang="en-US" dirty="0">
                <a:solidFill>
                  <a:srgbClr val="FFFFFF"/>
                </a:solidFill>
                <a:latin typeface="Courier"/>
                <a:cs typeface="Courier"/>
              </a:rPr>
              <a:t>type:</a:t>
            </a:r>
            <a:r>
              <a:rPr lang="en-US" dirty="0">
                <a:latin typeface="Courier"/>
                <a:cs typeface="Courier"/>
              </a:rPr>
              <a:t> </a:t>
            </a:r>
            <a:r>
              <a:rPr lang="en-US" dirty="0">
                <a:solidFill>
                  <a:srgbClr val="EE9C00"/>
                </a:solidFill>
                <a:latin typeface="Courier"/>
                <a:cs typeface="Courier"/>
              </a:rPr>
              <a:t>”click"</a:t>
            </a:r>
            <a:r>
              <a:rPr lang="en-US" dirty="0">
                <a:solidFill>
                  <a:srgbClr val="FFFFFF"/>
                </a:solidFill>
                <a:latin typeface="Courier"/>
                <a:cs typeface="Courier"/>
              </a:rPr>
              <a:t>, </a:t>
            </a:r>
            <a:r>
              <a:rPr lang="en-US" dirty="0" err="1" smtClean="0">
                <a:solidFill>
                  <a:srgbClr val="FFFFFF"/>
                </a:solidFill>
                <a:latin typeface="Courier"/>
                <a:cs typeface="Courier"/>
              </a:rPr>
              <a:t>ts</a:t>
            </a:r>
            <a:r>
              <a:rPr lang="en-US" dirty="0" smtClean="0">
                <a:solidFill>
                  <a:srgbClr val="FFFFFF"/>
                </a:solidFill>
                <a:latin typeface="Courier"/>
                <a:cs typeface="Courier"/>
              </a:rPr>
              <a:t>: </a:t>
            </a:r>
            <a:r>
              <a:rPr lang="en-US" dirty="0" err="1" smtClean="0">
                <a:solidFill>
                  <a:srgbClr val="FFFFFF"/>
                </a:solidFill>
                <a:latin typeface="Courier"/>
                <a:cs typeface="Courier"/>
              </a:rPr>
              <a:t>ISODate</a:t>
            </a:r>
            <a:r>
              <a:rPr lang="en-US" dirty="0">
                <a:solidFill>
                  <a:srgbClr val="FFFFFF"/>
                </a:solidFill>
                <a:latin typeface="Courier"/>
                <a:cs typeface="Courier"/>
              </a:rPr>
              <a:t>(“2015-03-03T12:</a:t>
            </a:r>
            <a:r>
              <a:rPr lang="en-US" dirty="0" smtClean="0">
                <a:solidFill>
                  <a:srgbClr val="FFFFFF"/>
                </a:solidFill>
                <a:latin typeface="Courier"/>
                <a:cs typeface="Courier"/>
              </a:rPr>
              <a:t>35:01.003Z</a:t>
            </a:r>
            <a:r>
              <a:rPr lang="en-US" dirty="0">
                <a:solidFill>
                  <a:srgbClr val="FFFFFF"/>
                </a:solidFill>
                <a:latin typeface="Courier"/>
                <a:cs typeface="Courier"/>
              </a:rPr>
              <a:t>”, </a:t>
            </a:r>
          </a:p>
          <a:p>
            <a:pPr marL="0" indent="0">
              <a:spcBef>
                <a:spcPts val="72"/>
              </a:spcBef>
              <a:buNone/>
            </a:pPr>
            <a:r>
              <a:rPr lang="en-US" dirty="0" smtClean="0">
                <a:solidFill>
                  <a:srgbClr val="FFFFFF"/>
                </a:solidFill>
                <a:latin typeface="Courier"/>
                <a:cs typeface="Courier"/>
              </a:rPr>
              <a:t>data</a:t>
            </a:r>
            <a:r>
              <a:rPr lang="en-US" dirty="0">
                <a:solidFill>
                  <a:srgbClr val="FFFFFF"/>
                </a:solidFill>
                <a:latin typeface="Courier"/>
                <a:cs typeface="Courier"/>
              </a:rPr>
              <a:t>: { x: </a:t>
            </a:r>
            <a:r>
              <a:rPr lang="en-US" dirty="0" smtClean="0">
                <a:solidFill>
                  <a:srgbClr val="FFFFFF"/>
                </a:solidFill>
                <a:latin typeface="Courier"/>
                <a:cs typeface="Courier"/>
              </a:rPr>
              <a:t>456, </a:t>
            </a:r>
            <a:r>
              <a:rPr lang="en-US" dirty="0">
                <a:solidFill>
                  <a:srgbClr val="FFFFFF"/>
                </a:solidFill>
                <a:latin typeface="Courier"/>
                <a:cs typeface="Courier"/>
              </a:rPr>
              <a:t>y: </a:t>
            </a:r>
            <a:r>
              <a:rPr lang="en-US" dirty="0" smtClean="0">
                <a:solidFill>
                  <a:srgbClr val="FFFFFF"/>
                </a:solidFill>
                <a:latin typeface="Courier"/>
                <a:cs typeface="Courier"/>
              </a:rPr>
              <a:t>611, </a:t>
            </a:r>
            <a:r>
              <a:rPr lang="en-US" dirty="0" err="1">
                <a:solidFill>
                  <a:srgbClr val="FFFFFF"/>
                </a:solidFill>
                <a:latin typeface="Courier"/>
                <a:cs typeface="Courier"/>
              </a:rPr>
              <a:t>adId</a:t>
            </a:r>
            <a:r>
              <a:rPr lang="en-US" dirty="0">
                <a:solidFill>
                  <a:srgbClr val="FFFFFF"/>
                </a:solidFill>
                <a:latin typeface="Courier"/>
                <a:cs typeface="Courier"/>
              </a:rPr>
              <a:t>: </a:t>
            </a:r>
            <a:r>
              <a:rPr lang="en-US" dirty="0" smtClean="0">
                <a:solidFill>
                  <a:srgbClr val="FFFFFF"/>
                </a:solidFill>
                <a:latin typeface="Courier"/>
                <a:cs typeface="Courier"/>
              </a:rPr>
              <a:t>“FA213” } }</a:t>
            </a:r>
            <a:endParaRPr lang="en-US" dirty="0">
              <a:solidFill>
                <a:srgbClr val="FFFFFF"/>
              </a:solidFill>
              <a:latin typeface="Courier"/>
              <a:cs typeface="Courier"/>
            </a:endParaRPr>
          </a:p>
          <a:p>
            <a:pPr marL="0" indent="0">
              <a:spcBef>
                <a:spcPts val="72"/>
              </a:spcBef>
              <a:buNone/>
            </a:pPr>
            <a:endParaRPr lang="en-US" dirty="0" smtClean="0">
              <a:solidFill>
                <a:srgbClr val="FFFFFF"/>
              </a:solidFill>
              <a:latin typeface="Courier"/>
              <a:cs typeface="Courier"/>
            </a:endParaRPr>
          </a:p>
          <a:p>
            <a:pPr marL="0" indent="0">
              <a:spcBef>
                <a:spcPts val="72"/>
              </a:spcBef>
              <a:buNone/>
            </a:pPr>
            <a:r>
              <a:rPr lang="en-US" dirty="0" smtClean="0">
                <a:solidFill>
                  <a:srgbClr val="FFFFFF"/>
                </a:solidFill>
                <a:latin typeface="Courier"/>
                <a:cs typeface="Courier"/>
              </a:rPr>
              <a:t>{ </a:t>
            </a:r>
            <a:r>
              <a:rPr lang="en-US" dirty="0">
                <a:solidFill>
                  <a:srgbClr val="FFFFFF"/>
                </a:solidFill>
                <a:latin typeface="Courier"/>
                <a:cs typeface="Courier"/>
              </a:rPr>
              <a:t>type:</a:t>
            </a:r>
            <a:r>
              <a:rPr lang="en-US" dirty="0">
                <a:latin typeface="Courier"/>
                <a:cs typeface="Courier"/>
              </a:rPr>
              <a:t> </a:t>
            </a:r>
            <a:r>
              <a:rPr lang="en-US" dirty="0" smtClean="0">
                <a:solidFill>
                  <a:srgbClr val="EE9C00"/>
                </a:solidFill>
                <a:latin typeface="Courier"/>
                <a:cs typeface="Courier"/>
              </a:rPr>
              <a:t>”view"</a:t>
            </a:r>
            <a:r>
              <a:rPr lang="en-US" dirty="0">
                <a:solidFill>
                  <a:srgbClr val="FFFFFF"/>
                </a:solidFill>
                <a:latin typeface="Courier"/>
                <a:cs typeface="Courier"/>
              </a:rPr>
              <a:t>, </a:t>
            </a:r>
            <a:r>
              <a:rPr lang="en-US" dirty="0" err="1">
                <a:solidFill>
                  <a:srgbClr val="FFFFFF"/>
                </a:solidFill>
                <a:latin typeface="Courier"/>
                <a:cs typeface="Courier"/>
              </a:rPr>
              <a:t>ts</a:t>
            </a:r>
            <a:r>
              <a:rPr lang="en-US" dirty="0">
                <a:solidFill>
                  <a:srgbClr val="FFFFFF"/>
                </a:solidFill>
                <a:latin typeface="Courier"/>
                <a:cs typeface="Courier"/>
              </a:rPr>
              <a:t>: </a:t>
            </a:r>
            <a:r>
              <a:rPr lang="en-US" dirty="0" err="1">
                <a:solidFill>
                  <a:srgbClr val="FFFFFF"/>
                </a:solidFill>
                <a:latin typeface="Courier"/>
                <a:cs typeface="Courier"/>
              </a:rPr>
              <a:t>ISODate</a:t>
            </a:r>
            <a:r>
              <a:rPr lang="en-US" dirty="0">
                <a:solidFill>
                  <a:srgbClr val="FFFFFF"/>
                </a:solidFill>
                <a:latin typeface="Courier"/>
                <a:cs typeface="Courier"/>
              </a:rPr>
              <a:t>(“2015-03-03T12:35:</a:t>
            </a:r>
            <a:r>
              <a:rPr lang="en-US" dirty="0" smtClean="0">
                <a:solidFill>
                  <a:srgbClr val="FFFFFF"/>
                </a:solidFill>
                <a:latin typeface="Courier"/>
                <a:cs typeface="Courier"/>
              </a:rPr>
              <a:t>04.102Z</a:t>
            </a:r>
            <a:r>
              <a:rPr lang="en-US" dirty="0">
                <a:solidFill>
                  <a:srgbClr val="FFFFFF"/>
                </a:solidFill>
                <a:latin typeface="Courier"/>
                <a:cs typeface="Courier"/>
              </a:rPr>
              <a:t>”, </a:t>
            </a:r>
            <a:endParaRPr lang="en-US" dirty="0" smtClean="0">
              <a:solidFill>
                <a:srgbClr val="FFFFFF"/>
              </a:solidFill>
              <a:latin typeface="Courier"/>
              <a:cs typeface="Courier"/>
            </a:endParaRPr>
          </a:p>
          <a:p>
            <a:pPr marL="0" indent="0">
              <a:spcBef>
                <a:spcPts val="72"/>
              </a:spcBef>
              <a:buNone/>
            </a:pPr>
            <a:r>
              <a:rPr lang="en-US" dirty="0" smtClean="0">
                <a:solidFill>
                  <a:srgbClr val="FFFFFF"/>
                </a:solidFill>
                <a:latin typeface="Courier"/>
                <a:cs typeface="Courier"/>
              </a:rPr>
              <a:t>data</a:t>
            </a:r>
            <a:r>
              <a:rPr lang="en-US" dirty="0">
                <a:solidFill>
                  <a:srgbClr val="FFFFFF"/>
                </a:solidFill>
                <a:latin typeface="Courier"/>
                <a:cs typeface="Courier"/>
              </a:rPr>
              <a:t>: { </a:t>
            </a:r>
            <a:r>
              <a:rPr lang="en-US" dirty="0" err="1" smtClean="0">
                <a:solidFill>
                  <a:srgbClr val="FFFFFF"/>
                </a:solidFill>
                <a:latin typeface="Courier"/>
                <a:cs typeface="Courier"/>
              </a:rPr>
              <a:t>scn</a:t>
            </a:r>
            <a:r>
              <a:rPr lang="en-US" dirty="0" smtClean="0">
                <a:solidFill>
                  <a:srgbClr val="FFFFFF"/>
                </a:solidFill>
                <a:latin typeface="Courier"/>
                <a:cs typeface="Courier"/>
              </a:rPr>
              <a:t>: 2, reset: false, … } }</a:t>
            </a:r>
          </a:p>
          <a:p>
            <a:pPr marL="0" indent="0">
              <a:spcBef>
                <a:spcPts val="72"/>
              </a:spcBef>
              <a:buNone/>
            </a:pPr>
            <a:endParaRPr lang="en-US" dirty="0">
              <a:solidFill>
                <a:srgbClr val="FFFFFF"/>
              </a:solidFill>
              <a:latin typeface="Courier"/>
              <a:cs typeface="Courier"/>
            </a:endParaRPr>
          </a:p>
          <a:p>
            <a:pPr marL="0" indent="0">
              <a:spcBef>
                <a:spcPts val="72"/>
              </a:spcBef>
              <a:buNone/>
            </a:pPr>
            <a:r>
              <a:rPr lang="en-US" dirty="0" smtClean="0">
                <a:solidFill>
                  <a:srgbClr val="FFFFFF"/>
                </a:solidFill>
                <a:latin typeface="Courier"/>
                <a:cs typeface="Courier"/>
              </a:rPr>
              <a:t>{ </a:t>
            </a:r>
            <a:r>
              <a:rPr lang="en-US" dirty="0">
                <a:solidFill>
                  <a:srgbClr val="FFFFFF"/>
                </a:solidFill>
                <a:latin typeface="Courier"/>
                <a:cs typeface="Courier"/>
              </a:rPr>
              <a:t>type:</a:t>
            </a:r>
            <a:r>
              <a:rPr lang="en-US" dirty="0">
                <a:latin typeface="Courier"/>
                <a:cs typeface="Courier"/>
              </a:rPr>
              <a:t> </a:t>
            </a:r>
            <a:r>
              <a:rPr lang="en-US" dirty="0">
                <a:solidFill>
                  <a:srgbClr val="EE9C00"/>
                </a:solidFill>
                <a:latin typeface="Courier"/>
                <a:cs typeface="Courier"/>
              </a:rPr>
              <a:t>”click"</a:t>
            </a:r>
            <a:r>
              <a:rPr lang="en-US" dirty="0">
                <a:solidFill>
                  <a:srgbClr val="FFFFFF"/>
                </a:solidFill>
                <a:latin typeface="Courier"/>
                <a:cs typeface="Courier"/>
              </a:rPr>
              <a:t>, </a:t>
            </a:r>
            <a:r>
              <a:rPr lang="en-US" dirty="0" err="1">
                <a:solidFill>
                  <a:srgbClr val="FFFFFF"/>
                </a:solidFill>
                <a:latin typeface="Courier"/>
                <a:cs typeface="Courier"/>
              </a:rPr>
              <a:t>ts</a:t>
            </a:r>
            <a:r>
              <a:rPr lang="en-US" dirty="0">
                <a:solidFill>
                  <a:srgbClr val="FFFFFF"/>
                </a:solidFill>
                <a:latin typeface="Courier"/>
                <a:cs typeface="Courier"/>
              </a:rPr>
              <a:t>: </a:t>
            </a:r>
            <a:r>
              <a:rPr lang="en-US" dirty="0" err="1">
                <a:solidFill>
                  <a:srgbClr val="FFFFFF"/>
                </a:solidFill>
                <a:latin typeface="Courier"/>
                <a:cs typeface="Courier"/>
              </a:rPr>
              <a:t>ISODate</a:t>
            </a:r>
            <a:r>
              <a:rPr lang="en-US" dirty="0">
                <a:solidFill>
                  <a:srgbClr val="FFFFFF"/>
                </a:solidFill>
                <a:latin typeface="Courier"/>
                <a:cs typeface="Courier"/>
              </a:rPr>
              <a:t>(“2015-03-03T12:35:</a:t>
            </a:r>
            <a:r>
              <a:rPr lang="en-US" dirty="0" smtClean="0">
                <a:solidFill>
                  <a:srgbClr val="FFFFFF"/>
                </a:solidFill>
                <a:latin typeface="Courier"/>
                <a:cs typeface="Courier"/>
              </a:rPr>
              <a:t>05.312Z</a:t>
            </a:r>
            <a:r>
              <a:rPr lang="en-US" dirty="0">
                <a:solidFill>
                  <a:srgbClr val="FFFFFF"/>
                </a:solidFill>
                <a:latin typeface="Courier"/>
                <a:cs typeface="Courier"/>
              </a:rPr>
              <a:t>”, </a:t>
            </a:r>
            <a:endParaRPr lang="en-US" dirty="0" smtClean="0">
              <a:solidFill>
                <a:srgbClr val="FFFFFF"/>
              </a:solidFill>
              <a:latin typeface="Courier"/>
              <a:cs typeface="Courier"/>
            </a:endParaRPr>
          </a:p>
          <a:p>
            <a:pPr marL="0" indent="0">
              <a:spcBef>
                <a:spcPts val="72"/>
              </a:spcBef>
              <a:buNone/>
            </a:pPr>
            <a:r>
              <a:rPr lang="en-US" dirty="0" smtClean="0">
                <a:solidFill>
                  <a:srgbClr val="FFFFFF"/>
                </a:solidFill>
                <a:latin typeface="Courier"/>
                <a:cs typeface="Courier"/>
              </a:rPr>
              <a:t>data</a:t>
            </a:r>
            <a:r>
              <a:rPr lang="en-US" dirty="0">
                <a:solidFill>
                  <a:srgbClr val="FFFFFF"/>
                </a:solidFill>
                <a:latin typeface="Courier"/>
                <a:cs typeface="Courier"/>
              </a:rPr>
              <a:t>: { x: </a:t>
            </a:r>
            <a:r>
              <a:rPr lang="en-US" dirty="0" smtClean="0">
                <a:solidFill>
                  <a:srgbClr val="FFFFFF"/>
                </a:solidFill>
                <a:latin typeface="Courier"/>
                <a:cs typeface="Courier"/>
              </a:rPr>
              <a:t>23, </a:t>
            </a:r>
            <a:r>
              <a:rPr lang="en-US" dirty="0">
                <a:solidFill>
                  <a:srgbClr val="FFFFFF"/>
                </a:solidFill>
                <a:latin typeface="Courier"/>
                <a:cs typeface="Courier"/>
              </a:rPr>
              <a:t>y: </a:t>
            </a:r>
            <a:r>
              <a:rPr lang="en-US" dirty="0" smtClean="0">
                <a:solidFill>
                  <a:srgbClr val="FFFFFF"/>
                </a:solidFill>
                <a:latin typeface="Courier"/>
                <a:cs typeface="Courier"/>
              </a:rPr>
              <a:t>32, </a:t>
            </a:r>
            <a:r>
              <a:rPr lang="en-US" dirty="0" err="1">
                <a:solidFill>
                  <a:srgbClr val="FFFFFF"/>
                </a:solidFill>
                <a:latin typeface="Courier"/>
                <a:cs typeface="Courier"/>
              </a:rPr>
              <a:t>adId</a:t>
            </a:r>
            <a:r>
              <a:rPr lang="en-US" dirty="0">
                <a:solidFill>
                  <a:srgbClr val="FFFFFF"/>
                </a:solidFill>
                <a:latin typeface="Courier"/>
                <a:cs typeface="Courier"/>
              </a:rPr>
              <a:t>: </a:t>
            </a:r>
            <a:r>
              <a:rPr lang="en-US" dirty="0" smtClean="0">
                <a:solidFill>
                  <a:srgbClr val="FFFFFF"/>
                </a:solidFill>
                <a:latin typeface="Courier"/>
                <a:cs typeface="Courier"/>
              </a:rPr>
              <a:t>“BB512” </a:t>
            </a:r>
            <a:r>
              <a:rPr lang="en-US" dirty="0">
                <a:solidFill>
                  <a:srgbClr val="FFFFFF"/>
                </a:solidFill>
                <a:latin typeface="Courier"/>
                <a:cs typeface="Courier"/>
              </a:rPr>
              <a:t>} </a:t>
            </a:r>
            <a:r>
              <a:rPr lang="en-US" dirty="0" smtClean="0">
                <a:solidFill>
                  <a:srgbClr val="FFFFFF"/>
                </a:solidFill>
                <a:latin typeface="Courier"/>
                <a:cs typeface="Courier"/>
              </a:rPr>
              <a:t>}</a:t>
            </a:r>
          </a:p>
          <a:p>
            <a:pPr marL="0" indent="0">
              <a:spcBef>
                <a:spcPts val="72"/>
              </a:spcBef>
              <a:buNone/>
            </a:pPr>
            <a:endParaRPr lang="en-US" dirty="0" smtClean="0">
              <a:solidFill>
                <a:srgbClr val="FFFFFF"/>
              </a:solidFill>
              <a:latin typeface="Courier"/>
              <a:cs typeface="Courier"/>
            </a:endParaRPr>
          </a:p>
          <a:p>
            <a:pPr marL="0" indent="0">
              <a:spcBef>
                <a:spcPts val="72"/>
              </a:spcBef>
              <a:buNone/>
            </a:pPr>
            <a:r>
              <a:rPr lang="en-US" dirty="0">
                <a:solidFill>
                  <a:srgbClr val="FFFFFF"/>
                </a:solidFill>
                <a:latin typeface="Courier"/>
                <a:cs typeface="Courier"/>
              </a:rPr>
              <a:t>{ type:</a:t>
            </a:r>
            <a:r>
              <a:rPr lang="en-US" dirty="0">
                <a:latin typeface="Courier"/>
                <a:cs typeface="Courier"/>
              </a:rPr>
              <a:t> </a:t>
            </a:r>
            <a:r>
              <a:rPr lang="en-US" dirty="0" smtClean="0">
                <a:solidFill>
                  <a:srgbClr val="EE9C00"/>
                </a:solidFill>
                <a:latin typeface="Courier"/>
                <a:cs typeface="Courier"/>
              </a:rPr>
              <a:t>”close"</a:t>
            </a:r>
            <a:r>
              <a:rPr lang="en-US" dirty="0">
                <a:solidFill>
                  <a:srgbClr val="FFFFFF"/>
                </a:solidFill>
                <a:latin typeface="Courier"/>
                <a:cs typeface="Courier"/>
              </a:rPr>
              <a:t>, </a:t>
            </a:r>
            <a:r>
              <a:rPr lang="en-US" dirty="0" err="1">
                <a:solidFill>
                  <a:srgbClr val="FFFFFF"/>
                </a:solidFill>
                <a:latin typeface="Courier"/>
                <a:cs typeface="Courier"/>
              </a:rPr>
              <a:t>ts</a:t>
            </a:r>
            <a:r>
              <a:rPr lang="en-US" dirty="0">
                <a:solidFill>
                  <a:srgbClr val="FFFFFF"/>
                </a:solidFill>
                <a:latin typeface="Courier"/>
                <a:cs typeface="Courier"/>
              </a:rPr>
              <a:t>: </a:t>
            </a:r>
            <a:r>
              <a:rPr lang="en-US" dirty="0" err="1">
                <a:solidFill>
                  <a:srgbClr val="FFFFFF"/>
                </a:solidFill>
                <a:latin typeface="Courier"/>
                <a:cs typeface="Courier"/>
              </a:rPr>
              <a:t>ISODate</a:t>
            </a:r>
            <a:r>
              <a:rPr lang="en-US" dirty="0">
                <a:solidFill>
                  <a:srgbClr val="FFFFFF"/>
                </a:solidFill>
                <a:latin typeface="Courier"/>
                <a:cs typeface="Courier"/>
              </a:rPr>
              <a:t>(“2015-03-03T12:35:</a:t>
            </a:r>
            <a:r>
              <a:rPr lang="en-US" dirty="0" smtClean="0">
                <a:solidFill>
                  <a:srgbClr val="FFFFFF"/>
                </a:solidFill>
                <a:latin typeface="Courier"/>
                <a:cs typeface="Courier"/>
              </a:rPr>
              <a:t>08.774Z</a:t>
            </a:r>
            <a:r>
              <a:rPr lang="en-US" dirty="0">
                <a:solidFill>
                  <a:srgbClr val="FFFFFF"/>
                </a:solidFill>
                <a:latin typeface="Courier"/>
                <a:cs typeface="Courier"/>
              </a:rPr>
              <a:t>”, </a:t>
            </a:r>
            <a:r>
              <a:rPr lang="en-US" dirty="0" smtClean="0">
                <a:solidFill>
                  <a:srgbClr val="FFFFFF"/>
                </a:solidFill>
                <a:latin typeface="Courier"/>
                <a:cs typeface="Courier"/>
              </a:rPr>
              <a:t>data</a:t>
            </a:r>
            <a:r>
              <a:rPr lang="en-US" dirty="0">
                <a:solidFill>
                  <a:srgbClr val="FFFFFF"/>
                </a:solidFill>
                <a:latin typeface="Courier"/>
                <a:cs typeface="Courier"/>
              </a:rPr>
              <a:t>: { </a:t>
            </a:r>
            <a:r>
              <a:rPr lang="en-US" dirty="0" err="1" smtClean="0">
                <a:solidFill>
                  <a:srgbClr val="FFFFFF"/>
                </a:solidFill>
                <a:latin typeface="Courier"/>
                <a:cs typeface="Courier"/>
              </a:rPr>
              <a:t>snc</a:t>
            </a:r>
            <a:r>
              <a:rPr lang="en-US" dirty="0" smtClean="0">
                <a:solidFill>
                  <a:srgbClr val="FFFFFF"/>
                </a:solidFill>
                <a:latin typeface="Courier"/>
                <a:cs typeface="Courier"/>
              </a:rPr>
              <a:t>: 2, logout: true, </a:t>
            </a:r>
            <a:r>
              <a:rPr lang="en-US" dirty="0" err="1" smtClean="0">
                <a:solidFill>
                  <a:srgbClr val="FFFFFF"/>
                </a:solidFill>
                <a:latin typeface="Courier"/>
                <a:cs typeface="Courier"/>
              </a:rPr>
              <a:t>mostRecent</a:t>
            </a:r>
            <a:r>
              <a:rPr lang="en-US" dirty="0" smtClean="0">
                <a:solidFill>
                  <a:srgbClr val="FFFFFF"/>
                </a:solidFill>
                <a:latin typeface="Courier"/>
                <a:cs typeface="Courier"/>
              </a:rPr>
              <a:t>: [ … ] } }</a:t>
            </a:r>
          </a:p>
          <a:p>
            <a:pPr marL="0" indent="0">
              <a:spcBef>
                <a:spcPts val="72"/>
              </a:spcBef>
              <a:buNone/>
            </a:pPr>
            <a:endParaRPr lang="en-US" dirty="0">
              <a:solidFill>
                <a:srgbClr val="FFFFFF"/>
              </a:solidFill>
              <a:latin typeface="Courier"/>
              <a:cs typeface="Courier"/>
            </a:endParaRPr>
          </a:p>
          <a:p>
            <a:pPr marL="0" indent="0">
              <a:spcBef>
                <a:spcPts val="72"/>
              </a:spcBef>
              <a:buNone/>
            </a:pPr>
            <a:r>
              <a:rPr lang="en-US" dirty="0">
                <a:solidFill>
                  <a:srgbClr val="FFFFFF"/>
                </a:solidFill>
                <a:latin typeface="Courier"/>
                <a:cs typeface="Courier"/>
              </a:rPr>
              <a:t>{ type:</a:t>
            </a:r>
            <a:r>
              <a:rPr lang="en-US" dirty="0">
                <a:latin typeface="Courier"/>
                <a:cs typeface="Courier"/>
              </a:rPr>
              <a:t> </a:t>
            </a:r>
            <a:r>
              <a:rPr lang="en-US" dirty="0">
                <a:solidFill>
                  <a:srgbClr val="EE9C00"/>
                </a:solidFill>
                <a:latin typeface="Courier"/>
                <a:cs typeface="Courier"/>
              </a:rPr>
              <a:t>”click"</a:t>
            </a:r>
            <a:r>
              <a:rPr lang="en-US" dirty="0">
                <a:solidFill>
                  <a:srgbClr val="FFFFFF"/>
                </a:solidFill>
                <a:latin typeface="Courier"/>
                <a:cs typeface="Courier"/>
              </a:rPr>
              <a:t>, </a:t>
            </a:r>
            <a:r>
              <a:rPr lang="en-US" dirty="0" err="1">
                <a:solidFill>
                  <a:srgbClr val="FFFFFF"/>
                </a:solidFill>
                <a:latin typeface="Courier"/>
                <a:cs typeface="Courier"/>
              </a:rPr>
              <a:t>ts</a:t>
            </a:r>
            <a:r>
              <a:rPr lang="en-US" dirty="0">
                <a:solidFill>
                  <a:srgbClr val="FFFFFF"/>
                </a:solidFill>
                <a:latin typeface="Courier"/>
                <a:cs typeface="Courier"/>
              </a:rPr>
              <a:t>: </a:t>
            </a:r>
            <a:r>
              <a:rPr lang="en-US" dirty="0" err="1">
                <a:solidFill>
                  <a:srgbClr val="FFFFFF"/>
                </a:solidFill>
                <a:latin typeface="Courier"/>
                <a:cs typeface="Courier"/>
              </a:rPr>
              <a:t>ISODate</a:t>
            </a:r>
            <a:r>
              <a:rPr lang="en-US" dirty="0">
                <a:solidFill>
                  <a:srgbClr val="FFFFFF"/>
                </a:solidFill>
                <a:latin typeface="Courier"/>
                <a:cs typeface="Courier"/>
              </a:rPr>
              <a:t>(“2015-03-03T12:35</a:t>
            </a:r>
            <a:r>
              <a:rPr lang="en-US" dirty="0" smtClean="0">
                <a:solidFill>
                  <a:srgbClr val="FFFFFF"/>
                </a:solidFill>
                <a:latin typeface="Courier"/>
                <a:cs typeface="Courier"/>
              </a:rPr>
              <a:t>:10.114Z</a:t>
            </a:r>
            <a:r>
              <a:rPr lang="en-US" dirty="0">
                <a:solidFill>
                  <a:srgbClr val="FFFFFF"/>
                </a:solidFill>
                <a:latin typeface="Courier"/>
                <a:cs typeface="Courier"/>
              </a:rPr>
              <a:t>”, </a:t>
            </a:r>
            <a:r>
              <a:rPr lang="en-US" dirty="0" smtClean="0">
                <a:solidFill>
                  <a:srgbClr val="FFFFFF"/>
                </a:solidFill>
                <a:latin typeface="Courier"/>
                <a:cs typeface="Courier"/>
              </a:rPr>
              <a:t>data</a:t>
            </a:r>
            <a:r>
              <a:rPr lang="en-US" dirty="0">
                <a:solidFill>
                  <a:srgbClr val="FFFFFF"/>
                </a:solidFill>
                <a:latin typeface="Courier"/>
                <a:cs typeface="Courier"/>
              </a:rPr>
              <a:t>: { x: </a:t>
            </a:r>
            <a:r>
              <a:rPr lang="en-US" dirty="0" smtClean="0">
                <a:solidFill>
                  <a:srgbClr val="FFFFFF"/>
                </a:solidFill>
                <a:latin typeface="Courier"/>
                <a:cs typeface="Courier"/>
              </a:rPr>
              <a:t>881, </a:t>
            </a:r>
            <a:r>
              <a:rPr lang="en-US" dirty="0">
                <a:solidFill>
                  <a:srgbClr val="FFFFFF"/>
                </a:solidFill>
                <a:latin typeface="Courier"/>
                <a:cs typeface="Courier"/>
              </a:rPr>
              <a:t>y: </a:t>
            </a:r>
            <a:r>
              <a:rPr lang="en-US" dirty="0" smtClean="0">
                <a:solidFill>
                  <a:srgbClr val="FFFFFF"/>
                </a:solidFill>
                <a:latin typeface="Courier"/>
                <a:cs typeface="Courier"/>
              </a:rPr>
              <a:t>913, </a:t>
            </a:r>
            <a:r>
              <a:rPr lang="en-US" dirty="0" err="1">
                <a:solidFill>
                  <a:srgbClr val="FFFFFF"/>
                </a:solidFill>
                <a:latin typeface="Courier"/>
                <a:cs typeface="Courier"/>
              </a:rPr>
              <a:t>adId</a:t>
            </a:r>
            <a:r>
              <a:rPr lang="en-US" dirty="0">
                <a:solidFill>
                  <a:srgbClr val="FFFFFF"/>
                </a:solidFill>
                <a:latin typeface="Courier"/>
                <a:cs typeface="Courier"/>
              </a:rPr>
              <a:t>: </a:t>
            </a:r>
            <a:r>
              <a:rPr lang="en-US" dirty="0" smtClean="0">
                <a:solidFill>
                  <a:srgbClr val="FFFFFF"/>
                </a:solidFill>
                <a:latin typeface="Courier"/>
                <a:cs typeface="Courier"/>
              </a:rPr>
              <a:t>“F430” </a:t>
            </a:r>
            <a:r>
              <a:rPr lang="en-US" dirty="0">
                <a:solidFill>
                  <a:srgbClr val="FFFFFF"/>
                </a:solidFill>
                <a:latin typeface="Courier"/>
                <a:cs typeface="Courier"/>
              </a:rPr>
              <a:t>} }</a:t>
            </a:r>
          </a:p>
          <a:p>
            <a:pPr marL="0" indent="0">
              <a:spcBef>
                <a:spcPts val="72"/>
              </a:spcBef>
              <a:buNone/>
            </a:pPr>
            <a:endParaRPr lang="en-US" dirty="0">
              <a:solidFill>
                <a:srgbClr val="FFFFFF"/>
              </a:solidFill>
              <a:latin typeface="Courier"/>
              <a:cs typeface="Courier"/>
            </a:endParaRPr>
          </a:p>
          <a:p>
            <a:pPr marL="0" indent="0">
              <a:spcBef>
                <a:spcPts val="72"/>
              </a:spcBef>
              <a:buNone/>
            </a:pPr>
            <a:endParaRPr lang="en-US" dirty="0">
              <a:solidFill>
                <a:srgbClr val="FFFFFF"/>
              </a:solidFill>
              <a:latin typeface="Courier"/>
              <a:cs typeface="Courier"/>
            </a:endParaRPr>
          </a:p>
        </p:txBody>
      </p:sp>
      <p:sp>
        <p:nvSpPr>
          <p:cNvPr id="3" name="Title 2"/>
          <p:cNvSpPr>
            <a:spLocks noGrp="1"/>
          </p:cNvSpPr>
          <p:nvPr>
            <p:ph type="title"/>
          </p:nvPr>
        </p:nvSpPr>
        <p:spPr/>
        <p:txBody>
          <a:bodyPr>
            <a:normAutofit/>
          </a:bodyPr>
          <a:lstStyle/>
          <a:p>
            <a:r>
              <a:rPr lang="en-US" dirty="0" smtClean="0"/>
              <a:t>Polymorphism: Worth an Extra Slide</a:t>
            </a:r>
            <a:endParaRPr lang="en-US" dirty="0"/>
          </a:p>
        </p:txBody>
      </p:sp>
    </p:spTree>
    <p:extLst>
      <p:ext uri="{BB962C8B-B14F-4D97-AF65-F5344CB8AC3E}">
        <p14:creationId xmlns:p14="http://schemas.microsoft.com/office/powerpoint/2010/main" val="3769862997"/>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57200" y="274638"/>
            <a:ext cx="8229600" cy="6178302"/>
          </a:xfrm>
          <a:prstGeom prst="rect">
            <a:avLst/>
          </a:prstGeom>
        </p:spPr>
        <p:txBody>
          <a:bodyPr anchor="ctr">
            <a:normAutofit/>
          </a:bodyPr>
          <a:lstStyle>
            <a:lvl1pPr algn="ctr" defTabSz="457200" rtl="0" eaLnBrk="1" latinLnBrk="0" hangingPunct="1">
              <a:spcBef>
                <a:spcPct val="0"/>
              </a:spcBef>
              <a:buNone/>
              <a:defRPr sz="3600" b="1" kern="1200" spc="-150">
                <a:solidFill>
                  <a:srgbClr val="242423"/>
                </a:solidFill>
                <a:latin typeface="Arial"/>
                <a:ea typeface="+mj-ea"/>
                <a:cs typeface="Arial"/>
              </a:defRPr>
            </a:lvl1pPr>
          </a:lstStyle>
          <a:p>
            <a:pPr algn="l"/>
            <a:r>
              <a:rPr lang="en-US" sz="4400" dirty="0" smtClean="0"/>
              <a:t>Question:</a:t>
            </a:r>
          </a:p>
          <a:p>
            <a:pPr algn="l"/>
            <a:r>
              <a:rPr lang="en-US" sz="4400" dirty="0" smtClean="0">
                <a:solidFill>
                  <a:srgbClr val="5B972B"/>
                </a:solidFill>
              </a:rPr>
              <a:t>What are all the books about databases?</a:t>
            </a:r>
            <a:endParaRPr lang="en-US" sz="4400" dirty="0">
              <a:solidFill>
                <a:srgbClr val="5B972B"/>
              </a:solidFill>
            </a:endParaRPr>
          </a:p>
        </p:txBody>
      </p:sp>
    </p:spTree>
    <p:extLst>
      <p:ext uri="{BB962C8B-B14F-4D97-AF65-F5344CB8AC3E}">
        <p14:creationId xmlns:p14="http://schemas.microsoft.com/office/powerpoint/2010/main" val="3871477854"/>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Categories as an Array</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en-US" dirty="0">
                <a:solidFill>
                  <a:srgbClr val="FFFFFF"/>
                </a:solidFill>
                <a:latin typeface="Courier"/>
                <a:cs typeface="Courier"/>
              </a:rPr>
              <a:t>&gt; </a:t>
            </a:r>
            <a:r>
              <a:rPr lang="en-US" dirty="0" err="1" smtClean="0">
                <a:solidFill>
                  <a:srgbClr val="FFFFFF"/>
                </a:solidFill>
                <a:latin typeface="Courier"/>
                <a:cs typeface="Courier"/>
              </a:rPr>
              <a:t>db.books.find</a:t>
            </a:r>
            <a:r>
              <a:rPr lang="en-US" dirty="0">
                <a:solidFill>
                  <a:srgbClr val="FFFFFF"/>
                </a:solidFill>
                <a:latin typeface="Courier"/>
                <a:cs typeface="Courier"/>
              </a:rPr>
              <a:t>({ _id : </a:t>
            </a:r>
            <a:r>
              <a:rPr lang="en-US" dirty="0">
                <a:solidFill>
                  <a:schemeClr val="accent2"/>
                </a:solidFill>
                <a:latin typeface="Courier"/>
                <a:cs typeface="Courier"/>
              </a:rPr>
              <a:t>“123”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_id:</a:t>
            </a:r>
            <a:r>
              <a:rPr lang="en-US" dirty="0">
                <a:latin typeface="Courier"/>
                <a:cs typeface="Courier"/>
              </a:rPr>
              <a:t> </a:t>
            </a:r>
            <a:r>
              <a:rPr lang="en-US" dirty="0">
                <a:solidFill>
                  <a:srgbClr val="F7D58F"/>
                </a:solidFill>
                <a:latin typeface="Courier"/>
                <a:cs typeface="Courier"/>
              </a:rPr>
              <a:t>“123”,</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title: </a:t>
            </a:r>
            <a:r>
              <a:rPr lang="en-US" dirty="0">
                <a:solidFill>
                  <a:srgbClr val="F7D58F"/>
                </a:solidFill>
                <a:latin typeface="Courier"/>
                <a:cs typeface="Courier"/>
              </a:rPr>
              <a:t>"MongoDB: The Definitive Guide"</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categories: [</a:t>
            </a:r>
            <a:r>
              <a:rPr lang="en-US" dirty="0">
                <a:solidFill>
                  <a:srgbClr val="FF6600"/>
                </a:solidFill>
                <a:latin typeface="Courier"/>
                <a:cs typeface="Courier"/>
              </a:rPr>
              <a:t>“MongoDB”</a:t>
            </a:r>
            <a:r>
              <a:rPr lang="en-US" dirty="0">
                <a:solidFill>
                  <a:srgbClr val="FFFFFF"/>
                </a:solidFill>
                <a:latin typeface="Courier"/>
                <a:cs typeface="Courier"/>
              </a:rPr>
              <a:t>,</a:t>
            </a:r>
            <a:r>
              <a:rPr lang="en-US" dirty="0">
                <a:latin typeface="Courier"/>
                <a:cs typeface="Courier"/>
              </a:rPr>
              <a:t> </a:t>
            </a:r>
            <a:r>
              <a:rPr lang="en-US" dirty="0">
                <a:solidFill>
                  <a:srgbClr val="FF6600"/>
                </a:solidFill>
                <a:latin typeface="Courier"/>
                <a:cs typeface="Courier"/>
              </a:rPr>
              <a:t>“Databases”</a:t>
            </a:r>
            <a:r>
              <a:rPr lang="en-US" dirty="0">
                <a:solidFill>
                  <a:srgbClr val="FFFFFF"/>
                </a:solidFill>
                <a:latin typeface="Courier"/>
                <a:cs typeface="Courier"/>
              </a:rPr>
              <a:t>,</a:t>
            </a:r>
            <a:r>
              <a:rPr lang="en-US" dirty="0">
                <a:latin typeface="Courier"/>
                <a:cs typeface="Courier"/>
              </a:rPr>
              <a:t> </a:t>
            </a:r>
            <a:r>
              <a:rPr lang="en-US" dirty="0">
                <a:solidFill>
                  <a:srgbClr val="FF6600"/>
                </a:solidFill>
                <a:latin typeface="Courier"/>
                <a:cs typeface="Courier"/>
              </a:rPr>
              <a:t>“Programming”</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&gt; </a:t>
            </a:r>
            <a:r>
              <a:rPr lang="en-US" dirty="0" err="1" smtClean="0">
                <a:solidFill>
                  <a:srgbClr val="FFFFFF"/>
                </a:solidFill>
                <a:latin typeface="Courier"/>
                <a:cs typeface="Courier"/>
              </a:rPr>
              <a:t>db.book.ensureIndex</a:t>
            </a:r>
            <a:r>
              <a:rPr lang="en-US" dirty="0" smtClean="0">
                <a:solidFill>
                  <a:srgbClr val="FFFFFF"/>
                </a:solidFill>
                <a:latin typeface="Courier"/>
                <a:cs typeface="Courier"/>
              </a:rPr>
              <a:t>({categories:1});</a:t>
            </a: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r>
              <a:rPr lang="en-US" dirty="0" smtClean="0">
                <a:solidFill>
                  <a:srgbClr val="FFFFFF"/>
                </a:solidFill>
                <a:latin typeface="Courier"/>
                <a:cs typeface="Courier"/>
              </a:rPr>
              <a:t>&gt; </a:t>
            </a:r>
            <a:r>
              <a:rPr lang="en-US" dirty="0" err="1">
                <a:solidFill>
                  <a:srgbClr val="FFFFFF"/>
                </a:solidFill>
                <a:latin typeface="Courier"/>
                <a:cs typeface="Courier"/>
              </a:rPr>
              <a:t>db.books.find</a:t>
            </a:r>
            <a:r>
              <a:rPr lang="en-US" dirty="0">
                <a:solidFill>
                  <a:srgbClr val="FFFFFF"/>
                </a:solidFill>
                <a:latin typeface="Courier"/>
                <a:cs typeface="Courier"/>
              </a:rPr>
              <a:t>({ categories:</a:t>
            </a:r>
            <a:r>
              <a:rPr lang="en-US" dirty="0">
                <a:latin typeface="Courier"/>
                <a:cs typeface="Courier"/>
              </a:rPr>
              <a:t> </a:t>
            </a:r>
            <a:r>
              <a:rPr lang="en-US" dirty="0">
                <a:solidFill>
                  <a:srgbClr val="FF6600"/>
                </a:solidFill>
                <a:latin typeface="Courier"/>
                <a:cs typeface="Courier"/>
              </a:rPr>
              <a:t>“Databases” </a:t>
            </a:r>
            <a:r>
              <a:rPr lang="en-US" dirty="0">
                <a:solidFill>
                  <a:srgbClr val="FFFFFF"/>
                </a:solidFill>
                <a:latin typeface="Courier"/>
                <a:cs typeface="Courier"/>
              </a:rPr>
              <a:t>})</a:t>
            </a:r>
          </a:p>
        </p:txBody>
      </p:sp>
    </p:spTree>
    <p:extLst>
      <p:ext uri="{BB962C8B-B14F-4D97-AF65-F5344CB8AC3E}">
        <p14:creationId xmlns:p14="http://schemas.microsoft.com/office/powerpoint/2010/main" val="2021213421"/>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Categories as a Path</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en-US" dirty="0">
                <a:solidFill>
                  <a:srgbClr val="FFFFFF"/>
                </a:solidFill>
                <a:latin typeface="Courier"/>
                <a:cs typeface="Courier"/>
              </a:rPr>
              <a:t>&gt; </a:t>
            </a:r>
            <a:r>
              <a:rPr lang="en-US" dirty="0" err="1" smtClean="0">
                <a:solidFill>
                  <a:srgbClr val="FFFFFF"/>
                </a:solidFill>
                <a:latin typeface="Courier"/>
                <a:cs typeface="Courier"/>
              </a:rPr>
              <a:t>db.books.find</a:t>
            </a:r>
            <a:r>
              <a:rPr lang="en-US" dirty="0">
                <a:solidFill>
                  <a:srgbClr val="FFFFFF"/>
                </a:solidFill>
                <a:latin typeface="Courier"/>
                <a:cs typeface="Courier"/>
              </a:rPr>
              <a:t>({ _id : </a:t>
            </a:r>
            <a:r>
              <a:rPr lang="en-US" dirty="0">
                <a:solidFill>
                  <a:schemeClr val="accent2"/>
                </a:solidFill>
                <a:latin typeface="Courier"/>
                <a:cs typeface="Courier"/>
              </a:rPr>
              <a:t>“123” </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_id:</a:t>
            </a:r>
            <a:r>
              <a:rPr lang="en-US" dirty="0">
                <a:latin typeface="Courier"/>
                <a:cs typeface="Courier"/>
              </a:rPr>
              <a:t> </a:t>
            </a:r>
            <a:r>
              <a:rPr lang="en-US" dirty="0">
                <a:solidFill>
                  <a:srgbClr val="F7D58F"/>
                </a:solidFill>
                <a:latin typeface="Courier"/>
                <a:cs typeface="Courier"/>
              </a:rPr>
              <a:t>“123”,</a:t>
            </a:r>
          </a:p>
          <a:p>
            <a:pPr marL="0" indent="0">
              <a:lnSpc>
                <a:spcPct val="100000"/>
              </a:lnSpc>
              <a:spcBef>
                <a:spcPts val="72"/>
              </a:spcBef>
              <a:buNone/>
            </a:pPr>
            <a:r>
              <a:rPr lang="en-US" dirty="0">
                <a:latin typeface="Courier"/>
                <a:cs typeface="Courier"/>
              </a:rPr>
              <a:t>    </a:t>
            </a:r>
            <a:r>
              <a:rPr lang="en-US" dirty="0">
                <a:solidFill>
                  <a:srgbClr val="FFFFFF"/>
                </a:solidFill>
                <a:latin typeface="Courier"/>
                <a:cs typeface="Courier"/>
              </a:rPr>
              <a:t>title:</a:t>
            </a:r>
            <a:r>
              <a:rPr lang="en-US" dirty="0">
                <a:latin typeface="Courier"/>
                <a:cs typeface="Courier"/>
              </a:rPr>
              <a:t> </a:t>
            </a:r>
            <a:r>
              <a:rPr lang="en-US" dirty="0">
                <a:solidFill>
                  <a:srgbClr val="F7D58F"/>
                </a:solidFill>
                <a:latin typeface="Courier"/>
                <a:cs typeface="Courier"/>
              </a:rPr>
              <a:t>"MongoDB: The Definitive Guide"</a:t>
            </a:r>
            <a:r>
              <a:rPr lang="en-US" dirty="0">
                <a:solidFill>
                  <a:srgbClr val="FFFFFF"/>
                </a:solidFill>
                <a:latin typeface="Courier"/>
                <a:cs typeface="Courier"/>
              </a:rPr>
              <a:t>,</a:t>
            </a:r>
          </a:p>
          <a:p>
            <a:pPr marL="0" indent="0">
              <a:lnSpc>
                <a:spcPct val="100000"/>
              </a:lnSpc>
              <a:spcBef>
                <a:spcPts val="72"/>
              </a:spcBef>
              <a:buNone/>
            </a:pPr>
            <a:r>
              <a:rPr lang="en-US" dirty="0">
                <a:solidFill>
                  <a:srgbClr val="FFFFFF"/>
                </a:solidFill>
                <a:latin typeface="Courier"/>
                <a:cs typeface="Courier"/>
              </a:rPr>
              <a:t>    category:</a:t>
            </a:r>
            <a:r>
              <a:rPr lang="en-US" dirty="0">
                <a:latin typeface="Courier"/>
                <a:cs typeface="Courier"/>
              </a:rPr>
              <a:t> </a:t>
            </a:r>
            <a:r>
              <a:rPr lang="en-US" dirty="0">
                <a:solidFill>
                  <a:srgbClr val="FF6600"/>
                </a:solidFill>
                <a:latin typeface="Courier"/>
                <a:cs typeface="Courier"/>
              </a:rPr>
              <a:t>“Programming/Databases/MongoDB”</a:t>
            </a:r>
          </a:p>
          <a:p>
            <a:pPr marL="0" indent="0">
              <a:lnSpc>
                <a:spcPct val="100000"/>
              </a:lnSpc>
              <a:spcBef>
                <a:spcPts val="72"/>
              </a:spcBef>
              <a:buNone/>
            </a:pPr>
            <a:r>
              <a:rPr lang="en-US" dirty="0">
                <a:solidFill>
                  <a:srgbClr val="FFFFFF"/>
                </a:solidFill>
                <a:latin typeface="Courier"/>
                <a:cs typeface="Courier"/>
              </a:rPr>
              <a:t>}</a:t>
            </a:r>
          </a:p>
          <a:p>
            <a:pPr marL="0" indent="0">
              <a:lnSpc>
                <a:spcPct val="100000"/>
              </a:lnSpc>
              <a:spcBef>
                <a:spcPts val="72"/>
              </a:spcBef>
              <a:buNone/>
            </a:pPr>
            <a:endParaRPr lang="en-US" dirty="0">
              <a:solidFill>
                <a:srgbClr val="FFFFFF"/>
              </a:solidFill>
              <a:latin typeface="Courier"/>
              <a:cs typeface="Courier"/>
            </a:endParaRPr>
          </a:p>
          <a:p>
            <a:pPr marL="0" indent="0">
              <a:lnSpc>
                <a:spcPct val="100000"/>
              </a:lnSpc>
              <a:spcBef>
                <a:spcPts val="72"/>
              </a:spcBef>
              <a:buNone/>
            </a:pPr>
            <a:r>
              <a:rPr lang="en-US" dirty="0">
                <a:solidFill>
                  <a:srgbClr val="FFFFFF"/>
                </a:solidFill>
                <a:latin typeface="Courier"/>
                <a:cs typeface="Courier"/>
              </a:rPr>
              <a:t>&gt; </a:t>
            </a:r>
            <a:r>
              <a:rPr lang="en-US" dirty="0" err="1">
                <a:solidFill>
                  <a:srgbClr val="FFFFFF"/>
                </a:solidFill>
                <a:latin typeface="Courier"/>
                <a:cs typeface="Courier"/>
              </a:rPr>
              <a:t>db.books.find</a:t>
            </a:r>
            <a:r>
              <a:rPr lang="en-US" dirty="0">
                <a:solidFill>
                  <a:srgbClr val="FFFFFF"/>
                </a:solidFill>
                <a:latin typeface="Courier"/>
                <a:cs typeface="Courier"/>
              </a:rPr>
              <a:t>({ category: </a:t>
            </a:r>
            <a:r>
              <a:rPr lang="en-US" dirty="0">
                <a:solidFill>
                  <a:srgbClr val="FF6600"/>
                </a:solidFill>
                <a:latin typeface="Courier"/>
                <a:cs typeface="Courier"/>
              </a:rPr>
              <a:t>^Programming/Databases/* </a:t>
            </a:r>
            <a:r>
              <a:rPr lang="en-US" dirty="0">
                <a:solidFill>
                  <a:srgbClr val="FFFFFF"/>
                </a:solidFill>
                <a:latin typeface="Courier"/>
                <a:cs typeface="Courier"/>
              </a:rPr>
              <a:t>})</a:t>
            </a:r>
          </a:p>
        </p:txBody>
      </p:sp>
    </p:spTree>
    <p:extLst>
      <p:ext uri="{BB962C8B-B14F-4D97-AF65-F5344CB8AC3E}">
        <p14:creationId xmlns:p14="http://schemas.microsoft.com/office/powerpoint/2010/main" val="1577304648"/>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Coming in v3.2: Document Validation</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en-US" dirty="0">
                <a:solidFill>
                  <a:srgbClr val="FFFFFF"/>
                </a:solidFill>
                <a:latin typeface="Courier"/>
                <a:cs typeface="Courier"/>
              </a:rPr>
              <a:t>&gt; </a:t>
            </a:r>
            <a:r>
              <a:rPr lang="en-US" dirty="0" err="1">
                <a:solidFill>
                  <a:srgbClr val="FFFFFF"/>
                </a:solidFill>
                <a:latin typeface="Courier"/>
                <a:cs typeface="Courier"/>
              </a:rPr>
              <a:t>db.createCollection</a:t>
            </a:r>
            <a:r>
              <a:rPr lang="en-US" dirty="0">
                <a:solidFill>
                  <a:srgbClr val="FFFFFF"/>
                </a:solidFill>
                <a:latin typeface="Courier"/>
                <a:cs typeface="Courier"/>
              </a:rPr>
              <a:t>("books", { "validator":                                      </a:t>
            </a:r>
          </a:p>
          <a:p>
            <a:pPr marL="0" indent="0">
              <a:lnSpc>
                <a:spcPct val="100000"/>
              </a:lnSpc>
              <a:buNone/>
            </a:pPr>
            <a:r>
              <a:rPr lang="en-US" dirty="0">
                <a:solidFill>
                  <a:srgbClr val="FFFFFF"/>
                </a:solidFill>
                <a:latin typeface="Courier"/>
                <a:cs typeface="Courier"/>
              </a:rPr>
              <a:t>{ $and: [                                                                        </a:t>
            </a:r>
          </a:p>
          <a:p>
            <a:pPr marL="0" indent="0">
              <a:lnSpc>
                <a:spcPct val="100000"/>
              </a:lnSpc>
              <a:buNone/>
            </a:pPr>
            <a:r>
              <a:rPr lang="en-US" dirty="0">
                <a:solidFill>
                  <a:srgbClr val="FFFFFF"/>
                </a:solidFill>
                <a:latin typeface="Courier"/>
                <a:cs typeface="Courier"/>
              </a:rPr>
              <a:t>         { "title": {$type: </a:t>
            </a:r>
            <a:r>
              <a:rPr lang="en-US" dirty="0" smtClean="0">
                <a:solidFill>
                  <a:srgbClr val="FFFFFF"/>
                </a:solidFill>
                <a:latin typeface="Courier"/>
                <a:cs typeface="Courier"/>
              </a:rPr>
              <a:t>“string”} </a:t>
            </a:r>
            <a:r>
              <a:rPr lang="en-US" dirty="0">
                <a:solidFill>
                  <a:srgbClr val="FFFFFF"/>
                </a:solidFill>
                <a:latin typeface="Courier"/>
                <a:cs typeface="Courier"/>
              </a:rPr>
              <a:t>},                                                </a:t>
            </a:r>
          </a:p>
          <a:p>
            <a:pPr marL="0" indent="0">
              <a:lnSpc>
                <a:spcPct val="100000"/>
              </a:lnSpc>
              <a:buNone/>
            </a:pPr>
            <a:r>
              <a:rPr lang="en-US" dirty="0">
                <a:solidFill>
                  <a:srgbClr val="FFFFFF"/>
                </a:solidFill>
                <a:latin typeface="Courier"/>
                <a:cs typeface="Courier"/>
              </a:rPr>
              <a:t>         { "</a:t>
            </a:r>
            <a:r>
              <a:rPr lang="en-US" dirty="0" err="1">
                <a:solidFill>
                  <a:srgbClr val="FFFFFF"/>
                </a:solidFill>
                <a:latin typeface="Courier"/>
                <a:cs typeface="Courier"/>
              </a:rPr>
              <a:t>publishDate</a:t>
            </a:r>
            <a:r>
              <a:rPr lang="en-US" dirty="0">
                <a:solidFill>
                  <a:srgbClr val="FFFFFF"/>
                </a:solidFill>
                <a:latin typeface="Courier"/>
                <a:cs typeface="Courier"/>
              </a:rPr>
              <a:t>": {$type: </a:t>
            </a:r>
            <a:r>
              <a:rPr lang="en-US" dirty="0" smtClean="0">
                <a:solidFill>
                  <a:srgbClr val="FFFFFF"/>
                </a:solidFill>
                <a:latin typeface="Courier"/>
                <a:cs typeface="Courier"/>
              </a:rPr>
              <a:t>“date”} </a:t>
            </a:r>
            <a:r>
              <a:rPr lang="en-US" dirty="0">
                <a:solidFill>
                  <a:srgbClr val="FFFFFF"/>
                </a:solidFill>
                <a:latin typeface="Courier"/>
                <a:cs typeface="Courier"/>
              </a:rPr>
              <a:t>},                                          </a:t>
            </a:r>
          </a:p>
          <a:p>
            <a:pPr marL="0" indent="0">
              <a:lnSpc>
                <a:spcPct val="100000"/>
              </a:lnSpc>
              <a:buNone/>
            </a:pPr>
            <a:r>
              <a:rPr lang="en-US" dirty="0">
                <a:solidFill>
                  <a:srgbClr val="FFFFFF"/>
                </a:solidFill>
                <a:latin typeface="Courier"/>
                <a:cs typeface="Courier"/>
              </a:rPr>
              <a:t>         { $or: [                                                                </a:t>
            </a:r>
          </a:p>
          <a:p>
            <a:pPr marL="0" indent="0">
              <a:lnSpc>
                <a:spcPct val="100000"/>
              </a:lnSpc>
              <a:buNone/>
            </a:pPr>
            <a:r>
              <a:rPr lang="en-US" dirty="0">
                <a:solidFill>
                  <a:srgbClr val="FFFFFF"/>
                </a:solidFill>
                <a:latin typeface="Courier"/>
                <a:cs typeface="Courier"/>
              </a:rPr>
              <a:t>                 { "thumbnail": {$exists: False}},                               </a:t>
            </a:r>
          </a:p>
          <a:p>
            <a:pPr marL="0" indent="0">
              <a:lnSpc>
                <a:spcPct val="100000"/>
              </a:lnSpc>
              <a:buNone/>
            </a:pPr>
            <a:r>
              <a:rPr lang="en-US" dirty="0">
                <a:solidFill>
                  <a:srgbClr val="FFFFFF"/>
                </a:solidFill>
                <a:latin typeface="Courier"/>
                <a:cs typeface="Courier"/>
              </a:rPr>
              <a:t>                 { "thumbnail": {$type: </a:t>
            </a:r>
            <a:r>
              <a:rPr lang="en-US" dirty="0" smtClean="0">
                <a:solidFill>
                  <a:srgbClr val="FFFFFF"/>
                </a:solidFill>
                <a:latin typeface="Courier"/>
                <a:cs typeface="Courier"/>
              </a:rPr>
              <a:t>“binary”}</a:t>
            </a:r>
            <a:r>
              <a:rPr lang="en-US" dirty="0">
                <a:solidFill>
                  <a:srgbClr val="FFFFFF"/>
                </a:solidFill>
                <a:latin typeface="Courier"/>
                <a:cs typeface="Courier"/>
              </a:rPr>
              <a:t>}                                      </a:t>
            </a:r>
          </a:p>
          <a:p>
            <a:pPr marL="0" indent="0">
              <a:lnSpc>
                <a:spcPct val="100000"/>
              </a:lnSpc>
              <a:buNone/>
            </a:pPr>
            <a:r>
              <a:rPr lang="en-US" dirty="0">
                <a:solidFill>
                  <a:srgbClr val="FFFFFF"/>
                </a:solidFill>
                <a:latin typeface="Courier"/>
                <a:cs typeface="Courier"/>
              </a:rPr>
              <a:t>                 ]                                                               </a:t>
            </a:r>
          </a:p>
          <a:p>
            <a:pPr marL="0" indent="0">
              <a:lnSpc>
                <a:spcPct val="100000"/>
              </a:lnSpc>
              <a:buNone/>
            </a:pPr>
            <a:r>
              <a:rPr lang="en-US" dirty="0">
                <a:solidFill>
                  <a:srgbClr val="FFFFFF"/>
                </a:solidFill>
                <a:latin typeface="Courier"/>
                <a:cs typeface="Courier"/>
              </a:rPr>
              <a:t>                 }                                                               </a:t>
            </a:r>
          </a:p>
          <a:p>
            <a:pPr marL="0" indent="0">
              <a:lnSpc>
                <a:spcPct val="100000"/>
              </a:lnSpc>
              <a:buNone/>
            </a:pPr>
            <a:r>
              <a:rPr lang="en-US" dirty="0">
                <a:solidFill>
                  <a:srgbClr val="FFFFFF"/>
                </a:solidFill>
                <a:latin typeface="Courier"/>
                <a:cs typeface="Courier"/>
              </a:rPr>
              <a:t>          ]                                                                      </a:t>
            </a:r>
          </a:p>
          <a:p>
            <a:pPr marL="0" indent="0">
              <a:lnSpc>
                <a:spcPct val="100000"/>
              </a:lnSpc>
              <a:buNone/>
            </a:pPr>
            <a:r>
              <a:rPr lang="en-US" dirty="0">
                <a:solidFill>
                  <a:srgbClr val="FFFFFF"/>
                </a:solidFill>
                <a:latin typeface="Courier"/>
                <a:cs typeface="Courier"/>
              </a:rPr>
              <a:t>}                                                                                </a:t>
            </a:r>
          </a:p>
          <a:p>
            <a:pPr marL="0" indent="0">
              <a:lnSpc>
                <a:spcPct val="100000"/>
              </a:lnSpc>
              <a:buNone/>
            </a:pPr>
            <a:r>
              <a:rPr lang="en-US" dirty="0" smtClean="0">
                <a:solidFill>
                  <a:srgbClr val="FFFFFF"/>
                </a:solidFill>
                <a:latin typeface="Courier"/>
                <a:cs typeface="Courier"/>
              </a:rPr>
              <a:t>}</a:t>
            </a:r>
            <a:r>
              <a:rPr lang="en-US" dirty="0">
                <a:solidFill>
                  <a:srgbClr val="FFFFFF"/>
                </a:solidFill>
                <a:latin typeface="Courier"/>
                <a:cs typeface="Courier"/>
              </a:rPr>
              <a:t>); </a:t>
            </a:r>
          </a:p>
        </p:txBody>
      </p:sp>
    </p:spTree>
    <p:extLst>
      <p:ext uri="{BB962C8B-B14F-4D97-AF65-F5344CB8AC3E}">
        <p14:creationId xmlns:p14="http://schemas.microsoft.com/office/powerpoint/2010/main" val="451439877"/>
      </p:ext>
    </p:extLst>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Document Validation And Soft Schemas</a:t>
            </a:r>
            <a:endParaRPr lang="en-US" dirty="0"/>
          </a:p>
        </p:txBody>
      </p:sp>
      <p:sp>
        <p:nvSpPr>
          <p:cNvPr id="5" name="Rectangle 4"/>
          <p:cNvSpPr/>
          <p:nvPr/>
        </p:nvSpPr>
        <p:spPr>
          <a:xfrm>
            <a:off x="479778" y="1368778"/>
            <a:ext cx="8226778" cy="5136444"/>
          </a:xfrm>
          <a:prstGeom prst="rect">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3"/>
          <p:cNvSpPr txBox="1">
            <a:spLocks/>
          </p:cNvSpPr>
          <p:nvPr/>
        </p:nvSpPr>
        <p:spPr>
          <a:xfrm>
            <a:off x="800100" y="1625954"/>
            <a:ext cx="7567789" cy="4451350"/>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ct val="20000"/>
              </a:spcBef>
              <a:buFont typeface="Arial"/>
              <a:buChar char="•"/>
              <a:defRPr sz="1600" kern="1200">
                <a:solidFill>
                  <a:srgbClr val="6D6C6C"/>
                </a:solidFill>
                <a:latin typeface="Arial"/>
                <a:ea typeface="+mn-ea"/>
                <a:cs typeface="Arial"/>
              </a:defRPr>
            </a:lvl1pPr>
            <a:lvl2pPr marL="742950" indent="-285750" algn="l" defTabSz="457200" rtl="0" eaLnBrk="1" latinLnBrk="0" hangingPunct="1">
              <a:spcBef>
                <a:spcPct val="20000"/>
              </a:spcBef>
              <a:buFont typeface="Arial"/>
              <a:buChar char="–"/>
              <a:defRPr sz="1600" kern="1200">
                <a:solidFill>
                  <a:srgbClr val="6D6C6C"/>
                </a:solidFill>
                <a:latin typeface="Arial"/>
                <a:ea typeface="+mn-ea"/>
                <a:cs typeface="Arial"/>
              </a:defRPr>
            </a:lvl2pPr>
            <a:lvl3pPr marL="1143000" indent="-228600" algn="l" defTabSz="457200" rtl="0" eaLnBrk="1" latinLnBrk="0" hangingPunct="1">
              <a:spcBef>
                <a:spcPct val="20000"/>
              </a:spcBef>
              <a:buFont typeface="Arial"/>
              <a:buChar char="•"/>
              <a:defRPr sz="1600" kern="1200">
                <a:solidFill>
                  <a:srgbClr val="6D6C6C"/>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rgbClr val="6D6C6C"/>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rgbClr val="6D6C6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en-US" dirty="0">
                <a:solidFill>
                  <a:srgbClr val="FFFFFF"/>
                </a:solidFill>
                <a:latin typeface="Courier"/>
                <a:cs typeface="Courier"/>
              </a:rPr>
              <a:t>&gt; </a:t>
            </a:r>
            <a:r>
              <a:rPr lang="en-US" dirty="0" err="1">
                <a:solidFill>
                  <a:srgbClr val="FFFFFF"/>
                </a:solidFill>
                <a:latin typeface="Courier"/>
                <a:cs typeface="Courier"/>
              </a:rPr>
              <a:t>db.createCollection</a:t>
            </a:r>
            <a:r>
              <a:rPr lang="en-US" dirty="0">
                <a:solidFill>
                  <a:srgbClr val="FFFFFF"/>
                </a:solidFill>
                <a:latin typeface="Courier"/>
                <a:cs typeface="Courier"/>
              </a:rPr>
              <a:t>("books", { "validator":                                      </a:t>
            </a:r>
          </a:p>
          <a:p>
            <a:pPr marL="0" indent="0">
              <a:lnSpc>
                <a:spcPct val="100000"/>
              </a:lnSpc>
              <a:buNone/>
            </a:pPr>
            <a:r>
              <a:rPr lang="en-US" dirty="0">
                <a:solidFill>
                  <a:srgbClr val="FFFFFF"/>
                </a:solidFill>
                <a:latin typeface="Courier"/>
                <a:cs typeface="Courier"/>
              </a:rPr>
              <a:t>{ $or: [                                                                         </a:t>
            </a:r>
          </a:p>
          <a:p>
            <a:pPr marL="0" indent="0">
              <a:lnSpc>
                <a:spcPct val="100000"/>
              </a:lnSpc>
              <a:buNone/>
            </a:pPr>
            <a:r>
              <a:rPr lang="en-US" dirty="0">
                <a:solidFill>
                  <a:srgbClr val="FFFFFF"/>
                </a:solidFill>
                <a:latin typeface="Courier"/>
                <a:cs typeface="Courier"/>
              </a:rPr>
              <a:t>  { $and: [ { "v": 1},                                                           </a:t>
            </a:r>
          </a:p>
          <a:p>
            <a:pPr marL="0" indent="0">
              <a:lnSpc>
                <a:spcPct val="100000"/>
              </a:lnSpc>
              <a:buNone/>
            </a:pPr>
            <a:r>
              <a:rPr lang="en-US" dirty="0">
                <a:solidFill>
                  <a:srgbClr val="FFFFFF"/>
                </a:solidFill>
                <a:latin typeface="Courier"/>
                <a:cs typeface="Courier"/>
              </a:rPr>
              <a:t>         { "title": {$type: </a:t>
            </a:r>
            <a:r>
              <a:rPr lang="en-US" dirty="0" smtClean="0">
                <a:solidFill>
                  <a:srgbClr val="FFFFFF"/>
                </a:solidFill>
                <a:latin typeface="Courier"/>
                <a:cs typeface="Courier"/>
              </a:rPr>
              <a:t>“string”} </a:t>
            </a:r>
            <a:r>
              <a:rPr lang="en-US" dirty="0">
                <a:solidFill>
                  <a:srgbClr val="FFFFFF"/>
                </a:solidFill>
                <a:latin typeface="Courier"/>
                <a:cs typeface="Courier"/>
              </a:rPr>
              <a:t>}                                                 </a:t>
            </a:r>
          </a:p>
          <a:p>
            <a:pPr marL="0" indent="0">
              <a:lnSpc>
                <a:spcPct val="100000"/>
              </a:lnSpc>
              <a:buNone/>
            </a:pPr>
            <a:r>
              <a:rPr lang="en-US" dirty="0">
                <a:solidFill>
                  <a:srgbClr val="FFFFFF"/>
                </a:solidFill>
                <a:latin typeface="Courier"/>
                <a:cs typeface="Courier"/>
              </a:rPr>
              <a:t>          ]                                                                      </a:t>
            </a:r>
          </a:p>
          <a:p>
            <a:pPr marL="0" indent="0">
              <a:lnSpc>
                <a:spcPct val="100000"/>
              </a:lnSpc>
              <a:buNone/>
            </a:pPr>
            <a:r>
              <a:rPr lang="en-US" dirty="0">
                <a:solidFill>
                  <a:srgbClr val="FFFFFF"/>
                </a:solidFill>
                <a:latin typeface="Courier"/>
                <a:cs typeface="Courier"/>
              </a:rPr>
              <a:t>          },                                                                     </a:t>
            </a:r>
          </a:p>
          <a:p>
            <a:pPr marL="0" indent="0">
              <a:lnSpc>
                <a:spcPct val="100000"/>
              </a:lnSpc>
              <a:buNone/>
            </a:pPr>
            <a:r>
              <a:rPr lang="en-US" dirty="0">
                <a:solidFill>
                  <a:srgbClr val="FFFFFF"/>
                </a:solidFill>
                <a:latin typeface="Courier"/>
                <a:cs typeface="Courier"/>
              </a:rPr>
              <a:t>  { $and: [ { "v": 2},                                                           </a:t>
            </a:r>
          </a:p>
          <a:p>
            <a:pPr marL="0" indent="0">
              <a:lnSpc>
                <a:spcPct val="100000"/>
              </a:lnSpc>
              <a:buNone/>
            </a:pPr>
            <a:r>
              <a:rPr lang="en-US" dirty="0">
                <a:solidFill>
                  <a:srgbClr val="FFFFFF"/>
                </a:solidFill>
                <a:latin typeface="Courier"/>
                <a:cs typeface="Courier"/>
              </a:rPr>
              <a:t>         { "title": {$type: </a:t>
            </a:r>
            <a:r>
              <a:rPr lang="en-US" dirty="0" smtClean="0">
                <a:solidFill>
                  <a:srgbClr val="FFFFFF"/>
                </a:solidFill>
                <a:latin typeface="Courier"/>
                <a:cs typeface="Courier"/>
              </a:rPr>
              <a:t>“string”} </a:t>
            </a:r>
            <a:r>
              <a:rPr lang="en-US" dirty="0">
                <a:solidFill>
                  <a:srgbClr val="FFFFFF"/>
                </a:solidFill>
                <a:latin typeface="Courier"/>
                <a:cs typeface="Courier"/>
              </a:rPr>
              <a:t>},                                                </a:t>
            </a:r>
          </a:p>
          <a:p>
            <a:pPr marL="0" indent="0">
              <a:lnSpc>
                <a:spcPct val="100000"/>
              </a:lnSpc>
              <a:buNone/>
            </a:pPr>
            <a:r>
              <a:rPr lang="en-US" dirty="0">
                <a:solidFill>
                  <a:srgbClr val="FFFFFF"/>
                </a:solidFill>
                <a:latin typeface="Courier"/>
                <a:cs typeface="Courier"/>
              </a:rPr>
              <a:t>         { "</a:t>
            </a:r>
            <a:r>
              <a:rPr lang="en-US" dirty="0" err="1">
                <a:solidFill>
                  <a:srgbClr val="FFFFFF"/>
                </a:solidFill>
                <a:latin typeface="Courier"/>
                <a:cs typeface="Courier"/>
              </a:rPr>
              <a:t>publishDate</a:t>
            </a:r>
            <a:r>
              <a:rPr lang="en-US" dirty="0">
                <a:solidFill>
                  <a:srgbClr val="FFFFFF"/>
                </a:solidFill>
                <a:latin typeface="Courier"/>
                <a:cs typeface="Courier"/>
              </a:rPr>
              <a:t>": {$type: </a:t>
            </a:r>
            <a:r>
              <a:rPr lang="en-US" dirty="0" smtClean="0">
                <a:solidFill>
                  <a:srgbClr val="FFFFFF"/>
                </a:solidFill>
                <a:latin typeface="Courier"/>
                <a:cs typeface="Courier"/>
              </a:rPr>
              <a:t>“date”} </a:t>
            </a:r>
            <a:r>
              <a:rPr lang="en-US" dirty="0">
                <a:solidFill>
                  <a:srgbClr val="FFFFFF"/>
                </a:solidFill>
                <a:latin typeface="Courier"/>
                <a:cs typeface="Courier"/>
              </a:rPr>
              <a:t>},                                          </a:t>
            </a:r>
          </a:p>
          <a:p>
            <a:pPr marL="0" indent="0">
              <a:lnSpc>
                <a:spcPct val="100000"/>
              </a:lnSpc>
              <a:buNone/>
            </a:pPr>
            <a:r>
              <a:rPr lang="en-US" dirty="0">
                <a:solidFill>
                  <a:srgbClr val="FFFFFF"/>
                </a:solidFill>
                <a:latin typeface="Courier"/>
                <a:cs typeface="Courier"/>
              </a:rPr>
              <a:t>         { $or: [                                                                </a:t>
            </a:r>
          </a:p>
          <a:p>
            <a:pPr marL="0" indent="0">
              <a:lnSpc>
                <a:spcPct val="100000"/>
              </a:lnSpc>
              <a:buNone/>
            </a:pPr>
            <a:r>
              <a:rPr lang="en-US" dirty="0">
                <a:solidFill>
                  <a:srgbClr val="FFFFFF"/>
                </a:solidFill>
                <a:latin typeface="Courier"/>
                <a:cs typeface="Courier"/>
              </a:rPr>
              <a:t>                 { "thumbnail": {$exists: False}},                               </a:t>
            </a:r>
          </a:p>
          <a:p>
            <a:pPr marL="0" indent="0">
              <a:lnSpc>
                <a:spcPct val="100000"/>
              </a:lnSpc>
              <a:buNone/>
            </a:pPr>
            <a:r>
              <a:rPr lang="en-US" dirty="0">
                <a:solidFill>
                  <a:srgbClr val="FFFFFF"/>
                </a:solidFill>
                <a:latin typeface="Courier"/>
                <a:cs typeface="Courier"/>
              </a:rPr>
              <a:t>                 { "thumbnail": {$type: </a:t>
            </a:r>
            <a:r>
              <a:rPr lang="en-US" dirty="0" smtClean="0">
                <a:solidFill>
                  <a:srgbClr val="FFFFFF"/>
                </a:solidFill>
                <a:latin typeface="Courier"/>
                <a:cs typeface="Courier"/>
              </a:rPr>
              <a:t>“binary”}</a:t>
            </a:r>
            <a:r>
              <a:rPr lang="en-US" dirty="0">
                <a:solidFill>
                  <a:srgbClr val="FFFFFF"/>
                </a:solidFill>
                <a:latin typeface="Courier"/>
                <a:cs typeface="Courier"/>
              </a:rPr>
              <a:t>}                                      </a:t>
            </a:r>
          </a:p>
          <a:p>
            <a:pPr marL="0" indent="0">
              <a:lnSpc>
                <a:spcPct val="100000"/>
              </a:lnSpc>
              <a:buNone/>
            </a:pPr>
            <a:r>
              <a:rPr lang="en-US" dirty="0">
                <a:solidFill>
                  <a:srgbClr val="FFFFFF"/>
                </a:solidFill>
                <a:latin typeface="Courier"/>
                <a:cs typeface="Courier"/>
              </a:rPr>
              <a:t>                 ]                                                               </a:t>
            </a:r>
          </a:p>
          <a:p>
            <a:pPr marL="0" indent="0">
              <a:lnSpc>
                <a:spcPct val="100000"/>
              </a:lnSpc>
              <a:buNone/>
            </a:pPr>
            <a:r>
              <a:rPr lang="en-US" dirty="0">
                <a:solidFill>
                  <a:srgbClr val="FFFFFF"/>
                </a:solidFill>
                <a:latin typeface="Courier"/>
                <a:cs typeface="Courier"/>
              </a:rPr>
              <a:t>                 }                                                               </a:t>
            </a:r>
          </a:p>
          <a:p>
            <a:pPr marL="0" indent="0">
              <a:lnSpc>
                <a:spcPct val="100000"/>
              </a:lnSpc>
              <a:buNone/>
            </a:pPr>
            <a:r>
              <a:rPr lang="en-US" dirty="0">
                <a:solidFill>
                  <a:srgbClr val="FFFFFF"/>
                </a:solidFill>
                <a:latin typeface="Courier"/>
                <a:cs typeface="Courier"/>
              </a:rPr>
              <a:t>          ]                                                                      </a:t>
            </a:r>
          </a:p>
          <a:p>
            <a:pPr marL="0" indent="0">
              <a:lnSpc>
                <a:spcPct val="100000"/>
              </a:lnSpc>
              <a:buNone/>
            </a:pPr>
            <a:r>
              <a:rPr lang="en-US" dirty="0">
                <a:solidFill>
                  <a:srgbClr val="FFFFFF"/>
                </a:solidFill>
                <a:latin typeface="Courier"/>
                <a:cs typeface="Courier"/>
              </a:rPr>
              <a:t>  }                                                                              </a:t>
            </a:r>
          </a:p>
          <a:p>
            <a:pPr marL="0" indent="0">
              <a:lnSpc>
                <a:spcPct val="100000"/>
              </a:lnSpc>
              <a:buNone/>
            </a:pPr>
            <a:r>
              <a:rPr lang="en-US" dirty="0">
                <a:solidFill>
                  <a:srgbClr val="FFFFFF"/>
                </a:solidFill>
                <a:latin typeface="Courier"/>
                <a:cs typeface="Courier"/>
              </a:rPr>
              <a:t>]                                                                                </a:t>
            </a:r>
          </a:p>
          <a:p>
            <a:pPr marL="0" indent="0">
              <a:lnSpc>
                <a:spcPct val="100000"/>
              </a:lnSpc>
              <a:buNone/>
            </a:pPr>
            <a:r>
              <a:rPr lang="en-US" dirty="0" smtClean="0">
                <a:solidFill>
                  <a:srgbClr val="FFFFFF"/>
                </a:solidFill>
                <a:latin typeface="Courier"/>
                <a:cs typeface="Courier"/>
              </a:rPr>
              <a:t>}</a:t>
            </a:r>
            <a:r>
              <a:rPr lang="en-US" dirty="0">
                <a:solidFill>
                  <a:srgbClr val="FFFFFF"/>
                </a:solidFill>
                <a:latin typeface="Courier"/>
                <a:cs typeface="Courier"/>
              </a:rPr>
              <a:t>); </a:t>
            </a:r>
          </a:p>
        </p:txBody>
      </p:sp>
      <p:sp>
        <p:nvSpPr>
          <p:cNvPr id="7" name="Rectangle 6"/>
          <p:cNvSpPr/>
          <p:nvPr/>
        </p:nvSpPr>
        <p:spPr>
          <a:xfrm rot="20595675">
            <a:off x="6448424" y="4752171"/>
            <a:ext cx="2330310" cy="1010977"/>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bg1"/>
                </a:solidFill>
              </a:rPr>
              <a:t>Now THIS is cool…</a:t>
            </a:r>
            <a:endParaRPr lang="en-US" dirty="0">
              <a:solidFill>
                <a:schemeClr val="bg1"/>
              </a:solidFill>
            </a:endParaRPr>
          </a:p>
        </p:txBody>
      </p:sp>
    </p:spTree>
    <p:extLst>
      <p:ext uri="{BB962C8B-B14F-4D97-AF65-F5344CB8AC3E}">
        <p14:creationId xmlns:p14="http://schemas.microsoft.com/office/powerpoint/2010/main" val="3258659333"/>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Summary</a:t>
            </a:r>
            <a:endParaRPr lang="en-US" dirty="0"/>
          </a:p>
        </p:txBody>
      </p:sp>
      <p:sp>
        <p:nvSpPr>
          <p:cNvPr id="5" name="Text Placeholder 4"/>
          <p:cNvSpPr>
            <a:spLocks noGrp="1"/>
          </p:cNvSpPr>
          <p:nvPr>
            <p:ph idx="1"/>
          </p:nvPr>
        </p:nvSpPr>
        <p:spPr/>
        <p:txBody>
          <a:bodyPr>
            <a:normAutofit/>
          </a:bodyPr>
          <a:lstStyle/>
          <a:p>
            <a:r>
              <a:rPr lang="en-US" sz="2400" dirty="0" smtClean="0"/>
              <a:t>Physical design is different in </a:t>
            </a:r>
            <a:r>
              <a:rPr lang="en-US" sz="2400" dirty="0" err="1" smtClean="0"/>
              <a:t>MongoDB</a:t>
            </a:r>
            <a:endParaRPr lang="en-US" sz="2400" dirty="0" smtClean="0"/>
          </a:p>
          <a:p>
            <a:pPr lvl="1"/>
            <a:r>
              <a:rPr lang="en-US" sz="2400" dirty="0" smtClean="0"/>
              <a:t>But </a:t>
            </a:r>
            <a:r>
              <a:rPr lang="en-US" sz="2400" dirty="0"/>
              <a:t>b</a:t>
            </a:r>
            <a:r>
              <a:rPr lang="en-US" sz="2400" dirty="0" smtClean="0"/>
              <a:t>asic </a:t>
            </a:r>
            <a:r>
              <a:rPr lang="en-US" sz="2400" i="1" dirty="0" smtClean="0"/>
              <a:t>data</a:t>
            </a:r>
            <a:r>
              <a:rPr lang="en-US" sz="2400" dirty="0" smtClean="0"/>
              <a:t> design principles stay the same</a:t>
            </a:r>
          </a:p>
          <a:p>
            <a:r>
              <a:rPr lang="en-US" sz="2400" dirty="0" smtClean="0"/>
              <a:t>Focus on how an application accesses/manipulates data</a:t>
            </a:r>
          </a:p>
          <a:p>
            <a:r>
              <a:rPr lang="en-US" sz="2400" dirty="0" smtClean="0"/>
              <a:t>Seek out and capture belongs-to 1:1 relationships</a:t>
            </a:r>
          </a:p>
          <a:p>
            <a:r>
              <a:rPr lang="en-US" sz="2400" dirty="0" smtClean="0"/>
              <a:t>Use substructure to better align to code objects</a:t>
            </a:r>
          </a:p>
          <a:p>
            <a:r>
              <a:rPr lang="en-US" sz="2400" dirty="0" smtClean="0"/>
              <a:t>Be polymorphic!</a:t>
            </a:r>
          </a:p>
          <a:p>
            <a:r>
              <a:rPr lang="en-US" sz="2400" dirty="0" smtClean="0"/>
              <a:t>Evolve the schema to meet requirements as they change</a:t>
            </a:r>
            <a:endParaRPr lang="en-US" sz="2400" dirty="0"/>
          </a:p>
        </p:txBody>
      </p:sp>
    </p:spTree>
    <p:extLst>
      <p:ext uri="{BB962C8B-B14F-4D97-AF65-F5344CB8AC3E}">
        <p14:creationId xmlns:p14="http://schemas.microsoft.com/office/powerpoint/2010/main" val="2431473162"/>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ctrTitle"/>
          </p:nvPr>
        </p:nvSpPr>
        <p:spPr>
          <a:xfrm>
            <a:off x="685800" y="1801201"/>
            <a:ext cx="7772400" cy="1470025"/>
          </a:xfrm>
        </p:spPr>
        <p:txBody>
          <a:bodyPr/>
          <a:lstStyle/>
          <a:p>
            <a:r>
              <a:rPr lang="en-US" dirty="0" smtClean="0"/>
              <a:t>Questions &amp; Answers</a:t>
            </a:r>
            <a:endParaRPr lang="en-US" dirty="0"/>
          </a:p>
        </p:txBody>
      </p:sp>
      <p:pic>
        <p:nvPicPr>
          <p:cNvPr id="4" name="Picture 3" descr="MongoDB-Logo-White-RGB.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8156" y="3756749"/>
            <a:ext cx="3427652" cy="977816"/>
          </a:xfrm>
          <a:prstGeom prst="rect">
            <a:avLst/>
          </a:prstGeom>
        </p:spPr>
      </p:pic>
    </p:spTree>
    <p:extLst>
      <p:ext uri="{BB962C8B-B14F-4D97-AF65-F5344CB8AC3E}">
        <p14:creationId xmlns:p14="http://schemas.microsoft.com/office/powerpoint/2010/main" val="4937727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ctrTitle"/>
          </p:nvPr>
        </p:nvSpPr>
        <p:spPr>
          <a:xfrm>
            <a:off x="685800" y="1801201"/>
            <a:ext cx="7772400" cy="1470025"/>
          </a:xfrm>
        </p:spPr>
        <p:txBody>
          <a:bodyPr/>
          <a:lstStyle/>
          <a:p>
            <a:r>
              <a:rPr lang="en-US" dirty="0" smtClean="0"/>
              <a:t>Thank You</a:t>
            </a:r>
            <a:endParaRPr lang="en-US" dirty="0"/>
          </a:p>
        </p:txBody>
      </p:sp>
      <p:pic>
        <p:nvPicPr>
          <p:cNvPr id="4" name="Picture 3" descr="MongoDB-Logo-White-RGB.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8156" y="3756749"/>
            <a:ext cx="3427652" cy="977816"/>
          </a:xfrm>
          <a:prstGeom prst="rect">
            <a:avLst/>
          </a:prstGeom>
        </p:spPr>
      </p:pic>
    </p:spTree>
    <p:extLst>
      <p:ext uri="{BB962C8B-B14F-4D97-AF65-F5344CB8AC3E}">
        <p14:creationId xmlns:p14="http://schemas.microsoft.com/office/powerpoint/2010/main" val="1177567188"/>
      </p:ext>
    </p:extLst>
  </p:cSld>
  <p:clrMapOvr>
    <a:masterClrMapping/>
  </p:clrMapOvr>
</p:sld>
</file>

<file path=ppt/theme/theme1.xml><?xml version="1.0" encoding="utf-8"?>
<a:theme xmlns:a="http://schemas.openxmlformats.org/drawingml/2006/main" name="mongodb">
  <a:themeElements>
    <a:clrScheme name="MongoDB 2">
      <a:dk1>
        <a:sysClr val="windowText" lastClr="000000"/>
      </a:dk1>
      <a:lt1>
        <a:sysClr val="window" lastClr="FFFFFF"/>
      </a:lt1>
      <a:dk2>
        <a:srgbClr val="242423"/>
      </a:dk2>
      <a:lt2>
        <a:srgbClr val="FFFFFF"/>
      </a:lt2>
      <a:accent1>
        <a:srgbClr val="BBD49E"/>
      </a:accent1>
      <a:accent2>
        <a:srgbClr val="9ABF75"/>
      </a:accent2>
      <a:accent3>
        <a:srgbClr val="7AAB4E"/>
      </a:accent3>
      <a:accent4>
        <a:srgbClr val="5B972B"/>
      </a:accent4>
      <a:accent5>
        <a:srgbClr val="416A20"/>
      </a:accent5>
      <a:accent6>
        <a:srgbClr val="294216"/>
      </a:accent6>
      <a:hlink>
        <a:srgbClr val="5B972B"/>
      </a:hlink>
      <a:folHlink>
        <a:srgbClr val="416A2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mongodb.potx</Template>
  <TotalTime>8757</TotalTime>
  <Words>8338</Words>
  <Application>Microsoft Macintosh PowerPoint</Application>
  <PresentationFormat>On-screen Show (4:3)</PresentationFormat>
  <Paragraphs>941</Paragraphs>
  <Slides>58</Slides>
  <Notes>58</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mongodb</vt:lpstr>
      <vt:lpstr>Thinking In Documents</vt:lpstr>
      <vt:lpstr>Before We Begin </vt:lpstr>
      <vt:lpstr>Theme #1:  Great Data Design involves much more than the database</vt:lpstr>
      <vt:lpstr>Theme #2:  Today’s solutions need to accommodate tomorrow’s needs</vt:lpstr>
      <vt:lpstr>Theme #3:  MongoDB offers you choice</vt:lpstr>
      <vt:lpstr>Terminology</vt:lpstr>
      <vt:lpstr>What is a Document?</vt:lpstr>
      <vt:lpstr>Documents Map to Language Constructs</vt:lpstr>
      <vt:lpstr>PowerPoint Presentation</vt:lpstr>
      <vt:lpstr>PowerPoint Presentation</vt:lpstr>
      <vt:lpstr>Schema Design By Example</vt:lpstr>
      <vt:lpstr>Library Management Application</vt:lpstr>
      <vt:lpstr>PowerPoint Presentation</vt:lpstr>
      <vt:lpstr>Patron + Address: Initial Attempt</vt:lpstr>
      <vt:lpstr>Patron + Address: The MongoDB Way</vt:lpstr>
      <vt:lpstr>Projection: Return only what you need</vt:lpstr>
      <vt:lpstr>Substructure Works Well With Code</vt:lpstr>
      <vt:lpstr>Remember: Document Shapes Can Vary</vt:lpstr>
      <vt:lpstr>Substructure Amplifies Agility</vt:lpstr>
      <vt:lpstr>The Advantage over Rectangles</vt:lpstr>
      <vt:lpstr>Substructure Scales For Change</vt:lpstr>
      <vt:lpstr>One-to-One Relationships</vt:lpstr>
      <vt:lpstr>PowerPoint Presentation</vt:lpstr>
      <vt:lpstr>A Patron and their Addresses</vt:lpstr>
      <vt:lpstr>A Patron and their Addresses</vt:lpstr>
      <vt:lpstr>Migration Options</vt:lpstr>
      <vt:lpstr>Letting The Code Deal With Documents</vt:lpstr>
      <vt:lpstr>PowerPoint Presentation</vt:lpstr>
      <vt:lpstr>Book</vt:lpstr>
      <vt:lpstr>Book with Embedded Publisher</vt:lpstr>
      <vt:lpstr>Don’t Forget the Substructure!</vt:lpstr>
      <vt:lpstr>One-To-Many Using Embedding</vt:lpstr>
      <vt:lpstr>Publishers as a Separate Entity</vt:lpstr>
      <vt:lpstr>Single Book with Linked Publisher</vt:lpstr>
      <vt:lpstr>Multiple Books with Linked Publisher</vt:lpstr>
      <vt:lpstr>Cartesian Product != Desired Structure</vt:lpstr>
      <vt:lpstr>…And Tough To Use Without ORDER BY</vt:lpstr>
      <vt:lpstr>SQL Is About Disassembly</vt:lpstr>
      <vt:lpstr>One-To-Many Using Linking</vt:lpstr>
      <vt:lpstr>PowerPoint Presentation</vt:lpstr>
      <vt:lpstr>Publisher with Linked Books</vt:lpstr>
      <vt:lpstr>PowerPoint Presentation</vt:lpstr>
      <vt:lpstr>Books with linked Authors</vt:lpstr>
      <vt:lpstr>PowerPoint Presentation</vt:lpstr>
      <vt:lpstr>Double Link Books and Authors</vt:lpstr>
      <vt:lpstr>Another Approach: Index The Array</vt:lpstr>
      <vt:lpstr>Embedding vs. Linking </vt:lpstr>
      <vt:lpstr>PowerPoint Presentation</vt:lpstr>
      <vt:lpstr>Assign Dynamic Structure to a Known Name</vt:lpstr>
      <vt:lpstr>Polymorphism: Worth an Extra Slide</vt:lpstr>
      <vt:lpstr>PowerPoint Presentation</vt:lpstr>
      <vt:lpstr>Categories as an Array</vt:lpstr>
      <vt:lpstr>Categories as a Path</vt:lpstr>
      <vt:lpstr>Coming in v3.2: Document Validation</vt:lpstr>
      <vt:lpstr>Document Validation And Soft Schemas</vt:lpstr>
      <vt:lpstr>Summary</vt:lpstr>
      <vt:lpstr>Questions &amp; Answers</vt:lpstr>
      <vt:lpstr>Thank You</vt:lpstr>
    </vt:vector>
  </TitlesOfParts>
  <Company>MongoDB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Daiji Shikama</dc:creator>
  <cp:lastModifiedBy>Peter Zawistowicz</cp:lastModifiedBy>
  <cp:revision>352</cp:revision>
  <cp:lastPrinted>2015-07-18T19:52:37Z</cp:lastPrinted>
  <dcterms:created xsi:type="dcterms:W3CDTF">2014-10-03T18:11:52Z</dcterms:created>
  <dcterms:modified xsi:type="dcterms:W3CDTF">2015-09-09T15:43:59Z</dcterms:modified>
</cp:coreProperties>
</file>